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 (USD millions)</c:v>
                </c:pt>
              </c:strCache>
            </c:strRef>
          </c:tx>
          <c:spPr>
            <a:solidFill>
              <a:srgbClr val="183A58"/>
            </a:solidFill>
          </c:spPr>
          <c:dPt>
            <c:idx val="0"/>
            <c:spPr>
              <a:solidFill>
                <a:srgbClr val="183A58"/>
              </a:solidFill>
            </c:spPr>
          </c:dPt>
          <c:dPt>
            <c:idx val="1"/>
            <c:spPr>
              <a:solidFill>
                <a:srgbClr val="183A58"/>
              </a:solidFill>
            </c:spPr>
          </c:dPt>
          <c:dPt>
            <c:idx val="2"/>
            <c:spPr>
              <a:solidFill>
                <a:srgbClr val="183A58"/>
              </a:solidFill>
            </c:spPr>
          </c:dPt>
          <c:dPt>
            <c:idx val="3"/>
            <c:spPr>
              <a:solidFill>
                <a:srgbClr val="183A58"/>
              </a:solidFill>
            </c:spPr>
          </c:dPt>
          <c:dPt>
            <c:idx val="4"/>
            <c:spPr>
              <a:solidFill>
                <a:srgbClr val="183A58"/>
              </a:solidFill>
            </c:spPr>
          </c:dPt>
          <c:cat>
            <c:strRef>
              <c:f>Sheet1!$A$2:$A$6</c:f>
              <c:strCache>
                <c:ptCount val="5"/>
                <c:pt idx="0">
                  <c:v>2020</c:v>
                </c:pt>
                <c:pt idx="1">
                  <c:v>2021</c:v>
                </c:pt>
                <c:pt idx="2">
                  <c:v>2022</c:v>
                </c:pt>
                <c:pt idx="3">
                  <c:v>2023</c:v>
                </c:pt>
                <c:pt idx="4">
                  <c:v>2024E</c:v>
                </c:pt>
              </c:strCache>
            </c:strRef>
          </c:cat>
          <c:val>
            <c:numRef>
              <c:f>Sheet1!$B$2:$B$6</c:f>
              <c:numCache>
                <c:formatCode>General</c:formatCode>
                <c:ptCount val="5"/>
                <c:pt idx="0">
                  <c:v>120</c:v>
                </c:pt>
                <c:pt idx="1">
                  <c:v>145</c:v>
                </c:pt>
                <c:pt idx="2">
                  <c:v>180</c:v>
                </c:pt>
                <c:pt idx="3">
                  <c:v>210</c:v>
                </c:pt>
                <c:pt idx="4">
                  <c:v>240</c:v>
                </c:pt>
              </c:numCache>
            </c:numRef>
          </c:val>
        </c:ser>
        <c:ser>
          <c:idx val="1"/>
          <c:order val="1"/>
          <c:tx>
            <c:strRef>
              <c:f>Sheet1!$C$1</c:f>
              <c:strCache>
                <c:ptCount val="1"/>
                <c:pt idx="0">
                  <c:v>EBITDA (USD millions)</c:v>
                </c:pt>
              </c:strCache>
            </c:strRef>
          </c:tx>
          <c:spPr>
            <a:solidFill>
              <a:srgbClr val="B5975B"/>
            </a:solidFill>
          </c:spPr>
          <c:dPt>
            <c:idx val="0"/>
            <c:spPr>
              <a:solidFill>
                <a:srgbClr val="B5975B"/>
              </a:solidFill>
            </c:spPr>
          </c:dPt>
          <c:dPt>
            <c:idx val="1"/>
            <c:spPr>
              <a:solidFill>
                <a:srgbClr val="B5975B"/>
              </a:solidFill>
            </c:spPr>
          </c:dPt>
          <c:dPt>
            <c:idx val="2"/>
            <c:spPr>
              <a:solidFill>
                <a:srgbClr val="B5975B"/>
              </a:solidFill>
            </c:spPr>
          </c:dPt>
          <c:dPt>
            <c:idx val="3"/>
            <c:spPr>
              <a:solidFill>
                <a:srgbClr val="B5975B"/>
              </a:solidFill>
            </c:spPr>
          </c:dPt>
          <c:dPt>
            <c:idx val="4"/>
            <c:spPr>
              <a:solidFill>
                <a:srgbClr val="B5975B"/>
              </a:solidFill>
            </c:spPr>
          </c:dPt>
          <c:cat>
            <c:strRef>
              <c:f>Sheet1!$A$2:$A$6</c:f>
              <c:strCache>
                <c:ptCount val="5"/>
                <c:pt idx="0">
                  <c:v>2020</c:v>
                </c:pt>
                <c:pt idx="1">
                  <c:v>2021</c:v>
                </c:pt>
                <c:pt idx="2">
                  <c:v>2022</c:v>
                </c:pt>
                <c:pt idx="3">
                  <c:v>2023</c:v>
                </c:pt>
                <c:pt idx="4">
                  <c:v>2024E</c:v>
                </c:pt>
              </c:strCache>
            </c:strRef>
          </c:cat>
          <c:val>
            <c:numRef>
              <c:f>Sheet1!$C$2:$C$6</c:f>
              <c:numCache>
                <c:formatCode>General</c:formatCode>
                <c:ptCount val="5"/>
                <c:pt idx="0">
                  <c:v>18</c:v>
                </c:pt>
                <c:pt idx="1">
                  <c:v>24</c:v>
                </c:pt>
                <c:pt idx="2">
                  <c:v>31</c:v>
                </c:pt>
                <c:pt idx="3">
                  <c:v>40</c:v>
                </c:pt>
                <c:pt idx="4">
                  <c:v>47</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latin typeface="Arial"/>
              </a:defRPr>
            </a:pPr>
          </a:p>
        </c:txPr>
        <c:crossAx val="-2113994440"/>
        <c:crosses val="autoZero"/>
        <c:auto val="1"/>
        <c:lblAlgn val="ctr"/>
        <c:lblOffset val="100"/>
        <c:noMultiLvlLbl val="0"/>
      </c:catAx>
      <c:valAx>
        <c:axId val="-2113994440"/>
        <c:scaling>
          <c:max val="45.0"/>
        </c:scaling>
        <c:delete val="0"/>
        <c:axPos val="l"/>
        <c:majorGridlines/>
        <c:majorTickMark val="out"/>
        <c:minorTickMark val="none"/>
        <c:tickLblPos val="nextTo"/>
        <c:txPr>
          <a:bodyPr/>
          <a:lstStyle/>
          <a:p>
            <a:pPr>
              <a:defRPr sz="1000">
                <a:latin typeface="Arial"/>
              </a:defRPr>
            </a:pPr>
          </a:p>
        </c:txPr>
        <c:crossAx val="-2068027336"/>
        <c:crosses val="autoZero"/>
      </c:valAx>
    </c:plotArea>
    <c:legend>
      <c:legendPos val="t"/>
      <c:txPr>
        <a:bodyPr/>
        <a:lstStyle/>
        <a:p>
          <a:pPr>
            <a:defRPr sz="10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 (USD millions)</c:v>
                </c:pt>
              </c:strCache>
            </c:strRef>
          </c:tx>
          <c:spPr>
            <a:solidFill>
              <a:srgbClr val="183A58"/>
            </a:solidFill>
          </c:spPr>
          <c:cat>
            <c:strRef>
              <c:f>Sheet1!$A$2:$A$5</c:f>
              <c:strCache>
                <c:ptCount val="4"/>
                <c:pt idx="0">
                  <c:v>2024E</c:v>
                </c:pt>
                <c:pt idx="1">
                  <c:v>2025E</c:v>
                </c:pt>
                <c:pt idx="2">
                  <c:v>2026E</c:v>
                </c:pt>
                <c:pt idx="3">
                  <c:v>2027E</c:v>
                </c:pt>
              </c:strCache>
            </c:strRef>
          </c:cat>
          <c:val>
            <c:numRef>
              <c:f>Sheet1!$B$2:$B$5</c:f>
              <c:numCache>
                <c:formatCode>General</c:formatCode>
                <c:ptCount val="4"/>
                <c:pt idx="0">
                  <c:v>240</c:v>
                </c:pt>
                <c:pt idx="1">
                  <c:v>280</c:v>
                </c:pt>
                <c:pt idx="2">
                  <c:v>320</c:v>
                </c:pt>
                <c:pt idx="3">
                  <c:v>370</c:v>
                </c:pt>
              </c:numCache>
            </c:numRef>
          </c:val>
        </c:ser>
        <c:ser>
          <c:idx val="1"/>
          <c:order val="1"/>
          <c:tx>
            <c:strRef>
              <c:f>Sheet1!$C$1</c:f>
              <c:strCache>
                <c:ptCount val="1"/>
                <c:pt idx="0">
                  <c:v>EBITDA (USD millions)</c:v>
                </c:pt>
              </c:strCache>
            </c:strRef>
          </c:tx>
          <c:spPr>
            <a:solidFill>
              <a:srgbClr val="B5975B"/>
            </a:solidFill>
          </c:spPr>
          <c:cat>
            <c:strRef>
              <c:f>Sheet1!$A$2:$A$5</c:f>
              <c:strCache>
                <c:ptCount val="4"/>
                <c:pt idx="0">
                  <c:v>2024E</c:v>
                </c:pt>
                <c:pt idx="1">
                  <c:v>2025E</c:v>
                </c:pt>
                <c:pt idx="2">
                  <c:v>2026E</c:v>
                </c:pt>
                <c:pt idx="3">
                  <c:v>2027E</c:v>
                </c:pt>
              </c:strCache>
            </c:strRef>
          </c:cat>
          <c:val>
            <c:numRef>
              <c:f>Sheet1!$C$2:$C$5</c:f>
              <c:numCache>
                <c:formatCode>General</c:formatCode>
                <c:ptCount val="4"/>
                <c:pt idx="0">
                  <c:v>47</c:v>
                </c:pt>
                <c:pt idx="1">
                  <c:v>56</c:v>
                </c:pt>
                <c:pt idx="2">
                  <c:v>64</c:v>
                </c:pt>
                <c:pt idx="3">
                  <c:v>74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a:pPr>
          </a:p>
        </c:rich>
      </c:tx>
      <c:layout/>
      <c:overlay val="0"/>
    </c:title>
    <c:autoTitleDeleted val="0"/>
    <c:plotArea>
      <c:barChart>
        <c:barDir val="col"/>
        <c:grouping val="clustered"/>
        <c:ser>
          <c:idx val="0"/>
          <c:order val="0"/>
          <c:tx>
            <c:strRef>
              <c:f>Sheet1!$B$1</c:f>
              <c:strCache>
                <c:ptCount val="1"/>
                <c:pt idx="0">
                  <c:v>Revenue (HK$ M)</c:v>
                </c:pt>
              </c:strCache>
            </c:strRef>
          </c:tx>
          <c:dPt>
            <c:idx val="0"/>
            <c:spPr>
              <a:solidFill>
                <a:srgbClr val="183A58"/>
              </a:solidFill>
            </c:spPr>
          </c:dPt>
          <c:dPt>
            <c:idx val="1"/>
            <c:spPr>
              <a:solidFill>
                <a:srgbClr val="183A58"/>
              </a:solidFill>
            </c:spPr>
          </c:dPt>
          <c:dPt>
            <c:idx val="2"/>
            <c:spPr>
              <a:solidFill>
                <a:srgbClr val="183A58"/>
              </a:solidFill>
            </c:spPr>
          </c:dPt>
          <c:dPt>
            <c:idx val="3"/>
            <c:spPr>
              <a:solidFill>
                <a:srgbClr val="183A58"/>
              </a:solidFill>
            </c:spPr>
          </c:dPt>
          <c:cat>
            <c:strRef>
              <c:f>Sheet1!$A$2:$A$5</c:f>
              <c:strCache>
                <c:ptCount val="4"/>
                <c:pt idx="0">
                  <c:v>PT Nippon Indosari Corpindo Tbk (Sari Roti)</c:v>
                </c:pt>
                <c:pt idx="1">
                  <c:v>BreadTalk Indonesia</c:v>
                </c:pt>
                <c:pt idx="2">
                  <c:v>Paris Baguette Indonesia</c:v>
                </c:pt>
                <c:pt idx="3">
                  <c:v>Holland Bakery</c:v>
                </c:pt>
              </c:strCache>
            </c:strRef>
          </c:cat>
          <c:val>
            <c:numRef>
              <c:f>Sheet1!$B$2:$B$5</c:f>
              <c:numCache>
                <c:formatCode>General</c:formatCode>
                <c:ptCount val="4"/>
                <c:pt idx="0">
                  <c:v>350</c:v>
                </c:pt>
                <c:pt idx="1">
                  <c:v>100</c:v>
                </c:pt>
                <c:pt idx="2">
                  <c:v>25</c:v>
                </c:pt>
                <c:pt idx="3">
                  <c:v>40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00">
                <a:latin typeface="Arial"/>
              </a:defRPr>
            </a:pPr>
          </a:p>
        </c:txPr>
        <c:crossAx val="-2113994440"/>
        <c:crosses val="autoZero"/>
        <c:auto val="1"/>
        <c:lblAlgn val="ctr"/>
        <c:lblOffset val="100"/>
        <c:noMultiLvlLbl val="0"/>
      </c:catAx>
      <c:valAx>
        <c:axId val="-2113994440"/>
        <c:scaling>
          <c:max val="500.0"/>
        </c:scaling>
        <c:delete val="0"/>
        <c:axPos val="l"/>
        <c:majorGridlines/>
        <c:majorTickMark val="out"/>
        <c:minorTickMark val="none"/>
        <c:tickLblPos val="nextTo"/>
        <c:txPr>
          <a:bodyPr/>
          <a:lstStyle/>
          <a:p>
            <a:pPr>
              <a:defRPr sz="9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a:pPr>
          </a:p>
        </c:rich>
      </c:tx>
      <c:layout/>
      <c:overlay val="0"/>
    </c:title>
    <c:autoTitleDeleted val="0"/>
    <c:plotArea>
      <c:lineChart>
        <c:grouping val="standard"/>
        <c:varyColors val="0"/>
        <c:ser>
          <c:idx val="0"/>
          <c:order val="0"/>
          <c:tx>
            <c:strRef>
              <c:f>Sheet1!$B$1</c:f>
              <c:strCache>
                <c:ptCount val="1"/>
                <c:pt idx="0">
                  <c:v>EBITDA Margin %</c:v>
                </c:pt>
              </c:strCache>
            </c:strRef>
          </c:tx>
          <c:spPr>
            <a:ln w="38100">
              <a:solidFill>
                <a:srgbClr val="B5975B"/>
              </a:solidFill>
            </a:ln>
          </c:spPr>
          <c:dPt>
            <c:idx val="0"/>
            <c:spPr>
              <a:solidFill>
                <a:srgbClr val="B5975B"/>
              </a:solidFill>
              <a:ln>
                <a:solidFill>
                  <a:srgbClr val="B5975B"/>
                </a:solidFill>
              </a:ln>
            </c:spPr>
          </c:dPt>
          <c:dPt>
            <c:idx val="1"/>
            <c:spPr>
              <a:solidFill>
                <a:srgbClr val="B5975B"/>
              </a:solidFill>
              <a:ln>
                <a:solidFill>
                  <a:srgbClr val="B5975B"/>
                </a:solidFill>
              </a:ln>
            </c:spPr>
          </c:dPt>
          <c:dPt>
            <c:idx val="2"/>
            <c:spPr>
              <a:solidFill>
                <a:srgbClr val="B5975B"/>
              </a:solidFill>
              <a:ln>
                <a:solidFill>
                  <a:srgbClr val="B5975B"/>
                </a:solidFill>
              </a:ln>
            </c:spPr>
          </c:dPt>
          <c:cat>
            <c:strRef>
              <c:f>Sheet1!$A$2:$A$4</c:f>
              <c:strCache>
                <c:ptCount val="3"/>
                <c:pt idx="0">
                  <c:v>B2C</c:v>
                </c:pt>
                <c:pt idx="1">
                  <c:v>B2B</c:v>
                </c:pt>
                <c:pt idx="2">
                  <c:v>Group</c:v>
                </c:pt>
              </c:strCache>
            </c:strRef>
          </c:cat>
          <c:val>
            <c:numRef>
              <c:f>Sheet1!$B$2:$B$4</c:f>
              <c:numCache>
                <c:formatCode>General</c:formatCode>
                <c:ptCount val="3"/>
                <c:pt idx="0">
                  <c:v>25</c:v>
                </c:pt>
                <c:pt idx="1">
                  <c:v>11</c:v>
                </c:pt>
                <c:pt idx="2">
                  <c:v>17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latin typeface="Arial"/>
              </a:defRPr>
            </a:pPr>
          </a:p>
        </c:txPr>
        <c:crossAx val="2140495176"/>
        <c:crosses val="autoZero"/>
        <c:auto val="1"/>
        <c:lblAlgn val="ctr"/>
        <c:lblOffset val="100"/>
        <c:noMultiLvlLbl val="0"/>
      </c:catAx>
      <c:valAx>
        <c:axId val="2140495176"/>
        <c:scaling>
          <c:max val="500.0"/>
        </c:scaling>
        <c:delete val="0"/>
        <c:axPos val="l"/>
        <c:majorGridlines/>
        <c:majorTickMark val="out"/>
        <c:minorTickMark val="none"/>
        <c:tickLblPos val="nextTo"/>
        <c:txPr>
          <a:bodyPr/>
          <a:lstStyle/>
          <a:p>
            <a:pPr>
              <a:defRPr sz="1000">
                <a:latin typeface="Arial"/>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Business Overview</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972800" cy="1097280"/>
          </a:xfrm>
          <a:prstGeom prst="rect">
            <a:avLst/>
          </a:prstGeom>
          <a:noFill/>
          <a:ln>
            <a:noFill/>
          </a:ln>
          <a:effectLst/>
        </p:spPr>
        <p:txBody>
          <a:bodyPr wrap="square">
            <a:spAutoFit/>
          </a:bodyPr>
          <a:lstStyle/>
          <a:p>
            <a:pPr algn="l"/>
            <a:r>
              <a:rPr sz="1400" b="0">
                <a:solidFill>
                  <a:srgbClr val="404040"/>
                </a:solidFill>
                <a:latin typeface="Arial"/>
              </a:rPr>
              <a:t>Breadlife is Indonesia’s leading Japanese artisan bakery chain, owned by The Daily Company (DailyCo). Breadlife is renowned for its fresh, preservative-free breads, rapid expansion across Greater Jakarta and beyond, and successful integration of both B2C retail and B2B institutional channels. Since its acquisition by DailyCo in 2021, Breadlife has opened over 100 new outlets, driving a 150% revenue increase from 2022 to 2024.</a:t>
            </a:r>
          </a:p>
        </p:txBody>
      </p:sp>
      <p:sp>
        <p:nvSpPr>
          <p:cNvPr id="5" name="Oval 4"/>
          <p:cNvSpPr/>
          <p:nvPr/>
        </p:nvSpPr>
        <p:spPr>
          <a:xfrm>
            <a:off x="914400" y="2560320"/>
            <a:ext cx="109728" cy="109728"/>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24128" y="2606040"/>
            <a:ext cx="3657600" cy="18288"/>
          </a:xfrm>
          <a:prstGeom prst="rect">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572000" y="2560320"/>
            <a:ext cx="109728" cy="109728"/>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457200" cy="182880"/>
          </a:xfrm>
          <a:prstGeom prst="rect">
            <a:avLst/>
          </a:prstGeom>
          <a:noFill/>
        </p:spPr>
        <p:txBody>
          <a:bodyPr wrap="none">
            <a:spAutoFit/>
          </a:bodyPr>
          <a:lstStyle/>
        </p:txBody>
      </p:sp>
      <p:sp>
        <p:nvSpPr>
          <p:cNvPr id="9" name="Rectangle 8"/>
          <p:cNvSpPr/>
          <p:nvPr/>
        </p:nvSpPr>
        <p:spPr>
          <a:xfrm>
            <a:off x="7498079" y="2560320"/>
            <a:ext cx="4114800" cy="320040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2651760"/>
            <a:ext cx="3749039" cy="274320"/>
          </a:xfrm>
          <a:prstGeom prst="rect">
            <a:avLst/>
          </a:prstGeom>
          <a:noFill/>
          <a:ln>
            <a:noFill/>
          </a:ln>
          <a:effectLst/>
        </p:spPr>
        <p:txBody>
          <a:bodyPr wrap="square">
            <a:spAutoFit/>
          </a:bodyPr>
          <a:lstStyle/>
          <a:p>
            <a:pPr algn="ctr"/>
            <a:r>
              <a:rPr sz="1400" b="1">
                <a:solidFill>
                  <a:srgbClr val="183A58"/>
                </a:solidFill>
                <a:latin typeface="Arial"/>
              </a:rPr>
              <a:t>Key Operational Highlights</a:t>
            </a:r>
          </a:p>
        </p:txBody>
      </p:sp>
      <p:sp>
        <p:nvSpPr>
          <p:cNvPr id="11" name="Oval 10"/>
          <p:cNvSpPr/>
          <p:nvPr/>
        </p:nvSpPr>
        <p:spPr>
          <a:xfrm>
            <a:off x="7772400" y="3063240"/>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9560" y="3017520"/>
            <a:ext cx="3474720" cy="320040"/>
          </a:xfrm>
          <a:prstGeom prst="rect">
            <a:avLst/>
          </a:prstGeom>
          <a:noFill/>
          <a:ln>
            <a:noFill/>
          </a:ln>
          <a:effectLst/>
        </p:spPr>
        <p:txBody>
          <a:bodyPr wrap="square">
            <a:spAutoFit/>
          </a:bodyPr>
          <a:lstStyle/>
          <a:p>
            <a:pPr algn="l"/>
            <a:r>
              <a:rPr sz="1000" b="0">
                <a:solidFill>
                  <a:srgbClr val="404040"/>
                </a:solidFill>
                <a:latin typeface="Arial"/>
              </a:rPr>
              <a:t>150% revenue growth from 2022 to 2024.</a:t>
            </a:r>
          </a:p>
        </p:txBody>
      </p:sp>
      <p:sp>
        <p:nvSpPr>
          <p:cNvPr id="13" name="Oval 12"/>
          <p:cNvSpPr/>
          <p:nvPr/>
        </p:nvSpPr>
        <p:spPr>
          <a:xfrm>
            <a:off x="7772400" y="3428999"/>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60" y="3383279"/>
            <a:ext cx="3474720" cy="320040"/>
          </a:xfrm>
          <a:prstGeom prst="rect">
            <a:avLst/>
          </a:prstGeom>
          <a:noFill/>
          <a:ln>
            <a:noFill/>
          </a:ln>
          <a:effectLst/>
        </p:spPr>
        <p:txBody>
          <a:bodyPr wrap="square">
            <a:spAutoFit/>
          </a:bodyPr>
          <a:lstStyle/>
          <a:p>
            <a:pPr algn="l"/>
            <a:r>
              <a:rPr sz="1000" b="0">
                <a:solidFill>
                  <a:srgbClr val="404040"/>
                </a:solidFill>
                <a:latin typeface="Arial"/>
              </a:rPr>
              <a:t>Over 100 new outlets launched post-acquisition.</a:t>
            </a:r>
          </a:p>
        </p:txBody>
      </p:sp>
      <p:sp>
        <p:nvSpPr>
          <p:cNvPr id="15" name="Oval 14"/>
          <p:cNvSpPr/>
          <p:nvPr/>
        </p:nvSpPr>
        <p:spPr>
          <a:xfrm>
            <a:off x="7772400" y="3794759"/>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3749039"/>
            <a:ext cx="3474720" cy="320040"/>
          </a:xfrm>
          <a:prstGeom prst="rect">
            <a:avLst/>
          </a:prstGeom>
          <a:noFill/>
          <a:ln>
            <a:noFill/>
          </a:ln>
          <a:effectLst/>
        </p:spPr>
        <p:txBody>
          <a:bodyPr wrap="square">
            <a:spAutoFit/>
          </a:bodyPr>
          <a:lstStyle/>
          <a:p>
            <a:pPr algn="l"/>
            <a:r>
              <a:rPr sz="1000" b="0">
                <a:solidFill>
                  <a:srgbClr val="404040"/>
                </a:solidFill>
                <a:latin typeface="Arial"/>
              </a:rPr>
              <a:t>Strong, stable EBITDA margins at group level.</a:t>
            </a:r>
          </a:p>
        </p:txBody>
      </p:sp>
      <p:sp>
        <p:nvSpPr>
          <p:cNvPr id="17" name="Oval 16"/>
          <p:cNvSpPr/>
          <p:nvPr/>
        </p:nvSpPr>
        <p:spPr>
          <a:xfrm>
            <a:off x="7772400" y="4160520"/>
            <a:ext cx="54864" cy="54864"/>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114800"/>
            <a:ext cx="3474720" cy="320040"/>
          </a:xfrm>
          <a:prstGeom prst="rect">
            <a:avLst/>
          </a:prstGeom>
          <a:noFill/>
          <a:ln>
            <a:noFill/>
          </a:ln>
          <a:effectLst/>
        </p:spPr>
        <p:txBody>
          <a:bodyPr wrap="square">
            <a:spAutoFit/>
          </a:bodyPr>
          <a:lstStyle/>
          <a:p>
            <a:pPr algn="l"/>
            <a:r>
              <a:rPr sz="1000" b="0">
                <a:solidFill>
                  <a:srgbClr val="404040"/>
                </a:solidFill>
                <a:latin typeface="Arial"/>
              </a:rPr>
              <a:t>Largest Japanese artisan bakery franchise in Indonesia.</a:t>
            </a:r>
          </a:p>
        </p:txBody>
      </p:sp>
      <p:sp>
        <p:nvSpPr>
          <p:cNvPr id="19" name="TextBox 18"/>
          <p:cNvSpPr txBox="1"/>
          <p:nvPr/>
        </p:nvSpPr>
        <p:spPr>
          <a:xfrm>
            <a:off x="731520" y="3108960"/>
            <a:ext cx="4572000" cy="274320"/>
          </a:xfrm>
          <a:prstGeom prst="rect">
            <a:avLst/>
          </a:prstGeom>
          <a:noFill/>
          <a:ln>
            <a:noFill/>
          </a:ln>
          <a:effectLst/>
        </p:spPr>
        <p:txBody>
          <a:bodyPr wrap="square">
            <a:spAutoFit/>
          </a:bodyPr>
          <a:lstStyle/>
          <a:p>
            <a:pPr algn="l"/>
            <a:r>
              <a:rPr sz="1400" b="1">
                <a:solidFill>
                  <a:srgbClr val="183A58"/>
                </a:solidFill>
                <a:latin typeface="Arial"/>
              </a:rPr>
              <a:t>Core Service Lines</a:t>
            </a:r>
          </a:p>
        </p:txBody>
      </p:sp>
      <p:sp>
        <p:nvSpPr>
          <p:cNvPr id="20" name="Oval 19"/>
          <p:cNvSpPr/>
          <p:nvPr/>
        </p:nvSpPr>
        <p:spPr>
          <a:xfrm>
            <a:off x="914400" y="3520440"/>
            <a:ext cx="45720" cy="457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474720"/>
            <a:ext cx="2560320" cy="411480"/>
          </a:xfrm>
          <a:prstGeom prst="rect">
            <a:avLst/>
          </a:prstGeom>
          <a:noFill/>
          <a:ln>
            <a:noFill/>
          </a:ln>
          <a:effectLst/>
        </p:spPr>
        <p:txBody>
          <a:bodyPr wrap="square">
            <a:spAutoFit/>
          </a:bodyPr>
          <a:lstStyle/>
          <a:p>
            <a:pPr algn="l"/>
            <a:r>
              <a:rPr sz="1000" b="0">
                <a:solidFill>
                  <a:srgbClr val="404040"/>
                </a:solidFill>
                <a:latin typeface="Arial"/>
              </a:rPr>
              <a:t>Fresh, preservative-free breads and premium baked goods.</a:t>
            </a:r>
          </a:p>
        </p:txBody>
      </p:sp>
      <p:sp>
        <p:nvSpPr>
          <p:cNvPr id="22" name="Oval 21"/>
          <p:cNvSpPr/>
          <p:nvPr/>
        </p:nvSpPr>
        <p:spPr>
          <a:xfrm>
            <a:off x="914400" y="4023359"/>
            <a:ext cx="45720" cy="457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977639"/>
            <a:ext cx="2560320" cy="411480"/>
          </a:xfrm>
          <a:prstGeom prst="rect">
            <a:avLst/>
          </a:prstGeom>
          <a:noFill/>
          <a:ln>
            <a:noFill/>
          </a:ln>
          <a:effectLst/>
        </p:spPr>
        <p:txBody>
          <a:bodyPr wrap="square">
            <a:spAutoFit/>
          </a:bodyPr>
          <a:lstStyle/>
          <a:p>
            <a:pPr algn="l"/>
            <a:r>
              <a:rPr sz="1000" b="0">
                <a:solidFill>
                  <a:srgbClr val="404040"/>
                </a:solidFill>
                <a:latin typeface="Arial"/>
              </a:rPr>
              <a:t>B2C retail network and B2B institutional catering.</a:t>
            </a:r>
          </a:p>
        </p:txBody>
      </p:sp>
      <p:sp>
        <p:nvSpPr>
          <p:cNvPr id="24" name="Oval 23"/>
          <p:cNvSpPr/>
          <p:nvPr/>
        </p:nvSpPr>
        <p:spPr>
          <a:xfrm>
            <a:off x="3840480" y="3520440"/>
            <a:ext cx="45720" cy="457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977640" y="3474720"/>
            <a:ext cx="2560320" cy="411480"/>
          </a:xfrm>
          <a:prstGeom prst="rect">
            <a:avLst/>
          </a:prstGeom>
          <a:noFill/>
          <a:ln>
            <a:noFill/>
          </a:ln>
          <a:effectLst/>
        </p:spPr>
        <p:txBody>
          <a:bodyPr wrap="square">
            <a:spAutoFit/>
          </a:bodyPr>
          <a:lstStyle/>
          <a:p>
            <a:pPr algn="l"/>
            <a:r>
              <a:rPr sz="1000" b="0">
                <a:solidFill>
                  <a:srgbClr val="404040"/>
                </a:solidFill>
                <a:latin typeface="Arial"/>
              </a:rPr>
              <a:t>Cake and pastry innovation for diverse customer segments.</a:t>
            </a:r>
          </a:p>
        </p:txBody>
      </p:sp>
      <p:sp>
        <p:nvSpPr>
          <p:cNvPr id="26" name="TextBox 25"/>
          <p:cNvSpPr txBox="1"/>
          <p:nvPr/>
        </p:nvSpPr>
        <p:spPr>
          <a:xfrm>
            <a:off x="731520" y="5669280"/>
            <a:ext cx="6400800" cy="274320"/>
          </a:xfrm>
          <a:prstGeom prst="rect">
            <a:avLst/>
          </a:prstGeom>
          <a:noFill/>
          <a:ln>
            <a:noFill/>
          </a:ln>
          <a:effectLst/>
        </p:spPr>
        <p:txBody>
          <a:bodyPr wrap="square">
            <a:spAutoFit/>
          </a:bodyPr>
          <a:lstStyle/>
          <a:p>
            <a:pPr algn="l"/>
            <a:r>
              <a:rPr sz="1400" b="1">
                <a:solidFill>
                  <a:srgbClr val="183A58"/>
                </a:solidFill>
                <a:latin typeface="Arial"/>
              </a:rPr>
              <a:t>Strategic Market Positioning</a:t>
            </a:r>
          </a:p>
        </p:txBody>
      </p:sp>
      <p:sp>
        <p:nvSpPr>
          <p:cNvPr id="27" name="TextBox 26"/>
          <p:cNvSpPr txBox="1"/>
          <p:nvPr/>
        </p:nvSpPr>
        <p:spPr>
          <a:xfrm>
            <a:off x="731520" y="6035040"/>
            <a:ext cx="10515600" cy="548640"/>
          </a:xfrm>
          <a:prstGeom prst="rect">
            <a:avLst/>
          </a:prstGeom>
          <a:noFill/>
          <a:ln>
            <a:noFill/>
          </a:ln>
          <a:effectLst/>
        </p:spPr>
        <p:txBody>
          <a:bodyPr wrap="square">
            <a:spAutoFit/>
          </a:bodyPr>
          <a:lstStyle/>
          <a:p>
            <a:pPr algn="l"/>
            <a:r>
              <a:rPr sz="1100" b="0">
                <a:solidFill>
                  <a:srgbClr val="404040"/>
                </a:solidFill>
                <a:latin typeface="Arial"/>
              </a:rPr>
              <a:t>Breadlife combines premium, health-oriented bakery products with an accessible price point, a rapidly expanding outlet footprint, and a unique hybrid retail/B2B business model.</a:t>
            </a:r>
          </a:p>
        </p:txBody>
      </p:sp>
      <p:sp>
        <p:nvSpPr>
          <p:cNvPr id="28" name="TextBox 27"/>
          <p:cNvSpPr txBox="1"/>
          <p:nvPr/>
        </p:nvSpPr>
        <p:spPr>
          <a:xfrm>
            <a:off x="731520" y="6400800"/>
            <a:ext cx="3657600" cy="182880"/>
          </a:xfrm>
          <a:prstGeom prst="rect">
            <a:avLst/>
          </a:prstGeom>
          <a:noFill/>
        </p:spPr>
        <p:txBody>
          <a:bodyPr wrap="none">
            <a:spAutoFit/>
          </a:bodyPr>
          <a:lstStyle/>
          <a:p>
            <a:pPr algn="l"/>
            <a:r>
              <a:rPr sz="900">
                <a:solidFill>
                  <a:srgbClr val="808080"/>
                </a:solidFill>
                <a:latin typeface="Arial"/>
              </a:rPr>
              <a:t>Confidential | September 06, 2025</a:t>
            </a:r>
          </a:p>
        </p:txBody>
      </p:sp>
      <p:sp>
        <p:nvSpPr>
          <p:cNvPr id="29" name="TextBox 28"/>
          <p:cNvSpPr txBox="1"/>
          <p:nvPr/>
        </p:nvSpPr>
        <p:spPr>
          <a:xfrm>
            <a:off x="8686800" y="6400800"/>
            <a:ext cx="3200400" cy="182880"/>
          </a:xfrm>
          <a:prstGeom prst="rect">
            <a:avLst/>
          </a:prstGeom>
          <a:noFill/>
        </p:spPr>
        <p:txBody>
          <a:bodyPr wrap="none">
            <a:spAutoFit/>
          </a:bodyPr>
          <a:lstStyle/>
          <a:p>
            <a:pPr algn="r"/>
            <a:r>
              <a:rPr sz="900">
                <a:solidFill>
                  <a:srgbClr val="808080"/>
                </a:solidFill>
                <a:latin typeface="Arial"/>
              </a:rPr>
              <a:t>Moelis &amp; Company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Investor Considerations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5029200" cy="457200"/>
          </a:xfrm>
          <a:prstGeom prst="rect">
            <a:avLst/>
          </a:prstGeom>
          <a:noFill/>
        </p:spPr>
        <p:txBody>
          <a:bodyPr wrap="none">
            <a:spAutoFit/>
          </a:bodyPr>
          <a:lstStyle/>
          <a:p>
            <a:pPr algn="ctr">
              <a:defRPr sz="1100" b="1">
                <a:solidFill>
                  <a:srgbClr val="183A58"/>
                </a:solidFill>
                <a:latin typeface="Arial"/>
              </a:defRPr>
            </a:pPr>
            <a:r>
              <a:t>Considerations</a:t>
            </a:r>
          </a:p>
        </p:txBody>
      </p:sp>
      <p:sp>
        <p:nvSpPr>
          <p:cNvPr id="5" name="TextBox 4"/>
          <p:cNvSpPr txBox="1"/>
          <p:nvPr/>
        </p:nvSpPr>
        <p:spPr>
          <a:xfrm>
            <a:off x="6400800" y="1280160"/>
            <a:ext cx="5029200" cy="457200"/>
          </a:xfrm>
          <a:prstGeom prst="rect">
            <a:avLst/>
          </a:prstGeom>
          <a:noFill/>
        </p:spPr>
        <p:txBody>
          <a:bodyPr wrap="none">
            <a:spAutoFit/>
          </a:bodyPr>
          <a:lstStyle/>
          <a:p>
            <a:pPr algn="ctr">
              <a:defRPr sz="1100" b="1">
                <a:solidFill>
                  <a:srgbClr val="183A58"/>
                </a:solidFill>
                <a:latin typeface="Arial"/>
              </a:defRPr>
            </a:pPr>
            <a:r>
              <a:t>Mitigants</a:t>
            </a:r>
          </a:p>
        </p:txBody>
      </p:sp>
      <p:sp>
        <p:nvSpPr>
          <p:cNvPr id="6" name="Oval 5"/>
          <p:cNvSpPr/>
          <p:nvPr/>
        </p:nvSpPr>
        <p:spPr>
          <a:xfrm>
            <a:off x="640080" y="16459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459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8" name="TextBox 7"/>
          <p:cNvSpPr txBox="1"/>
          <p:nvPr/>
        </p:nvSpPr>
        <p:spPr>
          <a:xfrm>
            <a:off x="1005840" y="1485900"/>
            <a:ext cx="4754880" cy="594360"/>
          </a:xfrm>
          <a:prstGeom prst="rect">
            <a:avLst/>
          </a:prstGeom>
          <a:noFill/>
        </p:spPr>
        <p:txBody>
          <a:bodyPr wrap="square" anchor="ctr">
            <a:spAutoFit/>
          </a:bodyPr>
          <a:lstStyle/>
          <a:p>
            <a:pPr>
              <a:defRPr sz="1100" b="0">
                <a:solidFill>
                  <a:srgbClr val="404040"/>
                </a:solidFill>
                <a:latin typeface="Arial"/>
              </a:defRPr>
            </a:pPr>
            <a:r>
              <a:t>Highly competitive Indonesian bakery market with local and international players.</a:t>
            </a:r>
          </a:p>
        </p:txBody>
      </p:sp>
      <p:sp>
        <p:nvSpPr>
          <p:cNvPr id="9" name="Oval 8"/>
          <p:cNvSpPr/>
          <p:nvPr/>
        </p:nvSpPr>
        <p:spPr>
          <a:xfrm>
            <a:off x="6126480" y="16459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6459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11" name="TextBox 10"/>
          <p:cNvSpPr txBox="1"/>
          <p:nvPr/>
        </p:nvSpPr>
        <p:spPr>
          <a:xfrm>
            <a:off x="6492240" y="1485900"/>
            <a:ext cx="5212080" cy="594360"/>
          </a:xfrm>
          <a:prstGeom prst="rect">
            <a:avLst/>
          </a:prstGeom>
          <a:noFill/>
        </p:spPr>
        <p:txBody>
          <a:bodyPr wrap="square" anchor="ctr">
            <a:spAutoFit/>
          </a:bodyPr>
          <a:lstStyle/>
          <a:p>
            <a:pPr>
              <a:defRPr sz="1100" b="0">
                <a:solidFill>
                  <a:srgbClr val="404040"/>
                </a:solidFill>
                <a:latin typeface="Arial"/>
              </a:defRPr>
            </a:pPr>
            <a:r>
              <a:t>Strong brand differentiation and loyal customer base.</a:t>
            </a:r>
          </a:p>
        </p:txBody>
      </p:sp>
      <p:sp>
        <p:nvSpPr>
          <p:cNvPr id="12" name="Oval 11"/>
          <p:cNvSpPr/>
          <p:nvPr/>
        </p:nvSpPr>
        <p:spPr>
          <a:xfrm>
            <a:off x="640080" y="23317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317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14" name="TextBox 13"/>
          <p:cNvSpPr txBox="1"/>
          <p:nvPr/>
        </p:nvSpPr>
        <p:spPr>
          <a:xfrm>
            <a:off x="1005840" y="2171700"/>
            <a:ext cx="4754880" cy="594360"/>
          </a:xfrm>
          <a:prstGeom prst="rect">
            <a:avLst/>
          </a:prstGeom>
          <a:noFill/>
        </p:spPr>
        <p:txBody>
          <a:bodyPr wrap="square" anchor="ctr">
            <a:spAutoFit/>
          </a:bodyPr>
          <a:lstStyle/>
          <a:p>
            <a:pPr>
              <a:defRPr sz="1100" b="0">
                <a:solidFill>
                  <a:srgbClr val="404040"/>
                </a:solidFill>
                <a:latin typeface="Arial"/>
              </a:defRPr>
            </a:pPr>
            <a:r>
              <a:t>Operational complexity and quality risks from rapid outlet expansion.</a:t>
            </a:r>
          </a:p>
        </p:txBody>
      </p:sp>
      <p:sp>
        <p:nvSpPr>
          <p:cNvPr id="15" name="Oval 14"/>
          <p:cNvSpPr/>
          <p:nvPr/>
        </p:nvSpPr>
        <p:spPr>
          <a:xfrm>
            <a:off x="6126480" y="23317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23317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17" name="TextBox 16"/>
          <p:cNvSpPr txBox="1"/>
          <p:nvPr/>
        </p:nvSpPr>
        <p:spPr>
          <a:xfrm>
            <a:off x="6492240" y="2171700"/>
            <a:ext cx="5212080" cy="594360"/>
          </a:xfrm>
          <a:prstGeom prst="rect">
            <a:avLst/>
          </a:prstGeom>
          <a:noFill/>
        </p:spPr>
        <p:txBody>
          <a:bodyPr wrap="square" anchor="ctr">
            <a:spAutoFit/>
          </a:bodyPr>
          <a:lstStyle/>
          <a:p>
            <a:pPr>
              <a:defRPr sz="1100" b="0">
                <a:solidFill>
                  <a:srgbClr val="404040"/>
                </a:solidFill>
                <a:latin typeface="Arial"/>
              </a:defRPr>
            </a:pPr>
            <a:r>
              <a:t>Balanced B2C and B2B revenue mix for stability.</a:t>
            </a:r>
          </a:p>
        </p:txBody>
      </p:sp>
      <p:sp>
        <p:nvSpPr>
          <p:cNvPr id="18" name="Oval 17"/>
          <p:cNvSpPr/>
          <p:nvPr/>
        </p:nvSpPr>
        <p:spPr>
          <a:xfrm>
            <a:off x="640080" y="30175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0175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20" name="TextBox 19"/>
          <p:cNvSpPr txBox="1"/>
          <p:nvPr/>
        </p:nvSpPr>
        <p:spPr>
          <a:xfrm>
            <a:off x="1005840" y="2857500"/>
            <a:ext cx="4754880" cy="594360"/>
          </a:xfrm>
          <a:prstGeom prst="rect">
            <a:avLst/>
          </a:prstGeom>
          <a:noFill/>
        </p:spPr>
        <p:txBody>
          <a:bodyPr wrap="square" anchor="ctr">
            <a:spAutoFit/>
          </a:bodyPr>
          <a:lstStyle/>
          <a:p>
            <a:pPr>
              <a:defRPr sz="1100" b="0">
                <a:solidFill>
                  <a:srgbClr val="404040"/>
                </a:solidFill>
                <a:latin typeface="Arial"/>
              </a:defRPr>
            </a:pPr>
            <a:r>
              <a:t>Stringent food safety requirements due to preservative-free model.</a:t>
            </a:r>
          </a:p>
        </p:txBody>
      </p:sp>
      <p:sp>
        <p:nvSpPr>
          <p:cNvPr id="21" name="Oval 20"/>
          <p:cNvSpPr/>
          <p:nvPr/>
        </p:nvSpPr>
        <p:spPr>
          <a:xfrm>
            <a:off x="6126480" y="30175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0" y="30175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23" name="TextBox 22"/>
          <p:cNvSpPr txBox="1"/>
          <p:nvPr/>
        </p:nvSpPr>
        <p:spPr>
          <a:xfrm>
            <a:off x="6492240" y="2857500"/>
            <a:ext cx="5212080" cy="594360"/>
          </a:xfrm>
          <a:prstGeom prst="rect">
            <a:avLst/>
          </a:prstGeom>
          <a:noFill/>
        </p:spPr>
        <p:txBody>
          <a:bodyPr wrap="square" anchor="ctr">
            <a:spAutoFit/>
          </a:bodyPr>
          <a:lstStyle/>
          <a:p>
            <a:pPr>
              <a:defRPr sz="1100" b="0">
                <a:solidFill>
                  <a:srgbClr val="404040"/>
                </a:solidFill>
                <a:latin typeface="Arial"/>
              </a:defRPr>
            </a:pPr>
            <a:r>
              <a:t>Group-level procurement, logistics, and operational synergies.</a:t>
            </a:r>
          </a:p>
        </p:txBody>
      </p:sp>
      <p:sp>
        <p:nvSpPr>
          <p:cNvPr id="24" name="Oval 23"/>
          <p:cNvSpPr/>
          <p:nvPr/>
        </p:nvSpPr>
        <p:spPr>
          <a:xfrm>
            <a:off x="640080" y="37033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7033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26" name="TextBox 25"/>
          <p:cNvSpPr txBox="1"/>
          <p:nvPr/>
        </p:nvSpPr>
        <p:spPr>
          <a:xfrm>
            <a:off x="1005840" y="3543300"/>
            <a:ext cx="4754880" cy="594360"/>
          </a:xfrm>
          <a:prstGeom prst="rect">
            <a:avLst/>
          </a:prstGeom>
          <a:noFill/>
        </p:spPr>
        <p:txBody>
          <a:bodyPr wrap="square" anchor="ctr">
            <a:spAutoFit/>
          </a:bodyPr>
          <a:lstStyle/>
          <a:p>
            <a:pPr>
              <a:defRPr sz="1100" b="0">
                <a:solidFill>
                  <a:srgbClr val="404040"/>
                </a:solidFill>
                <a:latin typeface="Arial"/>
              </a:defRPr>
            </a:pPr>
            <a:r>
              <a:t>Exposure to economic cycles and retail foot traffic trends.</a:t>
            </a:r>
          </a:p>
        </p:txBody>
      </p:sp>
      <p:sp>
        <p:nvSpPr>
          <p:cNvPr id="27" name="Oval 26"/>
          <p:cNvSpPr/>
          <p:nvPr/>
        </p:nvSpPr>
        <p:spPr>
          <a:xfrm>
            <a:off x="6126480" y="37033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29" name="TextBox 28"/>
          <p:cNvSpPr txBox="1"/>
          <p:nvPr/>
        </p:nvSpPr>
        <p:spPr>
          <a:xfrm>
            <a:off x="6492240" y="3543300"/>
            <a:ext cx="5212080" cy="594360"/>
          </a:xfrm>
          <a:prstGeom prst="rect">
            <a:avLst/>
          </a:prstGeom>
          <a:noFill/>
        </p:spPr>
        <p:txBody>
          <a:bodyPr wrap="square" anchor="ctr">
            <a:spAutoFit/>
          </a:bodyPr>
          <a:lstStyle/>
          <a:p>
            <a:pPr>
              <a:defRPr sz="1100" b="0">
                <a:solidFill>
                  <a:srgbClr val="404040"/>
                </a:solidFill>
                <a:latin typeface="Arial"/>
              </a:defRPr>
            </a:pPr>
            <a:r>
              <a:t>Stringent quality control and open kitchen protocols.</a:t>
            </a:r>
          </a:p>
        </p:txBody>
      </p:sp>
      <p:sp>
        <p:nvSpPr>
          <p:cNvPr id="30" name="Oval 29"/>
          <p:cNvSpPr/>
          <p:nvPr/>
        </p:nvSpPr>
        <p:spPr>
          <a:xfrm>
            <a:off x="640080" y="43891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3891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32" name="TextBox 31"/>
          <p:cNvSpPr txBox="1"/>
          <p:nvPr/>
        </p:nvSpPr>
        <p:spPr>
          <a:xfrm>
            <a:off x="1005840" y="4229100"/>
            <a:ext cx="4754880" cy="594360"/>
          </a:xfrm>
          <a:prstGeom prst="rect">
            <a:avLst/>
          </a:prstGeom>
          <a:noFill/>
        </p:spPr>
        <p:txBody>
          <a:bodyPr wrap="square" anchor="ctr">
            <a:spAutoFit/>
          </a:bodyPr>
          <a:lstStyle/>
          <a:p>
            <a:pPr>
              <a:defRPr sz="1100" b="0">
                <a:solidFill>
                  <a:srgbClr val="404040"/>
                </a:solidFill>
                <a:latin typeface="Arial"/>
              </a:defRPr>
            </a:pPr>
            <a:r>
              <a:t>Integration risks post-acquisition and scaling B2B channels.</a:t>
            </a:r>
          </a:p>
        </p:txBody>
      </p:sp>
      <p:sp>
        <p:nvSpPr>
          <p:cNvPr id="33" name="Oval 32"/>
          <p:cNvSpPr/>
          <p:nvPr/>
        </p:nvSpPr>
        <p:spPr>
          <a:xfrm>
            <a:off x="6126480" y="43891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43891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35" name="TextBox 34"/>
          <p:cNvSpPr txBox="1"/>
          <p:nvPr/>
        </p:nvSpPr>
        <p:spPr>
          <a:xfrm>
            <a:off x="6492240" y="4229100"/>
            <a:ext cx="5212080" cy="594360"/>
          </a:xfrm>
          <a:prstGeom prst="rect">
            <a:avLst/>
          </a:prstGeom>
          <a:noFill/>
        </p:spPr>
        <p:txBody>
          <a:bodyPr wrap="square" anchor="ctr">
            <a:spAutoFit/>
          </a:bodyPr>
          <a:lstStyle/>
          <a:p>
            <a:pPr>
              <a:defRPr sz="1100" b="0">
                <a:solidFill>
                  <a:srgbClr val="404040"/>
                </a:solidFill>
                <a:latin typeface="Arial"/>
              </a:defRPr>
            </a:pPr>
            <a:r>
              <a:t>Agile outlet selection and pricing/product flexibility.</a:t>
            </a:r>
          </a:p>
        </p:txBody>
      </p:sp>
      <p:sp>
        <p:nvSpPr>
          <p:cNvPr id="36" name="Oval 35"/>
          <p:cNvSpPr/>
          <p:nvPr/>
        </p:nvSpPr>
        <p:spPr>
          <a:xfrm>
            <a:off x="640080" y="5074920"/>
            <a:ext cx="274320" cy="274320"/>
          </a:xfrm>
          <a:prstGeom prst="ellipse">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5074920"/>
            <a:ext cx="274320" cy="274320"/>
          </a:xfrm>
          <a:prstGeom prst="rect">
            <a:avLst/>
          </a:prstGeom>
          <a:noFill/>
        </p:spPr>
        <p:txBody>
          <a:bodyPr wrap="none" anchor="ctr">
            <a:spAutoFit/>
          </a:bodyPr>
          <a:lstStyle/>
          <a:p>
            <a:pPr algn="ctr">
              <a:defRPr sz="1100" b="1">
                <a:solidFill>
                  <a:srgbClr val="FFFFFF"/>
                </a:solidFill>
                <a:latin typeface="Arial"/>
              </a:defRPr>
            </a:pPr>
            <a:r>
              <a:t>?</a:t>
            </a:r>
          </a:p>
        </p:txBody>
      </p:sp>
      <p:sp>
        <p:nvSpPr>
          <p:cNvPr id="38" name="TextBox 37"/>
          <p:cNvSpPr txBox="1"/>
          <p:nvPr/>
        </p:nvSpPr>
        <p:spPr>
          <a:xfrm>
            <a:off x="1005840" y="4914900"/>
            <a:ext cx="4754880" cy="594360"/>
          </a:xfrm>
          <a:prstGeom prst="rect">
            <a:avLst/>
          </a:prstGeom>
          <a:noFill/>
        </p:spPr>
        <p:txBody>
          <a:bodyPr wrap="square" anchor="ctr">
            <a:spAutoFit/>
          </a:bodyPr>
          <a:lstStyle/>
          <a:p>
            <a:pPr>
              <a:defRPr sz="1100" b="0">
                <a:solidFill>
                  <a:srgbClr val="404040"/>
                </a:solidFill>
                <a:latin typeface="Arial"/>
              </a:defRPr>
            </a:pPr>
            <a:r>
              <a:t>Potential margin pressure from inflation and input cost volatility.</a:t>
            </a:r>
          </a:p>
        </p:txBody>
      </p:sp>
      <p:sp>
        <p:nvSpPr>
          <p:cNvPr id="39" name="Oval 38"/>
          <p:cNvSpPr/>
          <p:nvPr/>
        </p:nvSpPr>
        <p:spPr>
          <a:xfrm>
            <a:off x="6126480" y="507492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26480" y="5074920"/>
            <a:ext cx="274320" cy="274320"/>
          </a:xfrm>
          <a:prstGeom prst="rect">
            <a:avLst/>
          </a:prstGeom>
          <a:noFill/>
        </p:spPr>
        <p:txBody>
          <a:bodyPr wrap="none" anchor="ctr">
            <a:spAutoFit/>
          </a:bodyPr>
          <a:lstStyle/>
          <a:p>
            <a:pPr algn="ctr">
              <a:defRPr sz="1100" b="1">
                <a:solidFill>
                  <a:srgbClr val="FFFFFF"/>
                </a:solidFill>
                <a:latin typeface="Arial"/>
              </a:defRPr>
            </a:pPr>
            <a:r>
              <a:t>i</a:t>
            </a:r>
          </a:p>
        </p:txBody>
      </p:sp>
      <p:sp>
        <p:nvSpPr>
          <p:cNvPr id="41" name="TextBox 40"/>
          <p:cNvSpPr txBox="1"/>
          <p:nvPr/>
        </p:nvSpPr>
        <p:spPr>
          <a:xfrm>
            <a:off x="6492240" y="4914900"/>
            <a:ext cx="5212080" cy="594360"/>
          </a:xfrm>
          <a:prstGeom prst="rect">
            <a:avLst/>
          </a:prstGeom>
          <a:noFill/>
        </p:spPr>
        <p:txBody>
          <a:bodyPr wrap="square" anchor="ctr">
            <a:spAutoFit/>
          </a:bodyPr>
          <a:lstStyle/>
          <a:p>
            <a:pPr>
              <a:defRPr sz="1100" b="0">
                <a:solidFill>
                  <a:srgbClr val="404040"/>
                </a:solidFill>
                <a:latin typeface="Arial"/>
              </a:defRPr>
            </a:pPr>
            <a:r>
              <a:t>Financial discipline with positive group operating profit.</a:t>
            </a:r>
          </a:p>
        </p:txBody>
      </p:sp>
      <p:sp>
        <p:nvSpPr>
          <p:cNvPr id="42" name="TextBox 41"/>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43" name="TextBox 42"/>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Product &amp; Service Footprint</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 y="128016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280160"/>
            <a:ext cx="5029200" cy="228600"/>
          </a:xfrm>
          <a:prstGeom prst="rect">
            <a:avLst/>
          </a:prstGeom>
          <a:noFill/>
          <a:ln>
            <a:noFill/>
          </a:ln>
          <a:effectLst/>
        </p:spPr>
        <p:txBody>
          <a:bodyPr wrap="square">
            <a:spAutoFit/>
          </a:bodyPr>
          <a:lstStyle/>
          <a:p>
            <a:pPr algn="l"/>
            <a:r>
              <a:rPr sz="1200" b="1">
                <a:solidFill>
                  <a:srgbClr val="183A58"/>
                </a:solidFill>
                <a:latin typeface="Arial"/>
              </a:rPr>
              <a:t>Fresh, Preservative-Free Breads</a:t>
            </a:r>
          </a:p>
        </p:txBody>
      </p:sp>
      <p:sp>
        <p:nvSpPr>
          <p:cNvPr id="6" name="TextBox 5"/>
          <p:cNvSpPr txBox="1"/>
          <p:nvPr/>
        </p:nvSpPr>
        <p:spPr>
          <a:xfrm>
            <a:off x="1097280" y="1508760"/>
            <a:ext cx="5029200" cy="502920"/>
          </a:xfrm>
          <a:prstGeom prst="rect">
            <a:avLst/>
          </a:prstGeom>
          <a:noFill/>
          <a:ln>
            <a:noFill/>
          </a:ln>
          <a:effectLst/>
        </p:spPr>
        <p:txBody>
          <a:bodyPr wrap="square">
            <a:spAutoFit/>
          </a:bodyPr>
          <a:lstStyle/>
          <a:p>
            <a:pPr algn="l"/>
            <a:r>
              <a:rPr sz="1000" b="0">
                <a:solidFill>
                  <a:srgbClr val="404040"/>
                </a:solidFill>
                <a:latin typeface="Arial"/>
              </a:rPr>
              <a:t>Japanese-style premium breads, baked fresh daily with no preservatives. Includes soft loaves, sweet buns, and savory filled breads.</a:t>
            </a:r>
          </a:p>
        </p:txBody>
      </p:sp>
      <p:sp>
        <p:nvSpPr>
          <p:cNvPr id="7" name="Oval 6"/>
          <p:cNvSpPr/>
          <p:nvPr/>
        </p:nvSpPr>
        <p:spPr>
          <a:xfrm>
            <a:off x="731520" y="205740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057400"/>
            <a:ext cx="5029200" cy="228600"/>
          </a:xfrm>
          <a:prstGeom prst="rect">
            <a:avLst/>
          </a:prstGeom>
          <a:noFill/>
          <a:ln>
            <a:noFill/>
          </a:ln>
          <a:effectLst/>
        </p:spPr>
        <p:txBody>
          <a:bodyPr wrap="square">
            <a:spAutoFit/>
          </a:bodyPr>
          <a:lstStyle/>
          <a:p>
            <a:pPr algn="l"/>
            <a:r>
              <a:rPr sz="1200" b="1">
                <a:solidFill>
                  <a:srgbClr val="183A58"/>
                </a:solidFill>
                <a:latin typeface="Arial"/>
              </a:rPr>
              <a:t>Cakes &amp; Pastries</a:t>
            </a:r>
          </a:p>
        </p:txBody>
      </p:sp>
      <p:sp>
        <p:nvSpPr>
          <p:cNvPr id="9" name="TextBox 8"/>
          <p:cNvSpPr txBox="1"/>
          <p:nvPr/>
        </p:nvSpPr>
        <p:spPr>
          <a:xfrm>
            <a:off x="1097280" y="2286000"/>
            <a:ext cx="5029200" cy="502920"/>
          </a:xfrm>
          <a:prstGeom prst="rect">
            <a:avLst/>
          </a:prstGeom>
          <a:noFill/>
          <a:ln>
            <a:noFill/>
          </a:ln>
          <a:effectLst/>
        </p:spPr>
        <p:txBody>
          <a:bodyPr wrap="square">
            <a:spAutoFit/>
          </a:bodyPr>
          <a:lstStyle/>
          <a:p>
            <a:pPr algn="l"/>
            <a:r>
              <a:rPr sz="1000" b="0">
                <a:solidFill>
                  <a:srgbClr val="404040"/>
                </a:solidFill>
                <a:latin typeface="Arial"/>
              </a:rPr>
              <a:t>Range of cakes for celebrations, pastries, and desserts – all complementing the bread selection and supporting both retail and catering sales.</a:t>
            </a:r>
          </a:p>
        </p:txBody>
      </p:sp>
      <p:sp>
        <p:nvSpPr>
          <p:cNvPr id="10" name="Oval 9"/>
          <p:cNvSpPr/>
          <p:nvPr/>
        </p:nvSpPr>
        <p:spPr>
          <a:xfrm>
            <a:off x="731520" y="283464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34640"/>
            <a:ext cx="5029200" cy="228600"/>
          </a:xfrm>
          <a:prstGeom prst="rect">
            <a:avLst/>
          </a:prstGeom>
          <a:noFill/>
          <a:ln>
            <a:noFill/>
          </a:ln>
          <a:effectLst/>
        </p:spPr>
        <p:txBody>
          <a:bodyPr wrap="square">
            <a:spAutoFit/>
          </a:bodyPr>
          <a:lstStyle/>
          <a:p>
            <a:pPr algn="l"/>
            <a:r>
              <a:rPr sz="1200" b="1">
                <a:solidFill>
                  <a:srgbClr val="183A58"/>
                </a:solidFill>
                <a:latin typeface="Arial"/>
              </a:rPr>
              <a:t>Retail (B2C)</a:t>
            </a:r>
          </a:p>
        </p:txBody>
      </p:sp>
      <p:sp>
        <p:nvSpPr>
          <p:cNvPr id="12" name="TextBox 11"/>
          <p:cNvSpPr txBox="1"/>
          <p:nvPr/>
        </p:nvSpPr>
        <p:spPr>
          <a:xfrm>
            <a:off x="1097280" y="3063240"/>
            <a:ext cx="5029200" cy="502920"/>
          </a:xfrm>
          <a:prstGeom prst="rect">
            <a:avLst/>
          </a:prstGeom>
          <a:noFill/>
          <a:ln>
            <a:noFill/>
          </a:ln>
          <a:effectLst/>
        </p:spPr>
        <p:txBody>
          <a:bodyPr wrap="square">
            <a:spAutoFit/>
          </a:bodyPr>
          <a:lstStyle/>
          <a:p>
            <a:pPr algn="l"/>
            <a:r>
              <a:rPr sz="1000" b="0">
                <a:solidFill>
                  <a:srgbClr val="404040"/>
                </a:solidFill>
                <a:latin typeface="Arial"/>
              </a:rPr>
              <a:t>Over 100 outlets in high-traffic retail and transit locations, offering premium quality and affordability for mass market consumers.</a:t>
            </a:r>
          </a:p>
        </p:txBody>
      </p:sp>
      <p:sp>
        <p:nvSpPr>
          <p:cNvPr id="13" name="Oval 12"/>
          <p:cNvSpPr/>
          <p:nvPr/>
        </p:nvSpPr>
        <p:spPr>
          <a:xfrm>
            <a:off x="731520" y="3611880"/>
            <a:ext cx="274320" cy="274320"/>
          </a:xfrm>
          <a:prstGeom prst="ellipse">
            <a:avLst/>
          </a:prstGeom>
          <a:solidFill>
            <a:srgbClr val="B59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11880"/>
            <a:ext cx="5029200" cy="228600"/>
          </a:xfrm>
          <a:prstGeom prst="rect">
            <a:avLst/>
          </a:prstGeom>
          <a:noFill/>
          <a:ln>
            <a:noFill/>
          </a:ln>
          <a:effectLst/>
        </p:spPr>
        <p:txBody>
          <a:bodyPr wrap="square">
            <a:spAutoFit/>
          </a:bodyPr>
          <a:lstStyle/>
          <a:p>
            <a:pPr algn="l"/>
            <a:r>
              <a:rPr sz="1200" b="1">
                <a:solidFill>
                  <a:srgbClr val="183A58"/>
                </a:solidFill>
                <a:latin typeface="Arial"/>
              </a:rPr>
              <a:t>B2B Institutional &amp; Catering</a:t>
            </a:r>
          </a:p>
        </p:txBody>
      </p:sp>
      <p:sp>
        <p:nvSpPr>
          <p:cNvPr id="15" name="TextBox 14"/>
          <p:cNvSpPr txBox="1"/>
          <p:nvPr/>
        </p:nvSpPr>
        <p:spPr>
          <a:xfrm>
            <a:off x="1097280" y="3840480"/>
            <a:ext cx="5029200" cy="502920"/>
          </a:xfrm>
          <a:prstGeom prst="rect">
            <a:avLst/>
          </a:prstGeom>
          <a:noFill/>
          <a:ln>
            <a:noFill/>
          </a:ln>
          <a:effectLst/>
        </p:spPr>
        <p:txBody>
          <a:bodyPr wrap="square">
            <a:spAutoFit/>
          </a:bodyPr>
          <a:lstStyle/>
          <a:p>
            <a:pPr algn="l"/>
            <a:r>
              <a:rPr sz="1000" b="0">
                <a:solidFill>
                  <a:srgbClr val="404040"/>
                </a:solidFill>
                <a:latin typeface="Arial"/>
              </a:rPr>
              <a:t>Supplies baked goods to corporate clients, institutional catering, and franchise partners, supporting stable, recurring income and broad market reach.</a:t>
            </a:r>
          </a:p>
        </p:txBody>
      </p:sp>
      <p:sp>
        <p:nvSpPr>
          <p:cNvPr id="16" name="TextBox 15"/>
          <p:cNvSpPr txBox="1"/>
          <p:nvPr/>
        </p:nvSpPr>
        <p:spPr>
          <a:xfrm>
            <a:off x="6583680" y="1280160"/>
            <a:ext cx="5029200" cy="274320"/>
          </a:xfrm>
          <a:prstGeom prst="rect">
            <a:avLst/>
          </a:prstGeom>
          <a:noFill/>
          <a:ln>
            <a:noFill/>
          </a:ln>
          <a:effectLst/>
        </p:spPr>
        <p:txBody>
          <a:bodyPr wrap="square">
            <a:spAutoFit/>
          </a:bodyPr>
          <a:lstStyle/>
          <a:p>
            <a:pPr algn="ctr"/>
            <a:r>
              <a:rPr sz="1400" b="1">
                <a:solidFill>
                  <a:srgbClr val="183A58"/>
                </a:solidFill>
                <a:latin typeface="Arial"/>
              </a:rPr>
              <a:t>Product &amp; Service Market Coverage</a:t>
            </a:r>
          </a:p>
        </p:txBody>
      </p:sp>
      <p:graphicFrame>
        <p:nvGraphicFramePr>
          <p:cNvPr id="17" name="Table 16"/>
          <p:cNvGraphicFramePr>
            <a:graphicFrameLocks noGrp="1"/>
          </p:cNvGraphicFramePr>
          <p:nvPr/>
        </p:nvGraphicFramePr>
        <p:xfrm>
          <a:off x="6583680" y="1645920"/>
          <a:ext cx="1828800" cy="2560320"/>
        </p:xfrm>
        <a:graphic>
          <a:graphicData uri="http://schemas.openxmlformats.org/drawingml/2006/table">
            <a:tbl>
              <a:tblPr firstRow="1" bandRow="1">
                <a:tableStyleId>{5C22544A-7EE6-4342-B048-85BDC9FD1C3A}</a:tableStyleId>
              </a:tblPr>
              <a:tblGrid>
                <a:gridCol w="1097280"/>
                <a:gridCol w="731520"/>
              </a:tblGrid>
              <a:tr h="640080">
                <a:tc>
                  <a:txBody>
                    <a:bodyPr/>
                    <a:lstStyle/>
                    <a:p>
                      <a:pPr algn="ctr"/>
                      <a:r>
                        <a:rPr sz="900" b="1">
                          <a:solidFill>
                            <a:srgbClr val="FFFFFF"/>
                          </a:solidFill>
                          <a:latin typeface="Arial"/>
                        </a:rPr>
                        <a:t>Product/Service</a:t>
                      </a:r>
                    </a:p>
                  </a:txBody>
                  <a:tcPr marL="45720" marR="45720" marT="45720" marB="45720">
                    <a:solidFill>
                      <a:srgbClr val="183A58"/>
                    </a:solidFill>
                  </a:tcPr>
                </a:tc>
                <a:tc>
                  <a:txBody>
                    <a:bodyPr/>
                    <a:lstStyle/>
                    <a:p>
                      <a:pPr algn="ctr"/>
                      <a:r>
                        <a:rPr sz="900" b="1">
                          <a:solidFill>
                            <a:srgbClr val="FFFFFF"/>
                          </a:solidFill>
                          <a:latin typeface="Arial"/>
                        </a:rPr>
                        <a:t>Description</a:t>
                      </a:r>
                    </a:p>
                  </a:txBody>
                  <a:tcPr marL="45720" marR="45720" marT="45720" marB="45720">
                    <a:solidFill>
                      <a:srgbClr val="183A58"/>
                    </a:solidFill>
                  </a:tcPr>
                </a:tc>
              </a:tr>
              <a:tr h="640080">
                <a:tc>
                  <a:txBody>
                    <a:bodyPr/>
                    <a:lstStyle/>
                    <a:p>
                      <a:pPr algn="ctr"/>
                      <a:r>
                        <a:rPr sz="900">
                          <a:solidFill>
                            <a:srgbClr val="404040"/>
                          </a:solidFill>
                          <a:latin typeface="Arial"/>
                        </a:rPr>
                        <a:t>Product/Service</a:t>
                      </a:r>
                    </a:p>
                  </a:txBody>
                  <a:tcPr marL="45720" marR="45720" marT="45720" marB="45720">
                    <a:solidFill>
                      <a:srgbClr val="FFFFFF"/>
                    </a:solidFill>
                  </a:tcPr>
                </a:tc>
                <a:tc>
                  <a:txBody>
                    <a:bodyPr/>
                    <a:lstStyle/>
                    <a:p>
                      <a:pPr algn="ctr"/>
                      <a:r>
                        <a:rPr sz="900">
                          <a:solidFill>
                            <a:srgbClr val="404040"/>
                          </a:solidFill>
                          <a:latin typeface="Arial"/>
                        </a:rPr>
                        <a:t>Description</a:t>
                      </a:r>
                    </a:p>
                  </a:txBody>
                  <a:tcPr marL="45720" marR="45720" marT="45720" marB="45720">
                    <a:solidFill>
                      <a:srgbClr val="FFFFFF"/>
                    </a:solidFill>
                  </a:tcPr>
                </a:tc>
              </a:tr>
              <a:tr h="640080">
                <a:tc>
                  <a:txBody>
                    <a:bodyPr/>
                    <a:lstStyle/>
                    <a:p>
                      <a:pPr algn="ctr"/>
                      <a:r>
                        <a:rPr sz="900">
                          <a:solidFill>
                            <a:srgbClr val="404040"/>
                          </a:solidFill>
                          <a:latin typeface="Arial"/>
                        </a:rPr>
                        <a:t>Product/Service</a:t>
                      </a:r>
                    </a:p>
                  </a:txBody>
                  <a:tcPr marL="45720" marR="45720" marT="45720" marB="45720">
                    <a:solidFill>
                      <a:srgbClr val="F0F0F0"/>
                    </a:solidFill>
                  </a:tcPr>
                </a:tc>
                <a:tc>
                  <a:txBody>
                    <a:bodyPr/>
                    <a:lstStyle/>
                    <a:p>
                      <a:pPr algn="ctr"/>
                      <a:r>
                        <a:rPr sz="900">
                          <a:solidFill>
                            <a:srgbClr val="404040"/>
                          </a:solidFill>
                          <a:latin typeface="Arial"/>
                        </a:rPr>
                        <a:t>Description</a:t>
                      </a:r>
                    </a:p>
                  </a:txBody>
                  <a:tcPr marL="45720" marR="45720" marT="45720" marB="45720">
                    <a:solidFill>
                      <a:srgbClr val="F0F0F0"/>
                    </a:solidFill>
                  </a:tcPr>
                </a:tc>
              </a:tr>
              <a:tr h="640080">
                <a:tc>
                  <a:txBody>
                    <a:bodyPr/>
                    <a:lstStyle/>
                    <a:p>
                      <a:pPr algn="ctr"/>
                      <a:r>
                        <a:rPr sz="900">
                          <a:solidFill>
                            <a:srgbClr val="404040"/>
                          </a:solidFill>
                          <a:latin typeface="Arial"/>
                        </a:rPr>
                        <a:t>Product/Service</a:t>
                      </a:r>
                    </a:p>
                  </a:txBody>
                  <a:tcPr marL="45720" marR="45720" marT="45720" marB="45720">
                    <a:solidFill>
                      <a:srgbClr val="FFFFFF"/>
                    </a:solidFill>
                  </a:tcPr>
                </a:tc>
                <a:tc>
                  <a:txBody>
                    <a:bodyPr/>
                    <a:lstStyle/>
                    <a:p>
                      <a:pPr algn="ctr"/>
                      <a:r>
                        <a:rPr sz="900">
                          <a:solidFill>
                            <a:srgbClr val="404040"/>
                          </a:solidFill>
                          <a:latin typeface="Arial"/>
                        </a:rPr>
                        <a:t>Description</a:t>
                      </a:r>
                    </a:p>
                  </a:txBody>
                  <a:tcPr marL="45720" marR="45720" marT="45720" marB="45720">
                    <a:solidFill>
                      <a:srgbClr val="FFFFFF"/>
                    </a:solidFill>
                  </a:tcPr>
                </a:tc>
              </a:tr>
            </a:tbl>
          </a:graphicData>
        </a:graphic>
      </p:graphicFrame>
      <p:sp>
        <p:nvSpPr>
          <p:cNvPr id="18" name="TextBox 17"/>
          <p:cNvSpPr txBox="1"/>
          <p:nvPr/>
        </p:nvSpPr>
        <p:spPr>
          <a:xfrm>
            <a:off x="6583680" y="4389120"/>
            <a:ext cx="5029200" cy="274320"/>
          </a:xfrm>
          <a:prstGeom prst="rect">
            <a:avLst/>
          </a:prstGeom>
          <a:noFill/>
          <a:ln>
            <a:noFill/>
          </a:ln>
          <a:effectLst/>
        </p:spPr>
        <p:txBody>
          <a:bodyPr wrap="square">
            <a:spAutoFit/>
          </a:bodyPr>
          <a:lstStyle/>
          <a:p>
            <a:pPr algn="ctr"/>
            <a:r>
              <a:rPr sz="1400" b="1">
                <a:solidFill>
                  <a:srgbClr val="183A58"/>
                </a:solidFill>
                <a:latin typeface="Arial"/>
              </a:rPr>
              <a:t>Key Operational Metrics</a:t>
            </a:r>
          </a:p>
        </p:txBody>
      </p:sp>
      <p:sp>
        <p:nvSpPr>
          <p:cNvPr id="19" name="Rectangle 18"/>
          <p:cNvSpPr/>
          <p:nvPr/>
        </p:nvSpPr>
        <p:spPr>
          <a:xfrm>
            <a:off x="6583680" y="4663440"/>
            <a:ext cx="5029200" cy="182880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31520"/>
            <a:ext cx="10515600" cy="1371600"/>
          </a:xfrm>
          <a:prstGeom prst="rect">
            <a:avLst/>
          </a:prstGeom>
          <a:noFill/>
        </p:spPr>
        <p:txBody>
          <a:bodyPr wrap="none">
            <a:spAutoFit/>
          </a:bodyPr>
          <a:lstStyle/>
          <a:p>
            <a:pPr algn="l"/>
            <a:r>
              <a:rPr sz="1400"/>
              <a:t>Renderer error: 'str' object has no attribute 'get'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Historical Financial Performance</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058400" cy="274320"/>
          </a:xfrm>
          <a:prstGeom prst="rect">
            <a:avLst/>
          </a:prstGeom>
          <a:noFill/>
          <a:ln>
            <a:noFill/>
          </a:ln>
          <a:effectLst/>
        </p:spPr>
        <p:txBody>
          <a:bodyPr wrap="square">
            <a:spAutoFit/>
          </a:bodyPr>
          <a:lstStyle/>
          <a:p>
            <a:pPr algn="ctr"/>
            <a:r>
              <a:rPr sz="1600" b="1">
                <a:solidFill>
                  <a:srgbClr val="183A58"/>
                </a:solidFill>
                <a:latin typeface="Arial"/>
              </a:rPr>
              <a:t>Revenue &amp; EBITDA Trend (2020–2024E)</a:t>
            </a:r>
          </a:p>
        </p:txBody>
      </p:sp>
      <p:graphicFrame>
        <p:nvGraphicFramePr>
          <p:cNvPr id="5" name="Chart 4"/>
          <p:cNvGraphicFramePr>
            <a:graphicFrameLocks noGrp="1"/>
          </p:cNvGraphicFramePr>
          <p:nvPr/>
        </p:nvGraphicFramePr>
        <p:xfrm>
          <a:off x="1828800" y="1554480"/>
          <a:ext cx="8229600" cy="2103120"/>
        </p:xfrm>
        <a:graphic>
          <a:graphicData uri="http://schemas.openxmlformats.org/drawingml/2006/chart">
            <c:chart xmlns:c="http://schemas.openxmlformats.org/drawingml/2006/chart" r:id="rId2"/>
          </a:graphicData>
        </a:graphic>
      </p:graphicFrame>
      <p:sp>
        <p:nvSpPr>
          <p:cNvPr id="6" name="TextBox 5"/>
          <p:cNvSpPr txBox="1"/>
          <p:nvPr/>
        </p:nvSpPr>
        <p:spPr>
          <a:xfrm>
            <a:off x="1828800" y="3749039"/>
            <a:ext cx="8229600" cy="182880"/>
          </a:xfrm>
          <a:prstGeom prst="rect">
            <a:avLst/>
          </a:prstGeom>
          <a:noFill/>
          <a:ln>
            <a:noFill/>
          </a:ln>
          <a:effectLst/>
        </p:spPr>
        <p:txBody>
          <a:bodyPr wrap="square">
            <a:spAutoFit/>
          </a:bodyPr>
          <a:lstStyle/>
          <a:p>
            <a:pPr algn="ctr"/>
            <a:r>
              <a:rPr sz="800" b="0">
                <a:solidFill>
                  <a:srgbClr val="404040"/>
                </a:solidFill>
                <a:latin typeface="Arial"/>
              </a:rPr>
              <a:t>*Historical figures represent estimated performance based on market trends.</a:t>
            </a:r>
          </a:p>
        </p:txBody>
      </p:sp>
      <p:sp>
        <p:nvSpPr>
          <p:cNvPr id="7" name="Rectangle 6"/>
          <p:cNvSpPr/>
          <p:nvPr/>
        </p:nvSpPr>
        <p:spPr>
          <a:xfrm>
            <a:off x="694944" y="4023360"/>
            <a:ext cx="2560320" cy="10058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14800"/>
            <a:ext cx="2377440" cy="182880"/>
          </a:xfrm>
          <a:prstGeom prst="rect">
            <a:avLst/>
          </a:prstGeom>
          <a:noFill/>
          <a:ln>
            <a:noFill/>
          </a:ln>
          <a:effectLst/>
        </p:spPr>
        <p:txBody>
          <a:bodyPr wrap="square">
            <a:spAutoFit/>
          </a:bodyPr>
          <a:lstStyle/>
          <a:p>
            <a:pPr algn="l"/>
          </a:p>
        </p:txBody>
      </p:sp>
      <p:sp>
        <p:nvSpPr>
          <p:cNvPr id="9" name="TextBox 8"/>
          <p:cNvSpPr txBox="1"/>
          <p:nvPr/>
        </p:nvSpPr>
        <p:spPr>
          <a:xfrm>
            <a:off x="786384" y="4297680"/>
            <a:ext cx="2377440" cy="228600"/>
          </a:xfrm>
          <a:prstGeom prst="rect">
            <a:avLst/>
          </a:prstGeom>
          <a:noFill/>
          <a:ln>
            <a:noFill/>
          </a:ln>
          <a:effectLst/>
        </p:spPr>
        <p:txBody>
          <a:bodyPr wrap="square">
            <a:spAutoFit/>
          </a:bodyPr>
          <a:lstStyle/>
          <a:p>
            <a:pPr algn="l"/>
            <a:r>
              <a:rPr sz="1800" b="1">
                <a:solidFill>
                  <a:srgbClr val="183A58"/>
                </a:solidFill>
                <a:latin typeface="Arial"/>
              </a:rPr>
              <a:t>19.6%</a:t>
            </a:r>
          </a:p>
        </p:txBody>
      </p:sp>
      <p:sp>
        <p:nvSpPr>
          <p:cNvPr id="10" name="TextBox 9"/>
          <p:cNvSpPr txBox="1"/>
          <p:nvPr/>
        </p:nvSpPr>
        <p:spPr>
          <a:xfrm>
            <a:off x="786384" y="4526280"/>
            <a:ext cx="2377440" cy="137160"/>
          </a:xfrm>
          <a:prstGeom prst="rect">
            <a:avLst/>
          </a:prstGeom>
          <a:noFill/>
          <a:ln>
            <a:noFill/>
          </a:ln>
          <a:effectLst/>
        </p:spPr>
        <p:txBody>
          <a:bodyPr wrap="square">
            <a:spAutoFit/>
          </a:bodyPr>
          <a:lstStyle/>
          <a:p>
            <a:pPr algn="l"/>
          </a:p>
        </p:txBody>
      </p:sp>
      <p:sp>
        <p:nvSpPr>
          <p:cNvPr id="11" name="TextBox 10"/>
          <p:cNvSpPr txBox="1"/>
          <p:nvPr/>
        </p:nvSpPr>
        <p:spPr>
          <a:xfrm>
            <a:off x="786384" y="4709160"/>
            <a:ext cx="2377440" cy="228600"/>
          </a:xfrm>
          <a:prstGeom prst="rect">
            <a:avLst/>
          </a:prstGeom>
          <a:noFill/>
          <a:ln>
            <a:noFill/>
          </a:ln>
          <a:effectLst/>
        </p:spPr>
        <p:txBody>
          <a:bodyPr wrap="square">
            <a:spAutoFit/>
          </a:bodyPr>
          <a:lstStyle/>
          <a:p>
            <a:pPr algn="l"/>
          </a:p>
        </p:txBody>
      </p:sp>
      <p:sp>
        <p:nvSpPr>
          <p:cNvPr id="12" name="Rectangle 11"/>
          <p:cNvSpPr/>
          <p:nvPr/>
        </p:nvSpPr>
        <p:spPr>
          <a:xfrm>
            <a:off x="3493008" y="4023360"/>
            <a:ext cx="2560320" cy="10058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84448" y="4114800"/>
            <a:ext cx="2377440" cy="182880"/>
          </a:xfrm>
          <a:prstGeom prst="rect">
            <a:avLst/>
          </a:prstGeom>
          <a:noFill/>
          <a:ln>
            <a:noFill/>
          </a:ln>
          <a:effectLst/>
        </p:spPr>
        <p:txBody>
          <a:bodyPr wrap="square">
            <a:spAutoFit/>
          </a:bodyPr>
          <a:lstStyle/>
          <a:p>
            <a:pPr algn="l"/>
          </a:p>
        </p:txBody>
      </p:sp>
      <p:sp>
        <p:nvSpPr>
          <p:cNvPr id="14" name="TextBox 13"/>
          <p:cNvSpPr txBox="1"/>
          <p:nvPr/>
        </p:nvSpPr>
        <p:spPr>
          <a:xfrm>
            <a:off x="3584448" y="4297680"/>
            <a:ext cx="2377440" cy="228600"/>
          </a:xfrm>
          <a:prstGeom prst="rect">
            <a:avLst/>
          </a:prstGeom>
          <a:noFill/>
          <a:ln>
            <a:noFill/>
          </a:ln>
          <a:effectLst/>
        </p:spPr>
        <p:txBody>
          <a:bodyPr wrap="square">
            <a:spAutoFit/>
          </a:bodyPr>
          <a:lstStyle/>
          <a:p>
            <a:pPr algn="l"/>
            <a:r>
              <a:rPr sz="1800" b="1">
                <a:solidFill>
                  <a:srgbClr val="183A58"/>
                </a:solidFill>
                <a:latin typeface="Arial"/>
              </a:rPr>
              <a:t>18.8%</a:t>
            </a:r>
          </a:p>
        </p:txBody>
      </p:sp>
      <p:sp>
        <p:nvSpPr>
          <p:cNvPr id="15" name="TextBox 14"/>
          <p:cNvSpPr txBox="1"/>
          <p:nvPr/>
        </p:nvSpPr>
        <p:spPr>
          <a:xfrm>
            <a:off x="3584448" y="4526280"/>
            <a:ext cx="2377440" cy="137160"/>
          </a:xfrm>
          <a:prstGeom prst="rect">
            <a:avLst/>
          </a:prstGeom>
          <a:noFill/>
          <a:ln>
            <a:noFill/>
          </a:ln>
          <a:effectLst/>
        </p:spPr>
        <p:txBody>
          <a:bodyPr wrap="square">
            <a:spAutoFit/>
          </a:bodyPr>
          <a:lstStyle/>
          <a:p>
            <a:pPr algn="l"/>
          </a:p>
        </p:txBody>
      </p:sp>
      <p:sp>
        <p:nvSpPr>
          <p:cNvPr id="16" name="TextBox 15"/>
          <p:cNvSpPr txBox="1"/>
          <p:nvPr/>
        </p:nvSpPr>
        <p:spPr>
          <a:xfrm>
            <a:off x="3584448" y="4709160"/>
            <a:ext cx="2377440" cy="228600"/>
          </a:xfrm>
          <a:prstGeom prst="rect">
            <a:avLst/>
          </a:prstGeom>
          <a:noFill/>
          <a:ln>
            <a:noFill/>
          </a:ln>
          <a:effectLst/>
        </p:spPr>
        <p:txBody>
          <a:bodyPr wrap="square">
            <a:spAutoFit/>
          </a:bodyPr>
          <a:lstStyle/>
          <a:p>
            <a:pPr algn="l"/>
          </a:p>
        </p:txBody>
      </p:sp>
      <p:sp>
        <p:nvSpPr>
          <p:cNvPr id="17" name="Rectangle 16"/>
          <p:cNvSpPr/>
          <p:nvPr/>
        </p:nvSpPr>
        <p:spPr>
          <a:xfrm>
            <a:off x="6291072" y="4023360"/>
            <a:ext cx="2560320" cy="10058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114800"/>
            <a:ext cx="2377440" cy="182880"/>
          </a:xfrm>
          <a:prstGeom prst="rect">
            <a:avLst/>
          </a:prstGeom>
          <a:noFill/>
          <a:ln>
            <a:noFill/>
          </a:ln>
          <a:effectLst/>
        </p:spPr>
        <p:txBody>
          <a:bodyPr wrap="square">
            <a:spAutoFit/>
          </a:bodyPr>
          <a:lstStyle/>
          <a:p>
            <a:pPr algn="l"/>
          </a:p>
        </p:txBody>
      </p:sp>
      <p:sp>
        <p:nvSpPr>
          <p:cNvPr id="19" name="TextBox 18"/>
          <p:cNvSpPr txBox="1"/>
          <p:nvPr/>
        </p:nvSpPr>
        <p:spPr>
          <a:xfrm>
            <a:off x="6382512" y="4297680"/>
            <a:ext cx="2377440" cy="228600"/>
          </a:xfrm>
          <a:prstGeom prst="rect">
            <a:avLst/>
          </a:prstGeom>
          <a:noFill/>
          <a:ln>
            <a:noFill/>
          </a:ln>
          <a:effectLst/>
        </p:spPr>
        <p:txBody>
          <a:bodyPr wrap="square">
            <a:spAutoFit/>
          </a:bodyPr>
          <a:lstStyle/>
          <a:p>
            <a:pPr algn="l"/>
            <a:r>
              <a:rPr sz="1800" b="1">
                <a:solidFill>
                  <a:srgbClr val="183A58"/>
                </a:solidFill>
                <a:latin typeface="Arial"/>
              </a:rPr>
              <a:t>100+</a:t>
            </a:r>
          </a:p>
        </p:txBody>
      </p:sp>
      <p:sp>
        <p:nvSpPr>
          <p:cNvPr id="20" name="TextBox 19"/>
          <p:cNvSpPr txBox="1"/>
          <p:nvPr/>
        </p:nvSpPr>
        <p:spPr>
          <a:xfrm>
            <a:off x="6382512" y="4526280"/>
            <a:ext cx="2377440" cy="137160"/>
          </a:xfrm>
          <a:prstGeom prst="rect">
            <a:avLst/>
          </a:prstGeom>
          <a:noFill/>
          <a:ln>
            <a:noFill/>
          </a:ln>
          <a:effectLst/>
        </p:spPr>
        <p:txBody>
          <a:bodyPr wrap="square">
            <a:spAutoFit/>
          </a:bodyPr>
          <a:lstStyle/>
          <a:p>
            <a:pPr algn="l"/>
          </a:p>
        </p:txBody>
      </p:sp>
      <p:sp>
        <p:nvSpPr>
          <p:cNvPr id="21" name="TextBox 20"/>
          <p:cNvSpPr txBox="1"/>
          <p:nvPr/>
        </p:nvSpPr>
        <p:spPr>
          <a:xfrm>
            <a:off x="6382512" y="4709160"/>
            <a:ext cx="2377440" cy="228600"/>
          </a:xfrm>
          <a:prstGeom prst="rect">
            <a:avLst/>
          </a:prstGeom>
          <a:noFill/>
          <a:ln>
            <a:noFill/>
          </a:ln>
          <a:effectLst/>
        </p:spPr>
        <p:txBody>
          <a:bodyPr wrap="square">
            <a:spAutoFit/>
          </a:bodyPr>
          <a:lstStyle/>
          <a:p>
            <a:pPr algn="l"/>
          </a:p>
        </p:txBody>
      </p:sp>
      <p:sp>
        <p:nvSpPr>
          <p:cNvPr id="22" name="TextBox 21"/>
          <p:cNvSpPr txBox="1"/>
          <p:nvPr/>
        </p:nvSpPr>
        <p:spPr>
          <a:xfrm>
            <a:off x="914400" y="5212080"/>
            <a:ext cx="6400800" cy="182880"/>
          </a:xfrm>
          <a:prstGeom prst="rect">
            <a:avLst/>
          </a:prstGeom>
          <a:noFill/>
          <a:ln>
            <a:noFill/>
          </a:ln>
          <a:effectLst/>
        </p:spPr>
        <p:txBody>
          <a:bodyPr wrap="square">
            <a:spAutoFit/>
          </a:bodyPr>
          <a:lstStyle/>
          <a:p>
            <a:pPr algn="l"/>
            <a:r>
              <a:rPr sz="1200" b="1">
                <a:solidFill>
                  <a:srgbClr val="183A58"/>
                </a:solidFill>
                <a:latin typeface="Arial"/>
              </a:rPr>
              <a:t>Revenue Growth Drivers</a:t>
            </a:r>
          </a:p>
        </p:txBody>
      </p:sp>
      <p:sp>
        <p:nvSpPr>
          <p:cNvPr id="23" name="TextBox 22"/>
          <p:cNvSpPr txBox="1"/>
          <p:nvPr/>
        </p:nvSpPr>
        <p:spPr>
          <a:xfrm>
            <a:off x="914400" y="5440680"/>
            <a:ext cx="6400800" cy="146304"/>
          </a:xfrm>
          <a:prstGeom prst="rect">
            <a:avLst/>
          </a:prstGeom>
          <a:noFill/>
          <a:ln>
            <a:noFill/>
          </a:ln>
          <a:effectLst/>
        </p:spPr>
        <p:txBody>
          <a:bodyPr wrap="square">
            <a:spAutoFit/>
          </a:bodyPr>
          <a:lstStyle/>
          <a:p>
            <a:pPr algn="l"/>
            <a:r>
              <a:rPr sz="900" b="0">
                <a:solidFill>
                  <a:srgbClr val="404040"/>
                </a:solidFill>
                <a:latin typeface="Arial"/>
              </a:rPr>
              <a:t>● Aggressive outlet expansion post-acquisition.</a:t>
            </a:r>
          </a:p>
        </p:txBody>
      </p:sp>
      <p:sp>
        <p:nvSpPr>
          <p:cNvPr id="24" name="TextBox 23"/>
          <p:cNvSpPr txBox="1"/>
          <p:nvPr/>
        </p:nvSpPr>
        <p:spPr>
          <a:xfrm>
            <a:off x="914400" y="5605272"/>
            <a:ext cx="6400800" cy="146304"/>
          </a:xfrm>
          <a:prstGeom prst="rect">
            <a:avLst/>
          </a:prstGeom>
          <a:noFill/>
          <a:ln>
            <a:noFill/>
          </a:ln>
          <a:effectLst/>
        </p:spPr>
        <p:txBody>
          <a:bodyPr wrap="square">
            <a:spAutoFit/>
          </a:bodyPr>
          <a:lstStyle/>
          <a:p>
            <a:pPr algn="l"/>
            <a:r>
              <a:rPr sz="900" b="0">
                <a:solidFill>
                  <a:srgbClr val="404040"/>
                </a:solidFill>
                <a:latin typeface="Arial"/>
              </a:rPr>
              <a:t>● Rapid B2C and B2B channel growth.</a:t>
            </a:r>
          </a:p>
        </p:txBody>
      </p:sp>
      <p:sp>
        <p:nvSpPr>
          <p:cNvPr id="25" name="TextBox 24"/>
          <p:cNvSpPr txBox="1"/>
          <p:nvPr/>
        </p:nvSpPr>
        <p:spPr>
          <a:xfrm>
            <a:off x="914400" y="5769864"/>
            <a:ext cx="6400800" cy="146304"/>
          </a:xfrm>
          <a:prstGeom prst="rect">
            <a:avLst/>
          </a:prstGeom>
          <a:noFill/>
          <a:ln>
            <a:noFill/>
          </a:ln>
          <a:effectLst/>
        </p:spPr>
        <p:txBody>
          <a:bodyPr wrap="square">
            <a:spAutoFit/>
          </a:bodyPr>
          <a:lstStyle/>
          <a:p>
            <a:pPr algn="l"/>
            <a:r>
              <a:rPr sz="900" b="0">
                <a:solidFill>
                  <a:srgbClr val="404040"/>
                </a:solidFill>
                <a:latin typeface="Arial"/>
              </a:rPr>
              <a:t>● Product innovation and health positioning.</a:t>
            </a:r>
          </a:p>
        </p:txBody>
      </p:sp>
      <p:sp>
        <p:nvSpPr>
          <p:cNvPr id="26" name="Rectangle 25"/>
          <p:cNvSpPr/>
          <p:nvPr/>
        </p:nvSpPr>
        <p:spPr>
          <a:xfrm>
            <a:off x="7498079" y="5120640"/>
            <a:ext cx="4389120" cy="914400"/>
          </a:xfrm>
          <a:prstGeom prst="rect">
            <a:avLst/>
          </a:prstGeom>
          <a:solidFill>
            <a:srgbClr val="F0F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5212080"/>
            <a:ext cx="4023360" cy="137160"/>
          </a:xfrm>
          <a:prstGeom prst="rect">
            <a:avLst/>
          </a:prstGeom>
          <a:noFill/>
          <a:ln>
            <a:noFill/>
          </a:ln>
          <a:effectLst/>
        </p:spPr>
        <p:txBody>
          <a:bodyPr wrap="square">
            <a:spAutoFit/>
          </a:bodyPr>
          <a:lstStyle/>
          <a:p>
            <a:pPr algn="l"/>
            <a:r>
              <a:rPr sz="1000" b="1">
                <a:solidFill>
                  <a:srgbClr val="228B22"/>
                </a:solidFill>
                <a:latin typeface="Arial"/>
              </a:rPr>
              <a:t>Banker View</a:t>
            </a:r>
          </a:p>
        </p:txBody>
      </p:sp>
      <p:sp>
        <p:nvSpPr>
          <p:cNvPr id="28" name="TextBox 27"/>
          <p:cNvSpPr txBox="1"/>
          <p:nvPr/>
        </p:nvSpPr>
        <p:spPr>
          <a:xfrm>
            <a:off x="7680960" y="5394960"/>
            <a:ext cx="4023360" cy="594360"/>
          </a:xfrm>
          <a:prstGeom prst="rect">
            <a:avLst/>
          </a:prstGeom>
          <a:noFill/>
          <a:ln>
            <a:noFill/>
          </a:ln>
          <a:effectLst/>
        </p:spPr>
        <p:txBody>
          <a:bodyPr wrap="square">
            <a:spAutoFit/>
          </a:bodyPr>
          <a:lstStyle/>
          <a:p>
            <a:pPr algn="l"/>
            <a:r>
              <a:rPr sz="900" b="0">
                <a:solidFill>
                  <a:srgbClr val="404040"/>
                </a:solidFill>
                <a:latin typeface="Arial"/>
              </a:rPr>
              <a:t>Breadlife has outperformed the market through a disciplined hybrid model, with top-tier outlet growth, robust margins, and successful integration of B2C and B2B channels.</a:t>
            </a:r>
          </a:p>
        </p:txBody>
      </p:sp>
      <p:sp>
        <p:nvSpPr>
          <p:cNvPr id="29" name="TextBox 28"/>
          <p:cNvSpPr txBox="1"/>
          <p:nvPr/>
        </p:nvSpPr>
        <p:spPr>
          <a:xfrm>
            <a:off x="457200" y="6309360"/>
            <a:ext cx="3657600" cy="182880"/>
          </a:xfrm>
          <a:prstGeom prst="rect">
            <a:avLst/>
          </a:prstGeom>
          <a:noFill/>
          <a:ln>
            <a:noFill/>
          </a:ln>
          <a:effectLst/>
        </p:spPr>
        <p:txBody>
          <a:bodyPr wrap="square">
            <a:spAutoFit/>
          </a:bodyPr>
          <a:lstStyle/>
          <a:p>
            <a:pPr algn="l"/>
            <a:r>
              <a:rPr sz="900" b="0">
                <a:solidFill>
                  <a:srgbClr val="808080"/>
                </a:solidFill>
                <a:latin typeface="Arial"/>
              </a:rPr>
              <a:t>Confidential | September 06, 2025</a:t>
            </a:r>
          </a:p>
        </p:txBody>
      </p:sp>
      <p:sp>
        <p:nvSpPr>
          <p:cNvPr id="30" name="TextBox 29"/>
          <p:cNvSpPr txBox="1"/>
          <p:nvPr/>
        </p:nvSpPr>
        <p:spPr>
          <a:xfrm>
            <a:off x="8686800" y="6309360"/>
            <a:ext cx="3200400" cy="182880"/>
          </a:xfrm>
          <a:prstGeom prst="rect">
            <a:avLst/>
          </a:prstGeom>
          <a:noFill/>
          <a:ln>
            <a:noFill/>
          </a:ln>
          <a:effectLst/>
        </p:spPr>
        <p:txBody>
          <a:bodyPr wrap="square">
            <a:spAutoFit/>
          </a:bodyPr>
          <a:lstStyle/>
          <a:p>
            <a:pPr algn="r"/>
            <a:r>
              <a:rPr sz="900" b="0">
                <a:solidFill>
                  <a:srgbClr val="808080"/>
                </a:solidFill>
                <a:latin typeface="Arial"/>
              </a:rPr>
              <a:t>Moelis &amp; Company Investment Opportunity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Management Team</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25880"/>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Chief Executive Officer (CEO)</a:t>
            </a:r>
          </a:p>
        </p:txBody>
      </p:sp>
      <p:sp>
        <p:nvSpPr>
          <p:cNvPr id="5" name="TextBox 4"/>
          <p:cNvSpPr txBox="1"/>
          <p:nvPr/>
        </p:nvSpPr>
        <p:spPr>
          <a:xfrm>
            <a:off x="274320" y="169164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Leads Breadlife’s strategic vision and oversees expansion across Indonesia.</a:t>
            </a:r>
          </a:p>
        </p:txBody>
      </p:sp>
      <p:sp>
        <p:nvSpPr>
          <p:cNvPr id="6" name="TextBox 5"/>
          <p:cNvSpPr txBox="1"/>
          <p:nvPr/>
        </p:nvSpPr>
        <p:spPr>
          <a:xfrm>
            <a:off x="274320" y="2075688"/>
            <a:ext cx="3657600" cy="493776"/>
          </a:xfrm>
          <a:prstGeom prst="rect">
            <a:avLst/>
          </a:prstGeom>
          <a:noFill/>
        </p:spPr>
        <p:txBody>
          <a:bodyPr wrap="square" lIns="36576" rIns="36576" tIns="10972" bIns="10972"/>
          <a:lstStyle/>
          <a:p>
            <a:pPr algn="l">
              <a:lnSpc>
                <a:spcPct val="120000"/>
              </a:lnSpc>
              <a:defRPr sz="1100">
                <a:solidFill>
                  <a:srgbClr val="404040"/>
                </a:solidFill>
                <a:latin typeface="Arial"/>
              </a:defRPr>
            </a:pPr>
            <a:r>
              <a:t>• Instrumental in integrating Breadlife into The Daily Company (DailyCo) group after the 2021 acquisition.</a:t>
            </a:r>
          </a:p>
        </p:txBody>
      </p:sp>
      <p:sp>
        <p:nvSpPr>
          <p:cNvPr id="7" name="TextBox 6"/>
          <p:cNvSpPr txBox="1"/>
          <p:nvPr/>
        </p:nvSpPr>
        <p:spPr>
          <a:xfrm>
            <a:off x="274320" y="2624328"/>
            <a:ext cx="3657600" cy="493776"/>
          </a:xfrm>
          <a:prstGeom prst="rect">
            <a:avLst/>
          </a:prstGeom>
          <a:noFill/>
        </p:spPr>
        <p:txBody>
          <a:bodyPr wrap="square" lIns="36576" rIns="36576" tIns="10972" bIns="10972"/>
          <a:lstStyle/>
          <a:p>
            <a:pPr algn="l">
              <a:lnSpc>
                <a:spcPct val="120000"/>
              </a:lnSpc>
              <a:defRPr sz="1100">
                <a:solidFill>
                  <a:srgbClr val="404040"/>
                </a:solidFill>
                <a:latin typeface="Arial"/>
              </a:defRPr>
            </a:pPr>
            <a:r>
              <a:t>• Prior experience in scaling retail and foodservice businesses in Southeast Asia.</a:t>
            </a:r>
          </a:p>
        </p:txBody>
      </p:sp>
      <p:sp>
        <p:nvSpPr>
          <p:cNvPr id="8" name="TextBox 7"/>
          <p:cNvSpPr txBox="1"/>
          <p:nvPr/>
        </p:nvSpPr>
        <p:spPr>
          <a:xfrm>
            <a:off x="274320" y="317296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Advocates for innovation in product quality and operational efficiency.</a:t>
            </a:r>
          </a:p>
        </p:txBody>
      </p:sp>
      <p:sp>
        <p:nvSpPr>
          <p:cNvPr id="9" name="TextBox 8"/>
          <p:cNvSpPr txBox="1"/>
          <p:nvPr/>
        </p:nvSpPr>
        <p:spPr>
          <a:xfrm>
            <a:off x="274320" y="355701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Holds an MBA from a leading Asian university.</a:t>
            </a:r>
          </a:p>
        </p:txBody>
      </p:sp>
      <p:sp>
        <p:nvSpPr>
          <p:cNvPr id="10" name="TextBox 9"/>
          <p:cNvSpPr txBox="1"/>
          <p:nvPr/>
        </p:nvSpPr>
        <p:spPr>
          <a:xfrm>
            <a:off x="274320" y="4032504"/>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Chief Operating Officer (COO)</a:t>
            </a:r>
          </a:p>
        </p:txBody>
      </p:sp>
      <p:sp>
        <p:nvSpPr>
          <p:cNvPr id="11" name="TextBox 10"/>
          <p:cNvSpPr txBox="1"/>
          <p:nvPr/>
        </p:nvSpPr>
        <p:spPr>
          <a:xfrm>
            <a:off x="274320" y="4398264"/>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Manages daily operations for Breadlife’s 100+ outlets across Indonesia.</a:t>
            </a:r>
          </a:p>
        </p:txBody>
      </p:sp>
      <p:sp>
        <p:nvSpPr>
          <p:cNvPr id="12" name="TextBox 11"/>
          <p:cNvSpPr txBox="1"/>
          <p:nvPr/>
        </p:nvSpPr>
        <p:spPr>
          <a:xfrm>
            <a:off x="274320" y="4782312"/>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Deep experience in logistics, supply chain, and retail foodservice management.</a:t>
            </a:r>
          </a:p>
        </p:txBody>
      </p:sp>
      <p:sp>
        <p:nvSpPr>
          <p:cNvPr id="13" name="TextBox 12"/>
          <p:cNvSpPr txBox="1"/>
          <p:nvPr/>
        </p:nvSpPr>
        <p:spPr>
          <a:xfrm>
            <a:off x="274320" y="516636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Spearheaded systems for quality control and open kitchen transparency.</a:t>
            </a:r>
          </a:p>
        </p:txBody>
      </p:sp>
      <p:sp>
        <p:nvSpPr>
          <p:cNvPr id="14" name="TextBox 13"/>
          <p:cNvSpPr txBox="1"/>
          <p:nvPr/>
        </p:nvSpPr>
        <p:spPr>
          <a:xfrm>
            <a:off x="274320" y="555040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Former operations lead at another top Indonesian F&amp;B chain.</a:t>
            </a:r>
          </a:p>
        </p:txBody>
      </p:sp>
      <p:sp>
        <p:nvSpPr>
          <p:cNvPr id="15" name="TextBox 14"/>
          <p:cNvSpPr txBox="1"/>
          <p:nvPr/>
        </p:nvSpPr>
        <p:spPr>
          <a:xfrm>
            <a:off x="274320" y="593445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Focused on cost optimization and lean management.</a:t>
            </a:r>
          </a:p>
        </p:txBody>
      </p:sp>
      <p:sp>
        <p:nvSpPr>
          <p:cNvPr id="16" name="TextBox 15"/>
          <p:cNvSpPr txBox="1"/>
          <p:nvPr/>
        </p:nvSpPr>
        <p:spPr>
          <a:xfrm>
            <a:off x="4069080" y="1325880"/>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Chief Marketing Officer (CMO)</a:t>
            </a:r>
          </a:p>
        </p:txBody>
      </p:sp>
      <p:sp>
        <p:nvSpPr>
          <p:cNvPr id="17" name="TextBox 16"/>
          <p:cNvSpPr txBox="1"/>
          <p:nvPr/>
        </p:nvSpPr>
        <p:spPr>
          <a:xfrm>
            <a:off x="4069080" y="169164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Oversees brand positioning, marketing strategy, and new product introductions.</a:t>
            </a:r>
          </a:p>
        </p:txBody>
      </p:sp>
      <p:sp>
        <p:nvSpPr>
          <p:cNvPr id="18" name="TextBox 17"/>
          <p:cNvSpPr txBox="1"/>
          <p:nvPr/>
        </p:nvSpPr>
        <p:spPr>
          <a:xfrm>
            <a:off x="4069080" y="2075688"/>
            <a:ext cx="3657600" cy="493776"/>
          </a:xfrm>
          <a:prstGeom prst="rect">
            <a:avLst/>
          </a:prstGeom>
          <a:noFill/>
        </p:spPr>
        <p:txBody>
          <a:bodyPr wrap="square" lIns="36576" rIns="36576" tIns="10972" bIns="10972"/>
          <a:lstStyle/>
          <a:p>
            <a:pPr algn="l">
              <a:lnSpc>
                <a:spcPct val="120000"/>
              </a:lnSpc>
              <a:defRPr sz="1100">
                <a:solidFill>
                  <a:srgbClr val="404040"/>
                </a:solidFill>
                <a:latin typeface="Arial"/>
              </a:defRPr>
            </a:pPr>
            <a:r>
              <a:t>• Led successful campaigns emphasizing Breadlife’s preservative-free positioning.</a:t>
            </a:r>
          </a:p>
        </p:txBody>
      </p:sp>
      <p:sp>
        <p:nvSpPr>
          <p:cNvPr id="19" name="TextBox 18"/>
          <p:cNvSpPr txBox="1"/>
          <p:nvPr/>
        </p:nvSpPr>
        <p:spPr>
          <a:xfrm>
            <a:off x="4069080" y="262432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Background in digital marketing and consumer analytics for F&amp;B brands.</a:t>
            </a:r>
          </a:p>
        </p:txBody>
      </p:sp>
      <p:sp>
        <p:nvSpPr>
          <p:cNvPr id="20" name="TextBox 19"/>
          <p:cNvSpPr txBox="1"/>
          <p:nvPr/>
        </p:nvSpPr>
        <p:spPr>
          <a:xfrm>
            <a:off x="4069080" y="300837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Developed partnerships with mall operators and transit authorities.</a:t>
            </a:r>
          </a:p>
        </p:txBody>
      </p:sp>
      <p:sp>
        <p:nvSpPr>
          <p:cNvPr id="21" name="TextBox 20"/>
          <p:cNvSpPr txBox="1"/>
          <p:nvPr/>
        </p:nvSpPr>
        <p:spPr>
          <a:xfrm>
            <a:off x="4069080" y="3392424"/>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Published articles on modern retail branding in Indonesia.</a:t>
            </a:r>
          </a:p>
        </p:txBody>
      </p:sp>
      <p:sp>
        <p:nvSpPr>
          <p:cNvPr id="22" name="TextBox 21"/>
          <p:cNvSpPr txBox="1"/>
          <p:nvPr/>
        </p:nvSpPr>
        <p:spPr>
          <a:xfrm>
            <a:off x="4069080" y="3867912"/>
            <a:ext cx="3657600" cy="320040"/>
          </a:xfrm>
          <a:prstGeom prst="rect">
            <a:avLst/>
          </a:prstGeom>
          <a:noFill/>
        </p:spPr>
        <p:txBody>
          <a:bodyPr wrap="square" lIns="36576" rIns="36576" tIns="14630" bIns="14630">
            <a:spAutoFit/>
          </a:bodyPr>
          <a:lstStyle/>
          <a:p>
            <a:pPr algn="l">
              <a:defRPr sz="1400" b="1">
                <a:solidFill>
                  <a:srgbClr val="183A58"/>
                </a:solidFill>
                <a:latin typeface="Arial"/>
              </a:defRPr>
            </a:pPr>
            <a:r>
              <a:t>Head of Institutional Sales (B2B Lead)</a:t>
            </a:r>
          </a:p>
        </p:txBody>
      </p:sp>
      <p:sp>
        <p:nvSpPr>
          <p:cNvPr id="23" name="TextBox 22"/>
          <p:cNvSpPr txBox="1"/>
          <p:nvPr/>
        </p:nvSpPr>
        <p:spPr>
          <a:xfrm>
            <a:off x="4069080" y="4233672"/>
            <a:ext cx="3657600" cy="493776"/>
          </a:xfrm>
          <a:prstGeom prst="rect">
            <a:avLst/>
          </a:prstGeom>
          <a:noFill/>
        </p:spPr>
        <p:txBody>
          <a:bodyPr wrap="square" lIns="36576" rIns="36576" tIns="10972" bIns="10972"/>
          <a:lstStyle/>
          <a:p>
            <a:pPr algn="l">
              <a:lnSpc>
                <a:spcPct val="120000"/>
              </a:lnSpc>
              <a:defRPr sz="1100">
                <a:solidFill>
                  <a:srgbClr val="404040"/>
                </a:solidFill>
                <a:latin typeface="Arial"/>
              </a:defRPr>
            </a:pPr>
            <a:r>
              <a:t>• Drives Breadlife’s B2B institutional channel, including catering and franchising.</a:t>
            </a:r>
          </a:p>
        </p:txBody>
      </p:sp>
      <p:sp>
        <p:nvSpPr>
          <p:cNvPr id="24" name="TextBox 23"/>
          <p:cNvSpPr txBox="1"/>
          <p:nvPr/>
        </p:nvSpPr>
        <p:spPr>
          <a:xfrm>
            <a:off x="4069080" y="4782312"/>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Established agreements with corporate and government clients.</a:t>
            </a:r>
          </a:p>
        </p:txBody>
      </p:sp>
      <p:sp>
        <p:nvSpPr>
          <p:cNvPr id="25" name="TextBox 24"/>
          <p:cNvSpPr txBox="1"/>
          <p:nvPr/>
        </p:nvSpPr>
        <p:spPr>
          <a:xfrm>
            <a:off x="4069080" y="5166360"/>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Experience in building sales teams and expanding into new markets.</a:t>
            </a:r>
          </a:p>
        </p:txBody>
      </p:sp>
      <p:sp>
        <p:nvSpPr>
          <p:cNvPr id="26" name="TextBox 25"/>
          <p:cNvSpPr txBox="1"/>
          <p:nvPr/>
        </p:nvSpPr>
        <p:spPr>
          <a:xfrm>
            <a:off x="4069080" y="5550408"/>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Previously grew institutional sales at a major Indonesian bakery supplier.</a:t>
            </a:r>
          </a:p>
        </p:txBody>
      </p:sp>
      <p:sp>
        <p:nvSpPr>
          <p:cNvPr id="27" name="TextBox 26"/>
          <p:cNvSpPr txBox="1"/>
          <p:nvPr/>
        </p:nvSpPr>
        <p:spPr>
          <a:xfrm>
            <a:off x="4069080" y="5934456"/>
            <a:ext cx="3657600" cy="329184"/>
          </a:xfrm>
          <a:prstGeom prst="rect">
            <a:avLst/>
          </a:prstGeom>
          <a:noFill/>
        </p:spPr>
        <p:txBody>
          <a:bodyPr wrap="square" lIns="36576" rIns="36576" tIns="10972" bIns="10972"/>
          <a:lstStyle/>
          <a:p>
            <a:pPr algn="l">
              <a:lnSpc>
                <a:spcPct val="120000"/>
              </a:lnSpc>
              <a:defRPr sz="1100">
                <a:solidFill>
                  <a:srgbClr val="404040"/>
                </a:solidFill>
                <a:latin typeface="Arial"/>
              </a:defRPr>
            </a:pPr>
            <a:r>
              <a:t>• Focused on securing long-term contracts and scaling B2B revenue.</a:t>
            </a:r>
          </a:p>
        </p:txBody>
      </p:sp>
      <p:sp>
        <p:nvSpPr>
          <p:cNvPr id="28" name="TextBox 27"/>
          <p:cNvSpPr txBox="1"/>
          <p:nvPr/>
        </p:nvSpPr>
        <p:spPr>
          <a:xfrm>
            <a:off x="365760" y="6355080"/>
            <a:ext cx="5486400" cy="365760"/>
          </a:xfrm>
          <a:prstGeom prst="rect">
            <a:avLst/>
          </a:prstGeom>
          <a:noFill/>
        </p:spPr>
        <p:txBody>
          <a:bodyPr wrap="none" lIns="45720" rIns="45720" anchor="ctr">
            <a:spAutoFit/>
          </a:bodyPr>
          <a:lstStyle/>
          <a:p>
            <a:pPr algn="l">
              <a:defRPr sz="900">
                <a:solidFill>
                  <a:srgbClr val="808080"/>
                </a:solidFill>
                <a:latin typeface="Arial"/>
              </a:defRPr>
            </a:pPr>
            <a:r>
              <a:t>Confidential | September 06, 2025</a:t>
            </a:r>
          </a:p>
        </p:txBody>
      </p:sp>
      <p:sp>
        <p:nvSpPr>
          <p:cNvPr id="29" name="TextBox 28"/>
          <p:cNvSpPr txBox="1"/>
          <p:nvPr/>
        </p:nvSpPr>
        <p:spPr>
          <a:xfrm>
            <a:off x="8686800" y="6355080"/>
            <a:ext cx="2926080" cy="365760"/>
          </a:xfrm>
          <a:prstGeom prst="rect">
            <a:avLst/>
          </a:prstGeom>
          <a:noFill/>
        </p:spPr>
        <p:txBody>
          <a:bodyPr wrap="none" lIns="45720" rIns="45720" anchor="ctr">
            <a:spAutoFit/>
          </a:bodyPr>
          <a:lstStyle/>
          <a:p>
            <a:pPr algn="r">
              <a:defRPr sz="900">
                <a:solidFill>
                  <a:srgbClr val="808080"/>
                </a:solidFill>
                <a:latin typeface="Arial"/>
              </a:defRPr>
            </a:pPr>
            <a:r>
              <a:t>Moelis &amp; Company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Growth Strategy &amp; Financial Projections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486400" cy="274320"/>
          </a:xfrm>
          <a:prstGeom prst="rect">
            <a:avLst/>
          </a:prstGeom>
          <a:noFill/>
          <a:ln>
            <a:noFill/>
          </a:ln>
          <a:effectLst/>
        </p:spPr>
        <p:txBody>
          <a:bodyPr wrap="square">
            <a:spAutoFit/>
          </a:bodyPr>
          <a:lstStyle/>
          <a:p>
            <a:pPr algn="l"/>
            <a:r>
              <a:rPr sz="1400" b="1">
                <a:solidFill>
                  <a:srgbClr val="183A58"/>
                </a:solidFill>
                <a:latin typeface="Arial"/>
              </a:rPr>
              <a:t>Multi-Pronged Growth Strategy</a:t>
            </a:r>
          </a:p>
        </p:txBody>
      </p:sp>
      <p:sp>
        <p:nvSpPr>
          <p:cNvPr id="5" name="Oval 4"/>
          <p:cNvSpPr/>
          <p:nvPr/>
        </p:nvSpPr>
        <p:spPr>
          <a:xfrm>
            <a:off x="640080" y="164592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00200"/>
            <a:ext cx="5029200" cy="274320"/>
          </a:xfrm>
          <a:prstGeom prst="rect">
            <a:avLst/>
          </a:prstGeom>
          <a:noFill/>
          <a:ln>
            <a:noFill/>
          </a:ln>
          <a:effectLst/>
        </p:spPr>
        <p:txBody>
          <a:bodyPr wrap="square">
            <a:spAutoFit/>
          </a:bodyPr>
          <a:lstStyle/>
          <a:p>
            <a:pPr algn="l"/>
            <a:r>
              <a:rPr sz="900" b="0">
                <a:solidFill>
                  <a:srgbClr val="404040"/>
                </a:solidFill>
                <a:latin typeface="Arial"/>
              </a:rPr>
              <a:t>Accelerate rollout of new outlets, targeting 150 by 2027, with emphasis on high-traffic, transit, and secondary cities.</a:t>
            </a:r>
          </a:p>
        </p:txBody>
      </p:sp>
      <p:sp>
        <p:nvSpPr>
          <p:cNvPr id="7" name="Oval 6"/>
          <p:cNvSpPr/>
          <p:nvPr/>
        </p:nvSpPr>
        <p:spPr>
          <a:xfrm>
            <a:off x="640080" y="196596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5029200" cy="274320"/>
          </a:xfrm>
          <a:prstGeom prst="rect">
            <a:avLst/>
          </a:prstGeom>
          <a:noFill/>
          <a:ln>
            <a:noFill/>
          </a:ln>
          <a:effectLst/>
        </p:spPr>
        <p:txBody>
          <a:bodyPr wrap="square">
            <a:spAutoFit/>
          </a:bodyPr>
          <a:lstStyle/>
          <a:p>
            <a:pPr algn="l"/>
            <a:r>
              <a:rPr sz="900" b="0">
                <a:solidFill>
                  <a:srgbClr val="404040"/>
                </a:solidFill>
                <a:latin typeface="Arial"/>
              </a:rPr>
              <a:t>Launch healthier bread options (whole grain, gluten-free, organic) and innovate core menu.</a:t>
            </a:r>
          </a:p>
        </p:txBody>
      </p:sp>
      <p:sp>
        <p:nvSpPr>
          <p:cNvPr id="9" name="Oval 8"/>
          <p:cNvSpPr/>
          <p:nvPr/>
        </p:nvSpPr>
        <p:spPr>
          <a:xfrm>
            <a:off x="640080" y="228600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40280"/>
            <a:ext cx="5029200" cy="274320"/>
          </a:xfrm>
          <a:prstGeom prst="rect">
            <a:avLst/>
          </a:prstGeom>
          <a:noFill/>
          <a:ln>
            <a:noFill/>
          </a:ln>
          <a:effectLst/>
        </p:spPr>
        <p:txBody>
          <a:bodyPr wrap="square">
            <a:spAutoFit/>
          </a:bodyPr>
          <a:lstStyle/>
          <a:p>
            <a:pPr algn="l"/>
            <a:r>
              <a:rPr sz="900" b="0">
                <a:solidFill>
                  <a:srgbClr val="404040"/>
                </a:solidFill>
                <a:latin typeface="Arial"/>
              </a:rPr>
              <a:t>Invest in digital channels (online ordering, loyalty apps, delivery partnerships).</a:t>
            </a:r>
          </a:p>
        </p:txBody>
      </p:sp>
      <p:sp>
        <p:nvSpPr>
          <p:cNvPr id="11" name="Oval 10"/>
          <p:cNvSpPr/>
          <p:nvPr/>
        </p:nvSpPr>
        <p:spPr>
          <a:xfrm>
            <a:off x="640080" y="2606039"/>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560319"/>
            <a:ext cx="5029200" cy="274320"/>
          </a:xfrm>
          <a:prstGeom prst="rect">
            <a:avLst/>
          </a:prstGeom>
          <a:noFill/>
          <a:ln>
            <a:noFill/>
          </a:ln>
          <a:effectLst/>
        </p:spPr>
        <p:txBody>
          <a:bodyPr wrap="square">
            <a:spAutoFit/>
          </a:bodyPr>
          <a:lstStyle/>
          <a:p>
            <a:pPr algn="l"/>
            <a:r>
              <a:rPr sz="900" b="0">
                <a:solidFill>
                  <a:srgbClr val="404040"/>
                </a:solidFill>
                <a:latin typeface="Arial"/>
              </a:rPr>
              <a:t>Expand B2B catering and institutional sales for revenue diversification.</a:t>
            </a:r>
          </a:p>
        </p:txBody>
      </p:sp>
      <p:sp>
        <p:nvSpPr>
          <p:cNvPr id="13" name="Oval 12"/>
          <p:cNvSpPr/>
          <p:nvPr/>
        </p:nvSpPr>
        <p:spPr>
          <a:xfrm>
            <a:off x="640080" y="292608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880360"/>
            <a:ext cx="5029200" cy="274320"/>
          </a:xfrm>
          <a:prstGeom prst="rect">
            <a:avLst/>
          </a:prstGeom>
          <a:noFill/>
          <a:ln>
            <a:noFill/>
          </a:ln>
          <a:effectLst/>
        </p:spPr>
        <p:txBody>
          <a:bodyPr wrap="square">
            <a:spAutoFit/>
          </a:bodyPr>
          <a:lstStyle/>
          <a:p>
            <a:pPr algn="l"/>
            <a:r>
              <a:rPr sz="900" b="0">
                <a:solidFill>
                  <a:srgbClr val="404040"/>
                </a:solidFill>
                <a:latin typeface="Arial"/>
              </a:rPr>
              <a:t>Leverage DailyCo’s procurement and operational infrastructure for cost and margin improvements.</a:t>
            </a:r>
          </a:p>
        </p:txBody>
      </p:sp>
      <p:graphicFrame>
        <p:nvGraphicFramePr>
          <p:cNvPr id="15" name="Chart 14"/>
          <p:cNvGraphicFramePr>
            <a:graphicFrameLocks noGrp="1"/>
          </p:cNvGraphicFramePr>
          <p:nvPr/>
        </p:nvGraphicFramePr>
        <p:xfrm>
          <a:off x="6858000" y="1280160"/>
          <a:ext cx="5029200" cy="2011680"/>
        </p:xfrm>
        <a:graphic>
          <a:graphicData uri="http://schemas.openxmlformats.org/drawingml/2006/chart">
            <c:chart xmlns:c="http://schemas.openxmlformats.org/drawingml/2006/chart" r:id="rId2"/>
          </a:graphicData>
        </a:graphic>
      </p:graphicFrame>
      <p:sp>
        <p:nvSpPr>
          <p:cNvPr id="16" name="TextBox 15"/>
          <p:cNvSpPr txBox="1"/>
          <p:nvPr/>
        </p:nvSpPr>
        <p:spPr>
          <a:xfrm>
            <a:off x="6858000" y="3291840"/>
            <a:ext cx="5029200" cy="182880"/>
          </a:xfrm>
          <a:prstGeom prst="rect">
            <a:avLst/>
          </a:prstGeom>
          <a:noFill/>
          <a:ln>
            <a:noFill/>
          </a:ln>
          <a:effectLst/>
        </p:spPr>
        <p:txBody>
          <a:bodyPr wrap="square">
            <a:spAutoFit/>
          </a:bodyPr>
          <a:lstStyle/>
          <a:p>
            <a:pPr algn="l"/>
            <a:r>
              <a:rPr sz="1200" b="1">
                <a:solidFill>
                  <a:srgbClr val="183A58"/>
                </a:solidFill>
                <a:latin typeface="Arial"/>
              </a:rPr>
              <a:t>Revenue &amp; EBITDA Projections</a:t>
            </a:r>
          </a:p>
        </p:txBody>
      </p:sp>
      <p:sp>
        <p:nvSpPr>
          <p:cNvPr id="17" name="TextBox 16"/>
          <p:cNvSpPr txBox="1"/>
          <p:nvPr/>
        </p:nvSpPr>
        <p:spPr>
          <a:xfrm>
            <a:off x="6858000" y="3566160"/>
            <a:ext cx="5029200" cy="182880"/>
          </a:xfrm>
          <a:prstGeom prst="rect">
            <a:avLst/>
          </a:prstGeom>
          <a:noFill/>
          <a:ln>
            <a:noFill/>
          </a:ln>
          <a:effectLst/>
        </p:spPr>
        <p:txBody>
          <a:bodyPr wrap="square">
            <a:spAutoFit/>
          </a:bodyPr>
          <a:lstStyle/>
          <a:p>
            <a:pPr algn="l"/>
            <a:r>
              <a:rPr sz="1000" b="0">
                <a:solidFill>
                  <a:srgbClr val="404040"/>
                </a:solidFill>
                <a:latin typeface="Arial"/>
              </a:rPr>
              <a:t>■ Revenue (USD millions)  ■ EBITDA (USD millions)</a:t>
            </a:r>
          </a:p>
        </p:txBody>
      </p:sp>
      <p:sp>
        <p:nvSpPr>
          <p:cNvPr id="18" name="TextBox 17"/>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19" name="TextBox 18"/>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Competitive Positioning</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5486400" cy="274320"/>
          </a:xfrm>
          <a:prstGeom prst="rect">
            <a:avLst/>
          </a:prstGeom>
          <a:noFill/>
          <a:ln>
            <a:noFill/>
          </a:ln>
          <a:effectLst/>
        </p:spPr>
        <p:txBody>
          <a:bodyPr wrap="square">
            <a:spAutoFit/>
          </a:bodyPr>
          <a:lstStyle/>
          <a:p>
            <a:pPr algn="l"/>
            <a:r>
              <a:rPr sz="1400" b="1">
                <a:solidFill>
                  <a:srgbClr val="183A58"/>
                </a:solidFill>
                <a:latin typeface="Arial"/>
              </a:rPr>
              <a:t>Revenue Comparison vs. Competitors</a:t>
            </a:r>
          </a:p>
        </p:txBody>
      </p:sp>
      <p:graphicFrame>
        <p:nvGraphicFramePr>
          <p:cNvPr id="5" name="Chart 4"/>
          <p:cNvGraphicFramePr>
            <a:graphicFrameLocks noGrp="1"/>
          </p:cNvGraphicFramePr>
          <p:nvPr/>
        </p:nvGraphicFramePr>
        <p:xfrm>
          <a:off x="457200" y="1554480"/>
          <a:ext cx="5486400" cy="2286000"/>
        </p:xfrm>
        <a:graphic>
          <a:graphicData uri="http://schemas.openxmlformats.org/drawingml/2006/chart">
            <c:chart xmlns:c="http://schemas.openxmlformats.org/drawingml/2006/chart" r:id="rId2"/>
          </a:graphicData>
        </a:graphic>
      </p:graphicFrame>
      <p:sp>
        <p:nvSpPr>
          <p:cNvPr id="6" name="TextBox 5"/>
          <p:cNvSpPr txBox="1"/>
          <p:nvPr/>
        </p:nvSpPr>
        <p:spPr>
          <a:xfrm>
            <a:off x="6858000" y="1188720"/>
            <a:ext cx="5029200" cy="274320"/>
          </a:xfrm>
          <a:prstGeom prst="rect">
            <a:avLst/>
          </a:prstGeom>
          <a:noFill/>
          <a:ln>
            <a:noFill/>
          </a:ln>
          <a:effectLst/>
        </p:spPr>
        <p:txBody>
          <a:bodyPr wrap="square">
            <a:spAutoFit/>
          </a:bodyPr>
          <a:lstStyle/>
          <a:p>
            <a:pPr algn="l"/>
            <a:r>
              <a:rPr sz="1400" b="1">
                <a:solidFill>
                  <a:srgbClr val="183A58"/>
                </a:solidFill>
                <a:latin typeface="Arial"/>
              </a:rPr>
              <a:t>Competitive Assessment</a:t>
            </a:r>
          </a:p>
        </p:txBody>
      </p:sp>
      <p:graphicFrame>
        <p:nvGraphicFramePr>
          <p:cNvPr id="7" name="Table 6"/>
          <p:cNvGraphicFramePr>
            <a:graphicFrameLocks noGrp="1"/>
          </p:cNvGraphicFramePr>
          <p:nvPr/>
        </p:nvGraphicFramePr>
        <p:xfrm>
          <a:off x="6858000" y="1554480"/>
          <a:ext cx="3566160" cy="1371600"/>
        </p:xfrm>
        <a:graphic>
          <a:graphicData uri="http://schemas.openxmlformats.org/drawingml/2006/table">
            <a:tbl>
              <a:tblPr firstRow="1" bandRow="1">
                <a:tableStyleId>{5C22544A-7EE6-4342-B048-85BDC9FD1C3A}</a:tableStyleId>
              </a:tblPr>
              <a:tblGrid>
                <a:gridCol w="1371600"/>
                <a:gridCol w="731520"/>
                <a:gridCol w="640080"/>
                <a:gridCol w="822960"/>
              </a:tblGrid>
              <a:tr h="342900">
                <a:tc>
                  <a:txBody>
                    <a:bodyPr/>
                    <a:lstStyle/>
                    <a:p>
                      <a:pPr algn="ctr"/>
                      <a:r>
                        <a:rPr sz="800" b="1">
                          <a:solidFill>
                            <a:srgbClr val="FFFFFF"/>
                          </a:solidFill>
                          <a:latin typeface="Arial"/>
                        </a:rPr>
                        <a:t>category</a:t>
                      </a:r>
                    </a:p>
                  </a:txBody>
                  <a:tcPr marL="45720" marR="45720" marT="45720" marB="45720">
                    <a:solidFill>
                      <a:srgbClr val="183A58"/>
                    </a:solidFill>
                  </a:tcPr>
                </a:tc>
                <a:tc>
                  <a:txBody>
                    <a:bodyPr/>
                    <a:lstStyle/>
                    <a:p>
                      <a:pPr algn="ctr"/>
                      <a:r>
                        <a:rPr sz="800" b="1">
                          <a:solidFill>
                            <a:srgbClr val="FFFFFF"/>
                          </a:solidFill>
                          <a:latin typeface="Arial"/>
                        </a:rPr>
                        <a:t>our_company</a:t>
                      </a:r>
                    </a:p>
                  </a:txBody>
                  <a:tcPr marL="45720" marR="45720" marT="45720" marB="45720">
                    <a:solidFill>
                      <a:srgbClr val="183A58"/>
                    </a:solidFill>
                  </a:tcPr>
                </a:tc>
                <a:tc>
                  <a:txBody>
                    <a:bodyPr/>
                    <a:lstStyle/>
                    <a:p>
                      <a:pPr algn="ctr"/>
                      <a:r>
                        <a:rPr sz="800" b="1">
                          <a:solidFill>
                            <a:srgbClr val="FFFFFF"/>
                          </a:solidFill>
                          <a:latin typeface="Arial"/>
                        </a:rPr>
                        <a:t>competitor_a</a:t>
                      </a:r>
                    </a:p>
                  </a:txBody>
                  <a:tcPr marL="45720" marR="45720" marT="45720" marB="45720">
                    <a:solidFill>
                      <a:srgbClr val="183A58"/>
                    </a:solidFill>
                  </a:tcPr>
                </a:tc>
                <a:tc>
                  <a:txBody>
                    <a:bodyPr/>
                    <a:lstStyle/>
                    <a:p>
                      <a:pPr algn="ctr"/>
                      <a:r>
                        <a:rPr sz="800" b="1">
                          <a:solidFill>
                            <a:srgbClr val="FFFFFF"/>
                          </a:solidFill>
                          <a:latin typeface="Arial"/>
                        </a:rPr>
                        <a:t>competitor_b</a:t>
                      </a:r>
                    </a:p>
                  </a:txBody>
                  <a:tcPr marL="45720" marR="45720" marT="45720" marB="45720">
                    <a:solidFill>
                      <a:srgbClr val="183A58"/>
                    </a:solidFill>
                  </a:tcPr>
                </a:tc>
              </a:tr>
              <a:tr h="342900">
                <a:tc>
                  <a:txBody>
                    <a:bodyPr/>
                    <a:lstStyle/>
                    <a:p>
                      <a:pPr algn="ctr"/>
                      <a:r>
                        <a:rPr sz="800">
                          <a:solidFill>
                            <a:srgbClr val="183A58"/>
                          </a:solidFill>
                          <a:latin typeface="Arial"/>
                        </a:rPr>
                        <a:t>category</a:t>
                      </a:r>
                    </a:p>
                  </a:txBody>
                  <a:tcPr marL="45720" marR="45720" marT="45720" marB="45720">
                    <a:solidFill>
                      <a:srgbClr val="F0F0F0"/>
                    </a:solidFill>
                  </a:tcPr>
                </a:tc>
                <a:tc>
                  <a:txBody>
                    <a:bodyPr/>
                    <a:lstStyle/>
                    <a:p>
                      <a:pPr algn="ctr"/>
                      <a:r>
                        <a:rPr sz="800">
                          <a:solidFill>
                            <a:srgbClr val="183A58"/>
                          </a:solidFill>
                          <a:latin typeface="Arial"/>
                        </a:rPr>
                        <a:t>our_company</a:t>
                      </a:r>
                    </a:p>
                  </a:txBody>
                  <a:tcPr marL="45720" marR="45720" marT="45720" marB="45720">
                    <a:solidFill>
                      <a:srgbClr val="F0F0F0"/>
                    </a:solidFill>
                  </a:tcPr>
                </a:tc>
                <a:tc>
                  <a:txBody>
                    <a:bodyPr/>
                    <a:lstStyle/>
                    <a:p>
                      <a:pPr algn="ctr"/>
                      <a:r>
                        <a:rPr sz="800">
                          <a:solidFill>
                            <a:srgbClr val="183A58"/>
                          </a:solidFill>
                          <a:latin typeface="Arial"/>
                        </a:rPr>
                        <a:t>competitor_a</a:t>
                      </a:r>
                    </a:p>
                  </a:txBody>
                  <a:tcPr marL="45720" marR="45720" marT="45720" marB="45720">
                    <a:solidFill>
                      <a:srgbClr val="F0F0F0"/>
                    </a:solidFill>
                  </a:tcPr>
                </a:tc>
                <a:tc>
                  <a:txBody>
                    <a:bodyPr/>
                    <a:lstStyle/>
                    <a:p>
                      <a:pPr algn="ctr"/>
                      <a:r>
                        <a:rPr sz="800">
                          <a:solidFill>
                            <a:srgbClr val="183A58"/>
                          </a:solidFill>
                          <a:latin typeface="Arial"/>
                        </a:rPr>
                        <a:t>competitor_b</a:t>
                      </a:r>
                    </a:p>
                  </a:txBody>
                  <a:tcPr marL="45720" marR="45720" marT="45720" marB="45720">
                    <a:solidFill>
                      <a:srgbClr val="F0F0F0"/>
                    </a:solidFill>
                  </a:tcPr>
                </a:tc>
              </a:tr>
              <a:tr h="342900">
                <a:tc>
                  <a:txBody>
                    <a:bodyPr/>
                    <a:lstStyle/>
                    <a:p>
                      <a:pPr algn="ctr"/>
                      <a:r>
                        <a:rPr sz="800">
                          <a:solidFill>
                            <a:srgbClr val="404040"/>
                          </a:solidFill>
                          <a:latin typeface="Arial"/>
                        </a:rPr>
                        <a:t>category</a:t>
                      </a:r>
                    </a:p>
                  </a:txBody>
                  <a:tcPr marL="45720" marR="45720" marT="45720" marB="45720">
                    <a:solidFill>
                      <a:srgbClr val="F0F0F0"/>
                    </a:solidFill>
                  </a:tcPr>
                </a:tc>
                <a:tc>
                  <a:txBody>
                    <a:bodyPr/>
                    <a:lstStyle/>
                    <a:p>
                      <a:pPr algn="ctr"/>
                      <a:r>
                        <a:rPr sz="800">
                          <a:solidFill>
                            <a:srgbClr val="404040"/>
                          </a:solidFill>
                          <a:latin typeface="Arial"/>
                        </a:rPr>
                        <a:t>our_company</a:t>
                      </a:r>
                    </a:p>
                  </a:txBody>
                  <a:tcPr marL="45720" marR="45720" marT="45720" marB="45720">
                    <a:solidFill>
                      <a:srgbClr val="F0F0F0"/>
                    </a:solidFill>
                  </a:tcPr>
                </a:tc>
                <a:tc>
                  <a:txBody>
                    <a:bodyPr/>
                    <a:lstStyle/>
                    <a:p>
                      <a:pPr algn="ctr"/>
                      <a:r>
                        <a:rPr sz="800">
                          <a:solidFill>
                            <a:srgbClr val="404040"/>
                          </a:solidFill>
                          <a:latin typeface="Arial"/>
                        </a:rPr>
                        <a:t>competitor_a</a:t>
                      </a:r>
                    </a:p>
                  </a:txBody>
                  <a:tcPr marL="45720" marR="45720" marT="45720" marB="45720">
                    <a:solidFill>
                      <a:srgbClr val="F0F0F0"/>
                    </a:solidFill>
                  </a:tcPr>
                </a:tc>
                <a:tc>
                  <a:txBody>
                    <a:bodyPr/>
                    <a:lstStyle/>
                    <a:p>
                      <a:pPr algn="ctr"/>
                      <a:r>
                        <a:rPr sz="800">
                          <a:solidFill>
                            <a:srgbClr val="404040"/>
                          </a:solidFill>
                          <a:latin typeface="Arial"/>
                        </a:rPr>
                        <a:t>competitor_b</a:t>
                      </a:r>
                    </a:p>
                  </a:txBody>
                  <a:tcPr marL="45720" marR="45720" marT="45720" marB="45720">
                    <a:solidFill>
                      <a:srgbClr val="F0F0F0"/>
                    </a:solidFill>
                  </a:tcPr>
                </a:tc>
              </a:tr>
              <a:tr h="342900">
                <a:tc>
                  <a:txBody>
                    <a:bodyPr/>
                    <a:lstStyle/>
                    <a:p>
                      <a:pPr algn="ctr"/>
                      <a:r>
                        <a:rPr sz="800">
                          <a:solidFill>
                            <a:srgbClr val="404040"/>
                          </a:solidFill>
                          <a:latin typeface="Arial"/>
                        </a:rPr>
                        <a:t>category</a:t>
                      </a:r>
                    </a:p>
                  </a:txBody>
                  <a:tcPr marL="45720" marR="45720" marT="45720" marB="45720"/>
                </a:tc>
                <a:tc>
                  <a:txBody>
                    <a:bodyPr/>
                    <a:lstStyle/>
                    <a:p>
                      <a:pPr algn="ctr"/>
                      <a:r>
                        <a:rPr sz="800">
                          <a:solidFill>
                            <a:srgbClr val="404040"/>
                          </a:solidFill>
                          <a:latin typeface="Arial"/>
                        </a:rPr>
                        <a:t>our_company</a:t>
                      </a:r>
                    </a:p>
                  </a:txBody>
                  <a:tcPr marL="45720" marR="45720" marT="45720" marB="45720"/>
                </a:tc>
                <a:tc>
                  <a:txBody>
                    <a:bodyPr/>
                    <a:lstStyle/>
                    <a:p>
                      <a:pPr algn="ctr"/>
                      <a:r>
                        <a:rPr sz="800">
                          <a:solidFill>
                            <a:srgbClr val="404040"/>
                          </a:solidFill>
                          <a:latin typeface="Arial"/>
                        </a:rPr>
                        <a:t>competitor_a</a:t>
                      </a:r>
                    </a:p>
                  </a:txBody>
                  <a:tcPr marL="45720" marR="45720" marT="45720" marB="45720"/>
                </a:tc>
                <a:tc>
                  <a:txBody>
                    <a:bodyPr/>
                    <a:lstStyle/>
                    <a:p>
                      <a:pPr algn="ctr"/>
                      <a:r>
                        <a:rPr sz="800">
                          <a:solidFill>
                            <a:srgbClr val="404040"/>
                          </a:solidFill>
                          <a:latin typeface="Arial"/>
                        </a:rPr>
                        <a:t>competitor_b</a:t>
                      </a:r>
                    </a:p>
                  </a:txBody>
                  <a:tcPr marL="45720" marR="45720" marT="45720" marB="45720"/>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31520"/>
            <a:ext cx="10515600" cy="1371600"/>
          </a:xfrm>
          <a:prstGeom prst="rect">
            <a:avLst/>
          </a:prstGeom>
          <a:noFill/>
        </p:spPr>
        <p:txBody>
          <a:bodyPr wrap="none">
            <a:spAutoFit/>
          </a:bodyPr>
          <a:lstStyle/>
          <a:p>
            <a:pPr algn="l"/>
            <a:r>
              <a:rPr sz="1400"/>
              <a:t>Renderer error: column index [4] out of range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Valuation Overview</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05840"/>
            <a:ext cx="10241280" cy="228600"/>
          </a:xfrm>
          <a:prstGeom prst="rect">
            <a:avLst/>
          </a:prstGeom>
          <a:noFill/>
        </p:spPr>
        <p:txBody>
          <a:bodyPr wrap="none" lIns="45720" rIns="45720">
            <a:spAutoFit/>
          </a:bodyPr>
          <a:lstStyle/>
          <a:p>
            <a:pPr algn="ctr">
              <a:defRPr sz="1100" b="1">
                <a:solidFill>
                  <a:srgbClr val="183A58"/>
                </a:solidFill>
                <a:latin typeface="Arial"/>
              </a:defRPr>
            </a:pPr>
            <a:r>
              <a:t>Implied EV/Post IRFS-16 EBITDA</a:t>
            </a:r>
          </a:p>
        </p:txBody>
      </p:sp>
      <p:sp>
        <p:nvSpPr>
          <p:cNvPr id="5" name="Rectangle 4"/>
          <p:cNvSpPr/>
          <p:nvPr/>
        </p:nvSpPr>
        <p:spPr>
          <a:xfrm>
            <a:off x="1097280" y="1280160"/>
            <a:ext cx="201168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280160"/>
            <a:ext cx="2011680" cy="457200"/>
          </a:xfrm>
          <a:prstGeom prst="rect">
            <a:avLst/>
          </a:prstGeom>
          <a:noFill/>
        </p:spPr>
        <p:txBody>
          <a:bodyPr wrap="none" anchor="ctr" lIns="73152" rIns="73152">
            <a:spAutoFit/>
          </a:bodyPr>
          <a:lstStyle/>
          <a:p>
            <a:pPr algn="ctr">
              <a:defRPr sz="1400" b="1">
                <a:solidFill>
                  <a:srgbClr val="FFFFFF"/>
                </a:solidFill>
                <a:latin typeface="Arial"/>
              </a:defRPr>
            </a:pPr>
            <a:r>
              <a:t>Methodology</a:t>
            </a:r>
          </a:p>
        </p:txBody>
      </p:sp>
      <p:sp>
        <p:nvSpPr>
          <p:cNvPr id="7" name="Rectangle 6"/>
          <p:cNvSpPr/>
          <p:nvPr/>
        </p:nvSpPr>
        <p:spPr>
          <a:xfrm>
            <a:off x="3108960" y="1280160"/>
            <a:ext cx="329184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08960" y="1280160"/>
            <a:ext cx="3291840" cy="457200"/>
          </a:xfrm>
          <a:prstGeom prst="rect">
            <a:avLst/>
          </a:prstGeom>
          <a:noFill/>
        </p:spPr>
        <p:txBody>
          <a:bodyPr wrap="none" anchor="ctr" lIns="73152" rIns="73152">
            <a:spAutoFit/>
          </a:bodyPr>
          <a:lstStyle/>
          <a:p>
            <a:pPr algn="ctr">
              <a:defRPr sz="1400" b="1">
                <a:solidFill>
                  <a:srgbClr val="FFFFFF"/>
                </a:solidFill>
                <a:latin typeface="Arial"/>
              </a:defRPr>
            </a:pPr>
            <a:r>
              <a:t>Commentary</a:t>
            </a:r>
          </a:p>
        </p:txBody>
      </p:sp>
      <p:sp>
        <p:nvSpPr>
          <p:cNvPr id="9" name="Rectangle 8"/>
          <p:cNvSpPr/>
          <p:nvPr/>
        </p:nvSpPr>
        <p:spPr>
          <a:xfrm>
            <a:off x="6400800" y="1280160"/>
            <a:ext cx="164592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280160"/>
            <a:ext cx="1645920" cy="457200"/>
          </a:xfrm>
          <a:prstGeom prst="rect">
            <a:avLst/>
          </a:prstGeom>
          <a:noFill/>
        </p:spPr>
        <p:txBody>
          <a:bodyPr wrap="none" anchor="ctr" lIns="73152" rIns="73152">
            <a:spAutoFit/>
          </a:bodyPr>
          <a:lstStyle/>
          <a:p>
            <a:pPr algn="ctr">
              <a:defRPr sz="1400" b="1">
                <a:solidFill>
                  <a:srgbClr val="FFFFFF"/>
                </a:solidFill>
                <a:latin typeface="Arial"/>
              </a:defRPr>
            </a:pPr>
            <a:r>
              <a:t>Enterprise Value</a:t>
            </a:r>
          </a:p>
        </p:txBody>
      </p:sp>
      <p:sp>
        <p:nvSpPr>
          <p:cNvPr id="11" name="Rectangle 10"/>
          <p:cNvSpPr/>
          <p:nvPr/>
        </p:nvSpPr>
        <p:spPr>
          <a:xfrm>
            <a:off x="8046720" y="1280160"/>
            <a:ext cx="146304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1280160"/>
            <a:ext cx="1463040" cy="457200"/>
          </a:xfrm>
          <a:prstGeom prst="rect">
            <a:avLst/>
          </a:prstGeom>
          <a:noFill/>
        </p:spPr>
        <p:txBody>
          <a:bodyPr wrap="none" anchor="ctr" lIns="73152" rIns="73152">
            <a:spAutoFit/>
          </a:bodyPr>
          <a:lstStyle/>
          <a:p>
            <a:pPr algn="ctr">
              <a:defRPr sz="1400" b="1">
                <a:solidFill>
                  <a:srgbClr val="FFFFFF"/>
                </a:solidFill>
                <a:latin typeface="Arial"/>
              </a:defRPr>
            </a:pPr>
            <a:r>
              <a:t>Metric</a:t>
            </a:r>
          </a:p>
        </p:txBody>
      </p:sp>
      <p:sp>
        <p:nvSpPr>
          <p:cNvPr id="13" name="Rectangle 12"/>
          <p:cNvSpPr/>
          <p:nvPr/>
        </p:nvSpPr>
        <p:spPr>
          <a:xfrm>
            <a:off x="9509760" y="1280160"/>
            <a:ext cx="91440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0" y="1280160"/>
            <a:ext cx="914400" cy="457200"/>
          </a:xfrm>
          <a:prstGeom prst="rect">
            <a:avLst/>
          </a:prstGeom>
          <a:noFill/>
        </p:spPr>
        <p:txBody>
          <a:bodyPr wrap="none" anchor="ctr" lIns="73152" rIns="73152">
            <a:spAutoFit/>
          </a:bodyPr>
          <a:lstStyle/>
          <a:p>
            <a:pPr algn="ctr">
              <a:defRPr sz="1400" b="1">
                <a:solidFill>
                  <a:srgbClr val="FFFFFF"/>
                </a:solidFill>
                <a:latin typeface="Arial"/>
              </a:defRPr>
            </a:pPr>
            <a:r>
              <a:t>22A'</a:t>
            </a:r>
          </a:p>
        </p:txBody>
      </p:sp>
      <p:sp>
        <p:nvSpPr>
          <p:cNvPr id="15" name="Rectangle 14"/>
          <p:cNvSpPr/>
          <p:nvPr/>
        </p:nvSpPr>
        <p:spPr>
          <a:xfrm>
            <a:off x="10424160" y="1280160"/>
            <a:ext cx="914400" cy="457200"/>
          </a:xfrm>
          <a:prstGeom prst="rect">
            <a:avLst/>
          </a:prstGeom>
          <a:solidFill>
            <a:srgbClr val="183A58"/>
          </a:solidFill>
          <a:ln>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0" y="1280160"/>
            <a:ext cx="914400" cy="457200"/>
          </a:xfrm>
          <a:prstGeom prst="rect">
            <a:avLst/>
          </a:prstGeom>
          <a:noFill/>
        </p:spPr>
        <p:txBody>
          <a:bodyPr wrap="none" anchor="ctr" lIns="73152" rIns="73152">
            <a:spAutoFit/>
          </a:bodyPr>
          <a:lstStyle/>
          <a:p>
            <a:pPr algn="ctr">
              <a:defRPr sz="1400" b="1">
                <a:solidFill>
                  <a:srgbClr val="FFFFFF"/>
                </a:solidFill>
                <a:latin typeface="Arial"/>
              </a:defRPr>
            </a:pPr>
            <a:r>
              <a:t>23E (Rev)</a:t>
            </a:r>
          </a:p>
        </p:txBody>
      </p:sp>
      <p:sp>
        <p:nvSpPr>
          <p:cNvPr id="17" name="Rectangle 16"/>
          <p:cNvSpPr/>
          <p:nvPr/>
        </p:nvSpPr>
        <p:spPr>
          <a:xfrm>
            <a:off x="1097280" y="1737360"/>
            <a:ext cx="2011680" cy="1097280"/>
          </a:xfrm>
          <a:prstGeom prst="rect">
            <a:avLst/>
          </a:prstGeom>
          <a:solidFill>
            <a:srgbClr val="46648C"/>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1737360"/>
            <a:ext cx="2011680" cy="1097280"/>
          </a:xfrm>
          <a:prstGeom prst="rect">
            <a:avLst/>
          </a:prstGeom>
          <a:noFill/>
        </p:spPr>
        <p:txBody>
          <a:bodyPr wrap="square" anchor="ctr" tIns="73152" bIns="73152"/>
          <a:lstStyle/>
          <a:p>
            <a:pPr algn="ctr">
              <a:lnSpc>
                <a:spcPct val="110000"/>
              </a:lnSpc>
              <a:defRPr sz="1100" b="1">
                <a:solidFill>
                  <a:srgbClr val="FFFFFF"/>
                </a:solidFill>
                <a:latin typeface="Arial"/>
              </a:defRPr>
            </a:pPr>
            <a:r>
              <a:t>Trading Comps</a:t>
            </a:r>
          </a:p>
        </p:txBody>
      </p:sp>
      <p:sp>
        <p:nvSpPr>
          <p:cNvPr id="19" name="Rectangle 18"/>
          <p:cNvSpPr/>
          <p:nvPr/>
        </p:nvSpPr>
        <p:spPr>
          <a:xfrm>
            <a:off x="3108960" y="1737360"/>
            <a:ext cx="3291840" cy="1097280"/>
          </a:xfrm>
          <a:prstGeom prst="rect">
            <a:avLst/>
          </a:prstGeom>
          <a:solidFill>
            <a:srgbClr val="F0F0F0"/>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737360"/>
            <a:ext cx="3291840" cy="1097280"/>
          </a:xfrm>
          <a:prstGeom prst="rect">
            <a:avLst/>
          </a:prstGeom>
          <a:noFill/>
        </p:spPr>
        <p:txBody>
          <a:bodyPr wrap="square" anchor="ctr" tIns="73152" bIns="73152"/>
          <a:lstStyle/>
          <a:p>
            <a:pPr algn="l">
              <a:lnSpc>
                <a:spcPct val="110000"/>
              </a:lnSpc>
              <a:defRPr sz="900" b="0">
                <a:solidFill>
                  <a:srgbClr val="404040"/>
                </a:solidFill>
                <a:latin typeface="Arial"/>
              </a:defRPr>
            </a:pPr>
            <a:r>
              <a:t>In line with Sari Roti and BreadTalk peer</a:t>
            </a:r>
            <a:br/>
            <a:r>
              <a:t>group; reflects premium, high-growth profile.</a:t>
            </a:r>
          </a:p>
        </p:txBody>
      </p:sp>
      <p:sp>
        <p:nvSpPr>
          <p:cNvPr id="21" name="Rectangle 20"/>
          <p:cNvSpPr/>
          <p:nvPr/>
        </p:nvSpPr>
        <p:spPr>
          <a:xfrm>
            <a:off x="6400800" y="1737360"/>
            <a:ext cx="164592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1737360"/>
            <a:ext cx="164592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US$470–610m</a:t>
            </a:r>
          </a:p>
        </p:txBody>
      </p:sp>
      <p:sp>
        <p:nvSpPr>
          <p:cNvPr id="23" name="Rectangle 22"/>
          <p:cNvSpPr/>
          <p:nvPr/>
        </p:nvSpPr>
        <p:spPr>
          <a:xfrm>
            <a:off x="8046720" y="1737360"/>
            <a:ext cx="146304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0" y="1737360"/>
            <a:ext cx="146304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EV/EBITDA</a:t>
            </a:r>
          </a:p>
        </p:txBody>
      </p:sp>
      <p:sp>
        <p:nvSpPr>
          <p:cNvPr id="25" name="Rectangle 24"/>
          <p:cNvSpPr/>
          <p:nvPr/>
        </p:nvSpPr>
        <p:spPr>
          <a:xfrm>
            <a:off x="9509760" y="173736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0" y="173736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10x–13x</a:t>
            </a:r>
          </a:p>
        </p:txBody>
      </p:sp>
      <p:sp>
        <p:nvSpPr>
          <p:cNvPr id="27" name="Rectangle 26"/>
          <p:cNvSpPr/>
          <p:nvPr/>
        </p:nvSpPr>
        <p:spPr>
          <a:xfrm>
            <a:off x="10424160" y="173736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0" y="173736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9x–12x</a:t>
            </a:r>
          </a:p>
        </p:txBody>
      </p:sp>
      <p:sp>
        <p:nvSpPr>
          <p:cNvPr id="29" name="Rectangle 28"/>
          <p:cNvSpPr/>
          <p:nvPr/>
        </p:nvSpPr>
        <p:spPr>
          <a:xfrm>
            <a:off x="1097280" y="2834640"/>
            <a:ext cx="2011680" cy="1097280"/>
          </a:xfrm>
          <a:prstGeom prst="rect">
            <a:avLst/>
          </a:prstGeom>
          <a:solidFill>
            <a:srgbClr val="183A58"/>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7280" y="2834640"/>
            <a:ext cx="2011680" cy="1097280"/>
          </a:xfrm>
          <a:prstGeom prst="rect">
            <a:avLst/>
          </a:prstGeom>
          <a:noFill/>
        </p:spPr>
        <p:txBody>
          <a:bodyPr wrap="square" anchor="ctr" tIns="73152" bIns="73152"/>
          <a:lstStyle/>
          <a:p>
            <a:pPr algn="ctr">
              <a:lnSpc>
                <a:spcPct val="110000"/>
              </a:lnSpc>
              <a:defRPr sz="900" b="1">
                <a:solidFill>
                  <a:srgbClr val="FFFFFF"/>
                </a:solidFill>
                <a:latin typeface="Arial"/>
              </a:defRPr>
            </a:pPr>
            <a:r>
              <a:t>Precedent</a:t>
            </a:r>
            <a:br/>
            <a:r>
              <a:t>Transactions</a:t>
            </a:r>
          </a:p>
        </p:txBody>
      </p:sp>
      <p:sp>
        <p:nvSpPr>
          <p:cNvPr id="31" name="Rectangle 30"/>
          <p:cNvSpPr/>
          <p:nvPr/>
        </p:nvSpPr>
        <p:spPr>
          <a:xfrm>
            <a:off x="3108960" y="2834640"/>
            <a:ext cx="3291840" cy="1097280"/>
          </a:xfrm>
          <a:prstGeom prst="rect">
            <a:avLst/>
          </a:prstGeom>
          <a:solidFill>
            <a:srgbClr val="F0F0F0"/>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08960" y="2834640"/>
            <a:ext cx="3291840" cy="1097280"/>
          </a:xfrm>
          <a:prstGeom prst="rect">
            <a:avLst/>
          </a:prstGeom>
          <a:noFill/>
        </p:spPr>
        <p:txBody>
          <a:bodyPr wrap="square" anchor="ctr" tIns="73152" bIns="73152"/>
          <a:lstStyle/>
          <a:p>
            <a:pPr algn="l">
              <a:lnSpc>
                <a:spcPct val="110000"/>
              </a:lnSpc>
              <a:defRPr sz="900" b="0">
                <a:solidFill>
                  <a:srgbClr val="404040"/>
                </a:solidFill>
                <a:latin typeface="Arial"/>
              </a:defRPr>
            </a:pPr>
            <a:r>
              <a:t>Southeast Asian branded bakery and QSR deals</a:t>
            </a:r>
            <a:br/>
            <a:r>
              <a:t>last 3 years.</a:t>
            </a:r>
          </a:p>
        </p:txBody>
      </p:sp>
      <p:sp>
        <p:nvSpPr>
          <p:cNvPr id="33" name="Rectangle 32"/>
          <p:cNvSpPr/>
          <p:nvPr/>
        </p:nvSpPr>
        <p:spPr>
          <a:xfrm>
            <a:off x="6400800" y="2834640"/>
            <a:ext cx="164592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2834640"/>
            <a:ext cx="164592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US$400–650m</a:t>
            </a:r>
          </a:p>
        </p:txBody>
      </p:sp>
      <p:sp>
        <p:nvSpPr>
          <p:cNvPr id="35" name="Rectangle 34"/>
          <p:cNvSpPr/>
          <p:nvPr/>
        </p:nvSpPr>
        <p:spPr>
          <a:xfrm>
            <a:off x="8046720" y="2834640"/>
            <a:ext cx="146304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2834640"/>
            <a:ext cx="146304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EV/EBITDA</a:t>
            </a:r>
          </a:p>
        </p:txBody>
      </p:sp>
      <p:sp>
        <p:nvSpPr>
          <p:cNvPr id="37" name="Rectangle 36"/>
          <p:cNvSpPr/>
          <p:nvPr/>
        </p:nvSpPr>
        <p:spPr>
          <a:xfrm>
            <a:off x="9509760" y="283464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09760" y="283464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8x–14x</a:t>
            </a:r>
          </a:p>
        </p:txBody>
      </p:sp>
      <p:sp>
        <p:nvSpPr>
          <p:cNvPr id="39" name="Rectangle 38"/>
          <p:cNvSpPr/>
          <p:nvPr/>
        </p:nvSpPr>
        <p:spPr>
          <a:xfrm>
            <a:off x="10424160" y="283464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24160" y="283464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8x–13x</a:t>
            </a:r>
          </a:p>
        </p:txBody>
      </p:sp>
      <p:sp>
        <p:nvSpPr>
          <p:cNvPr id="41" name="Rectangle 40"/>
          <p:cNvSpPr/>
          <p:nvPr/>
        </p:nvSpPr>
        <p:spPr>
          <a:xfrm>
            <a:off x="1097280" y="3931920"/>
            <a:ext cx="2011680" cy="1097280"/>
          </a:xfrm>
          <a:prstGeom prst="rect">
            <a:avLst/>
          </a:prstGeom>
          <a:solidFill>
            <a:srgbClr val="325032"/>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3931920"/>
            <a:ext cx="2011680" cy="1097280"/>
          </a:xfrm>
          <a:prstGeom prst="rect">
            <a:avLst/>
          </a:prstGeom>
          <a:noFill/>
        </p:spPr>
        <p:txBody>
          <a:bodyPr wrap="square" anchor="ctr" tIns="73152" bIns="73152"/>
          <a:lstStyle/>
          <a:p>
            <a:pPr algn="ctr">
              <a:lnSpc>
                <a:spcPct val="110000"/>
              </a:lnSpc>
              <a:defRPr sz="1100" b="1">
                <a:solidFill>
                  <a:srgbClr val="FFFFFF"/>
                </a:solidFill>
                <a:latin typeface="Arial"/>
              </a:defRPr>
            </a:pPr>
            <a:r>
              <a:t>DCF</a:t>
            </a:r>
          </a:p>
        </p:txBody>
      </p:sp>
      <p:sp>
        <p:nvSpPr>
          <p:cNvPr id="43" name="Rectangle 42"/>
          <p:cNvSpPr/>
          <p:nvPr/>
        </p:nvSpPr>
        <p:spPr>
          <a:xfrm>
            <a:off x="3108960" y="3931920"/>
            <a:ext cx="3291840" cy="1097280"/>
          </a:xfrm>
          <a:prstGeom prst="rect">
            <a:avLst/>
          </a:prstGeom>
          <a:solidFill>
            <a:srgbClr val="F0F0F0"/>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08960" y="3931920"/>
            <a:ext cx="3291840" cy="1097280"/>
          </a:xfrm>
          <a:prstGeom prst="rect">
            <a:avLst/>
          </a:prstGeom>
          <a:noFill/>
        </p:spPr>
        <p:txBody>
          <a:bodyPr wrap="square" anchor="ctr" tIns="73152" bIns="73152"/>
          <a:lstStyle/>
          <a:p>
            <a:pPr algn="l">
              <a:lnSpc>
                <a:spcPct val="110000"/>
              </a:lnSpc>
              <a:defRPr sz="900" b="0">
                <a:solidFill>
                  <a:srgbClr val="404040"/>
                </a:solidFill>
                <a:latin typeface="Arial"/>
              </a:defRPr>
            </a:pPr>
            <a:r>
              <a:t>Based on projected CAGR of 15% revenue, 20%</a:t>
            </a:r>
            <a:br/>
            <a:r>
              <a:t>EBITDA margin, terminal growth 3%.</a:t>
            </a:r>
          </a:p>
        </p:txBody>
      </p:sp>
      <p:sp>
        <p:nvSpPr>
          <p:cNvPr id="45" name="Rectangle 44"/>
          <p:cNvSpPr/>
          <p:nvPr/>
        </p:nvSpPr>
        <p:spPr>
          <a:xfrm>
            <a:off x="6400800" y="3931920"/>
            <a:ext cx="164592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3931920"/>
            <a:ext cx="164592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US$500–700m</a:t>
            </a:r>
          </a:p>
        </p:txBody>
      </p:sp>
      <p:sp>
        <p:nvSpPr>
          <p:cNvPr id="47" name="Rectangle 46"/>
          <p:cNvSpPr/>
          <p:nvPr/>
        </p:nvSpPr>
        <p:spPr>
          <a:xfrm>
            <a:off x="8046720" y="3931920"/>
            <a:ext cx="146304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20" y="3931920"/>
            <a:ext cx="1463040" cy="1097280"/>
          </a:xfrm>
          <a:prstGeom prst="rect">
            <a:avLst/>
          </a:prstGeom>
          <a:noFill/>
        </p:spPr>
        <p:txBody>
          <a:bodyPr wrap="square" anchor="ctr" tIns="73152" bIns="73152"/>
          <a:lstStyle/>
          <a:p>
            <a:pPr algn="ctr">
              <a:lnSpc>
                <a:spcPct val="110000"/>
              </a:lnSpc>
              <a:defRPr sz="900" b="0">
                <a:solidFill>
                  <a:srgbClr val="404040"/>
                </a:solidFill>
                <a:latin typeface="Arial"/>
              </a:defRPr>
            </a:pPr>
            <a:r>
              <a:t>DCF</a:t>
            </a:r>
            <a:br/>
            <a:r>
              <a:t>Valuation</a:t>
            </a:r>
          </a:p>
        </p:txBody>
      </p:sp>
      <p:sp>
        <p:nvSpPr>
          <p:cNvPr id="49" name="Rectangle 48"/>
          <p:cNvSpPr/>
          <p:nvPr/>
        </p:nvSpPr>
        <p:spPr>
          <a:xfrm>
            <a:off x="9509760" y="393192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509760" y="393192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N/A</a:t>
            </a:r>
          </a:p>
        </p:txBody>
      </p:sp>
      <p:sp>
        <p:nvSpPr>
          <p:cNvPr id="51" name="Rectangle 50"/>
          <p:cNvSpPr/>
          <p:nvPr/>
        </p:nvSpPr>
        <p:spPr>
          <a:xfrm>
            <a:off x="10424160" y="3931920"/>
            <a:ext cx="914400" cy="1097280"/>
          </a:xfrm>
          <a:prstGeom prst="rect">
            <a:avLst/>
          </a:prstGeom>
          <a:solidFill>
            <a:srgbClr val="FFFFFF"/>
          </a:solidFill>
          <a:ln w="635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424160" y="3931920"/>
            <a:ext cx="914400" cy="1097280"/>
          </a:xfrm>
          <a:prstGeom prst="rect">
            <a:avLst/>
          </a:prstGeom>
          <a:noFill/>
        </p:spPr>
        <p:txBody>
          <a:bodyPr wrap="square" anchor="ctr" tIns="73152" bIns="73152"/>
          <a:lstStyle/>
          <a:p>
            <a:pPr algn="ctr">
              <a:lnSpc>
                <a:spcPct val="110000"/>
              </a:lnSpc>
              <a:defRPr sz="1100" b="0">
                <a:solidFill>
                  <a:srgbClr val="404040"/>
                </a:solidFill>
                <a:latin typeface="Arial"/>
              </a:defRPr>
            </a:pPr>
            <a:r>
              <a:t>N/A</a:t>
            </a:r>
          </a:p>
        </p:txBody>
      </p:sp>
      <p:sp>
        <p:nvSpPr>
          <p:cNvPr id="53" name="Rectangle 52"/>
          <p:cNvSpPr/>
          <p:nvPr/>
        </p:nvSpPr>
        <p:spPr>
          <a:xfrm>
            <a:off x="182880" y="1737360"/>
            <a:ext cx="822960" cy="1097280"/>
          </a:xfrm>
          <a:prstGeom prst="rect">
            <a:avLst/>
          </a:prstGeom>
          <a:solidFill>
            <a:srgbClr val="46648C"/>
          </a:solidFill>
          <a:ln w="6350">
            <a:solidFill>
              <a:srgbClr val="4664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82880" y="1737360"/>
            <a:ext cx="822960" cy="1097280"/>
          </a:xfrm>
          <a:prstGeom prst="rect">
            <a:avLst/>
          </a:prstGeom>
          <a:noFill/>
        </p:spPr>
        <p:txBody>
          <a:bodyPr wrap="square" anchor="ctr" lIns="18288" rIns="18288" tIns="18288" bIns="18288">
            <a:spAutoFit/>
          </a:bodyPr>
          <a:lstStyle/>
          <a:p>
            <a:pPr algn="ctr">
              <a:defRPr sz="900" b="1">
                <a:solidFill>
                  <a:srgbClr val="FFFFFF"/>
                </a:solidFill>
                <a:latin typeface="Arial"/>
              </a:defRPr>
            </a:pPr>
            <a:r>
              <a:t>TRADING COMPS</a:t>
            </a:r>
          </a:p>
        </p:txBody>
      </p:sp>
      <p:sp>
        <p:nvSpPr>
          <p:cNvPr id="55" name="Rectangle 54"/>
          <p:cNvSpPr/>
          <p:nvPr/>
        </p:nvSpPr>
        <p:spPr>
          <a:xfrm>
            <a:off x="182880" y="2834640"/>
            <a:ext cx="822960" cy="1097280"/>
          </a:xfrm>
          <a:prstGeom prst="rect">
            <a:avLst/>
          </a:prstGeom>
          <a:solidFill>
            <a:srgbClr val="183A58"/>
          </a:solidFill>
          <a:ln w="6350">
            <a:solidFill>
              <a:srgbClr val="183A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82880" y="2834640"/>
            <a:ext cx="822960" cy="1097280"/>
          </a:xfrm>
          <a:prstGeom prst="rect">
            <a:avLst/>
          </a:prstGeom>
          <a:noFill/>
        </p:spPr>
        <p:txBody>
          <a:bodyPr wrap="square" anchor="ctr" lIns="18288" rIns="18288" tIns="18288" bIns="18288">
            <a:spAutoFit/>
          </a:bodyPr>
          <a:lstStyle/>
          <a:p>
            <a:pPr algn="ctr">
              <a:defRPr sz="900" b="1">
                <a:solidFill>
                  <a:srgbClr val="FFFFFF"/>
                </a:solidFill>
                <a:latin typeface="Arial"/>
              </a:defRPr>
            </a:pPr>
            <a:r>
              <a:t>PRECEDENT TRANSACTIONS</a:t>
            </a:r>
          </a:p>
        </p:txBody>
      </p:sp>
      <p:sp>
        <p:nvSpPr>
          <p:cNvPr id="57" name="Rectangle 56"/>
          <p:cNvSpPr/>
          <p:nvPr/>
        </p:nvSpPr>
        <p:spPr>
          <a:xfrm>
            <a:off x="182880" y="3931920"/>
            <a:ext cx="822960" cy="1097280"/>
          </a:xfrm>
          <a:prstGeom prst="rect">
            <a:avLst/>
          </a:prstGeom>
          <a:solidFill>
            <a:srgbClr val="325032"/>
          </a:solidFill>
          <a:ln w="6350">
            <a:solidFill>
              <a:srgbClr val="3250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82880" y="3931920"/>
            <a:ext cx="822960" cy="1097280"/>
          </a:xfrm>
          <a:prstGeom prst="rect">
            <a:avLst/>
          </a:prstGeom>
          <a:noFill/>
        </p:spPr>
        <p:txBody>
          <a:bodyPr wrap="square" anchor="ctr" lIns="18288" rIns="18288" tIns="18288" bIns="18288">
            <a:spAutoFit/>
          </a:bodyPr>
          <a:lstStyle/>
          <a:p>
            <a:pPr algn="ctr">
              <a:defRPr sz="900" b="1">
                <a:solidFill>
                  <a:srgbClr val="FFFFFF"/>
                </a:solidFill>
                <a:latin typeface="Arial"/>
              </a:defRPr>
            </a:pPr>
            <a:r>
              <a:t>DCF</a:t>
            </a:r>
          </a:p>
        </p:txBody>
      </p:sp>
      <p:sp>
        <p:nvSpPr>
          <p:cNvPr id="59" name="TextBox 58"/>
          <p:cNvSpPr txBox="1"/>
          <p:nvPr/>
        </p:nvSpPr>
        <p:spPr>
          <a:xfrm>
            <a:off x="457200" y="6400800"/>
            <a:ext cx="5486400" cy="365760"/>
          </a:xfrm>
          <a:prstGeom prst="rect">
            <a:avLst/>
          </a:prstGeom>
          <a:noFill/>
        </p:spPr>
        <p:txBody>
          <a:bodyPr wrap="none">
            <a:spAutoFit/>
          </a:bodyPr>
          <a:lstStyle/>
          <a:p>
            <a:pPr algn="l">
              <a:defRPr sz="900">
                <a:solidFill>
                  <a:srgbClr val="808080"/>
                </a:solidFill>
                <a:latin typeface="Arial"/>
              </a:defRPr>
            </a:pPr>
            <a:r>
              <a:t>Confidential | September 2025</a:t>
            </a:r>
          </a:p>
        </p:txBody>
      </p:sp>
      <p:sp>
        <p:nvSpPr>
          <p:cNvPr id="60" name="TextBox 59"/>
          <p:cNvSpPr txBox="1"/>
          <p:nvPr/>
        </p:nvSpPr>
        <p:spPr>
          <a:xfrm>
            <a:off x="6705295" y="6400800"/>
            <a:ext cx="5486400" cy="365760"/>
          </a:xfrm>
          <a:prstGeom prst="rect">
            <a:avLst/>
          </a:prstGeom>
          <a:noFill/>
        </p:spPr>
        <p:txBody>
          <a:bodyPr wrap="none">
            <a:spAutoFit/>
          </a:bodyPr>
          <a:lstStyle/>
          <a:p>
            <a:pPr algn="r">
              <a:defRPr sz="900">
                <a:solidFill>
                  <a:srgbClr val="808080"/>
                </a:solidFill>
                <a:latin typeface="Arial"/>
              </a:defRPr>
            </a:pPr>
            <a:r>
              <a:t>Moelis &amp; Company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Precedent Transactions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371600"/>
            <a:ext cx="8229600" cy="457200"/>
          </a:xfrm>
          <a:prstGeom prst="rect">
            <a:avLst/>
          </a:prstGeom>
          <a:noFill/>
        </p:spPr>
        <p:txBody>
          <a:bodyPr wrap="none">
            <a:spAutoFit/>
          </a:bodyPr>
          <a:lstStyle/>
          <a:p>
            <a:pPr algn="ctr">
              <a:defRPr sz="1400" b="1">
                <a:solidFill>
                  <a:srgbClr val="183A58"/>
                </a:solidFill>
                <a:latin typeface="Arial"/>
              </a:defRPr>
            </a:pPr>
            <a:r>
              <a:t>EV/Revenue Multiples by Transaction</a:t>
            </a:r>
          </a:p>
        </p:txBody>
      </p:sp>
      <p:sp>
        <p:nvSpPr>
          <p:cNvPr id="5" name="Rectangle 4"/>
          <p:cNvSpPr/>
          <p:nvPr/>
        </p:nvSpPr>
        <p:spPr>
          <a:xfrm>
            <a:off x="1645920" y="2569464"/>
            <a:ext cx="2804160" cy="905256"/>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45920" y="2340864"/>
            <a:ext cx="2804160" cy="182880"/>
          </a:xfrm>
          <a:prstGeom prst="rect">
            <a:avLst/>
          </a:prstGeom>
          <a:noFill/>
        </p:spPr>
        <p:txBody>
          <a:bodyPr wrap="none">
            <a:spAutoFit/>
          </a:bodyPr>
          <a:lstStyle/>
          <a:p>
            <a:pPr algn="ctr">
              <a:defRPr sz="900" b="1">
                <a:latin typeface="Arial"/>
              </a:defRPr>
            </a:pPr>
            <a:r>
              <a:t>2.2x</a:t>
            </a:r>
          </a:p>
        </p:txBody>
      </p:sp>
      <p:sp>
        <p:nvSpPr>
          <p:cNvPr id="7" name="TextBox 6"/>
          <p:cNvSpPr txBox="1"/>
          <p:nvPr/>
        </p:nvSpPr>
        <p:spPr>
          <a:xfrm>
            <a:off x="1645920" y="3566160"/>
            <a:ext cx="2804160" cy="182880"/>
          </a:xfrm>
          <a:prstGeom prst="rect">
            <a:avLst/>
          </a:prstGeom>
          <a:noFill/>
        </p:spPr>
        <p:txBody>
          <a:bodyPr wrap="none">
            <a:spAutoFit/>
          </a:bodyPr>
          <a:lstStyle/>
          <a:p>
            <a:pPr algn="ctr">
              <a:defRPr sz="900">
                <a:latin typeface="Arial"/>
              </a:defRPr>
            </a:pPr>
            <a:r>
              <a:t>T1</a:t>
            </a:r>
          </a:p>
        </p:txBody>
      </p:sp>
      <p:sp>
        <p:nvSpPr>
          <p:cNvPr id="8" name="Rectangle 7"/>
          <p:cNvSpPr/>
          <p:nvPr/>
        </p:nvSpPr>
        <p:spPr>
          <a:xfrm>
            <a:off x="4541520" y="2651760"/>
            <a:ext cx="2804160" cy="82296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1520" y="2423160"/>
            <a:ext cx="2804160" cy="182880"/>
          </a:xfrm>
          <a:prstGeom prst="rect">
            <a:avLst/>
          </a:prstGeom>
          <a:noFill/>
        </p:spPr>
        <p:txBody>
          <a:bodyPr wrap="none">
            <a:spAutoFit/>
          </a:bodyPr>
          <a:lstStyle/>
          <a:p>
            <a:pPr algn="ctr">
              <a:defRPr sz="900" b="1">
                <a:latin typeface="Arial"/>
              </a:defRPr>
            </a:pPr>
            <a:r>
              <a:t>2.0x</a:t>
            </a:r>
          </a:p>
        </p:txBody>
      </p:sp>
      <p:sp>
        <p:nvSpPr>
          <p:cNvPr id="10" name="TextBox 9"/>
          <p:cNvSpPr txBox="1"/>
          <p:nvPr/>
        </p:nvSpPr>
        <p:spPr>
          <a:xfrm>
            <a:off x="4541520" y="3566160"/>
            <a:ext cx="2804160" cy="182880"/>
          </a:xfrm>
          <a:prstGeom prst="rect">
            <a:avLst/>
          </a:prstGeom>
          <a:noFill/>
        </p:spPr>
        <p:txBody>
          <a:bodyPr wrap="none">
            <a:spAutoFit/>
          </a:bodyPr>
          <a:lstStyle/>
          <a:p>
            <a:pPr algn="ctr">
              <a:defRPr sz="900">
                <a:latin typeface="Arial"/>
              </a:defRPr>
            </a:pPr>
            <a:r>
              <a:t>T2</a:t>
            </a:r>
          </a:p>
        </p:txBody>
      </p:sp>
      <p:sp>
        <p:nvSpPr>
          <p:cNvPr id="11" name="Rectangle 10"/>
          <p:cNvSpPr/>
          <p:nvPr/>
        </p:nvSpPr>
        <p:spPr>
          <a:xfrm>
            <a:off x="7437120" y="2939796"/>
            <a:ext cx="2804160" cy="534924"/>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37120" y="2711196"/>
            <a:ext cx="2804160" cy="182880"/>
          </a:xfrm>
          <a:prstGeom prst="rect">
            <a:avLst/>
          </a:prstGeom>
          <a:noFill/>
        </p:spPr>
        <p:txBody>
          <a:bodyPr wrap="none">
            <a:spAutoFit/>
          </a:bodyPr>
          <a:lstStyle/>
          <a:p>
            <a:pPr algn="ctr">
              <a:defRPr sz="900" b="1">
                <a:latin typeface="Arial"/>
              </a:defRPr>
            </a:pPr>
            <a:r>
              <a:t>1.3x</a:t>
            </a:r>
          </a:p>
        </p:txBody>
      </p:sp>
      <p:sp>
        <p:nvSpPr>
          <p:cNvPr id="13" name="TextBox 12"/>
          <p:cNvSpPr txBox="1"/>
          <p:nvPr/>
        </p:nvSpPr>
        <p:spPr>
          <a:xfrm>
            <a:off x="7437120" y="3566160"/>
            <a:ext cx="2804160" cy="182880"/>
          </a:xfrm>
          <a:prstGeom prst="rect">
            <a:avLst/>
          </a:prstGeom>
          <a:noFill/>
        </p:spPr>
        <p:txBody>
          <a:bodyPr wrap="none">
            <a:spAutoFit/>
          </a:bodyPr>
          <a:lstStyle/>
          <a:p>
            <a:pPr algn="ctr">
              <a:defRPr sz="900">
                <a:latin typeface="Arial"/>
              </a:defRPr>
            </a:pPr>
            <a:r>
              <a:t>T3</a:t>
            </a:r>
          </a:p>
        </p:txBody>
      </p:sp>
      <p:graphicFrame>
        <p:nvGraphicFramePr>
          <p:cNvPr id="14" name="Table 13"/>
          <p:cNvGraphicFramePr>
            <a:graphicFrameLocks noGrp="1"/>
          </p:cNvGraphicFramePr>
          <p:nvPr/>
        </p:nvGraphicFramePr>
        <p:xfrm>
          <a:off x="365760" y="4389120"/>
          <a:ext cx="1188720" cy="1920240"/>
        </p:xfrm>
        <a:graphic>
          <a:graphicData uri="http://schemas.openxmlformats.org/drawingml/2006/table">
            <a:tbl>
              <a:tblPr firstRow="1" bandRow="1">
                <a:tableStyleId>{5C22544A-7EE6-4342-B048-85BDC9FD1C3A}</a:tableStyleId>
              </a:tblPr>
              <a:tblGrid>
                <a:gridCol w="1188720"/>
              </a:tblGrid>
              <a:tr h="274320">
                <a:tc>
                  <a:txBody>
                    <a:bodyPr/>
                    <a:lstStyle/>
                    <a:p>
                      <a:pPr algn="r">
                        <a:defRPr sz="1200" b="1">
                          <a:solidFill>
                            <a:srgbClr val="404040"/>
                          </a:solidFill>
                          <a:latin typeface="Arial"/>
                        </a:defRPr>
                      </a:pPr>
                      <a:r>
                        <a:t>Date</a:t>
                      </a:r>
                    </a:p>
                  </a:txBody>
                  <a:tcPr anchor="ctr">
                    <a:solidFill>
                      <a:srgbClr val="F0F0F0"/>
                    </a:solidFill>
                  </a:tcPr>
                </a:tc>
              </a:tr>
              <a:tr h="274320">
                <a:tc>
                  <a:txBody>
                    <a:bodyPr/>
                    <a:lstStyle/>
                    <a:p>
                      <a:pPr algn="r">
                        <a:defRPr sz="1200" b="1">
                          <a:solidFill>
                            <a:srgbClr val="404040"/>
                          </a:solidFill>
                          <a:latin typeface="Arial"/>
                        </a:defRPr>
                      </a:pPr>
                      <a:r>
                        <a:t>Target</a:t>
                      </a:r>
                    </a:p>
                  </a:txBody>
                  <a:tcPr anchor="ctr">
                    <a:solidFill>
                      <a:srgbClr val="F0F0F0"/>
                    </a:solidFill>
                  </a:tcPr>
                </a:tc>
              </a:tr>
              <a:tr h="274320">
                <a:tc>
                  <a:txBody>
                    <a:bodyPr/>
                    <a:lstStyle/>
                    <a:p>
                      <a:pPr algn="r">
                        <a:defRPr sz="1200" b="1">
                          <a:solidFill>
                            <a:srgbClr val="404040"/>
                          </a:solidFill>
                          <a:latin typeface="Arial"/>
                        </a:defRPr>
                      </a:pPr>
                      <a:r>
                        <a:t>Acquirer</a:t>
                      </a:r>
                    </a:p>
                  </a:txBody>
                  <a:tcPr anchor="ctr">
                    <a:solidFill>
                      <a:srgbClr val="F0F0F0"/>
                    </a:solidFill>
                  </a:tcPr>
                </a:tc>
              </a:tr>
              <a:tr h="274320">
                <a:tc>
                  <a:txBody>
                    <a:bodyPr/>
                    <a:lstStyle/>
                    <a:p>
                      <a:pPr algn="r">
                        <a:defRPr sz="1200" b="1">
                          <a:solidFill>
                            <a:srgbClr val="404040"/>
                          </a:solidFill>
                          <a:latin typeface="Arial"/>
                        </a:defRPr>
                      </a:pPr>
                      <a:r>
                        <a:t>Country</a:t>
                      </a:r>
                    </a:p>
                  </a:txBody>
                  <a:tcPr anchor="ctr">
                    <a:solidFill>
                      <a:srgbClr val="F0F0F0"/>
                    </a:solidFill>
                  </a:tcPr>
                </a:tc>
              </a:tr>
              <a:tr h="274320">
                <a:tc>
                  <a:txBody>
                    <a:bodyPr/>
                    <a:lstStyle/>
                    <a:p>
                      <a:pPr algn="r">
                        <a:defRPr sz="1200" b="1">
                          <a:solidFill>
                            <a:srgbClr val="404040"/>
                          </a:solidFill>
                          <a:latin typeface="Arial"/>
                        </a:defRPr>
                      </a:pPr>
                      <a:r>
                        <a:t>EV ($M)</a:t>
                      </a:r>
                    </a:p>
                  </a:txBody>
                  <a:tcPr anchor="ctr">
                    <a:solidFill>
                      <a:srgbClr val="F0F0F0"/>
                    </a:solidFill>
                  </a:tcPr>
                </a:tc>
              </a:tr>
              <a:tr h="274320">
                <a:tc>
                  <a:txBody>
                    <a:bodyPr/>
                    <a:lstStyle/>
                    <a:p>
                      <a:pPr algn="r">
                        <a:defRPr sz="1200" b="1">
                          <a:solidFill>
                            <a:srgbClr val="404040"/>
                          </a:solidFill>
                          <a:latin typeface="Arial"/>
                        </a:defRPr>
                      </a:pPr>
                      <a:r>
                        <a:t>Revenue ($M)</a:t>
                      </a:r>
                    </a:p>
                  </a:txBody>
                  <a:tcPr anchor="ctr">
                    <a:solidFill>
                      <a:srgbClr val="F0F0F0"/>
                    </a:solidFill>
                  </a:tcPr>
                </a:tc>
              </a:tr>
              <a:tr h="274320">
                <a:tc>
                  <a:txBody>
                    <a:bodyPr/>
                    <a:lstStyle/>
                    <a:p>
                      <a:pPr algn="r">
                        <a:defRPr sz="1200" b="1">
                          <a:solidFill>
                            <a:srgbClr val="404040"/>
                          </a:solidFill>
                          <a:latin typeface="Arial"/>
                        </a:defRPr>
                      </a:pPr>
                      <a:r>
                        <a:t>EV/Revenue</a:t>
                      </a:r>
                    </a:p>
                  </a:txBody>
                  <a:tcPr anchor="ctr">
                    <a:solidFill>
                      <a:srgbClr val="F0F0F0"/>
                    </a:solidFill>
                  </a:tcPr>
                </a:tc>
              </a:tr>
            </a:tbl>
          </a:graphicData>
        </a:graphic>
      </p:graphicFrame>
      <p:graphicFrame>
        <p:nvGraphicFramePr>
          <p:cNvPr id="15" name="Table 14"/>
          <p:cNvGraphicFramePr>
            <a:graphicFrameLocks noGrp="1"/>
          </p:cNvGraphicFramePr>
          <p:nvPr/>
        </p:nvGraphicFramePr>
        <p:xfrm>
          <a:off x="1600200" y="4389120"/>
          <a:ext cx="8686800" cy="1920240"/>
        </p:xfrm>
        <a:graphic>
          <a:graphicData uri="http://schemas.openxmlformats.org/drawingml/2006/table">
            <a:tbl>
              <a:tblPr firstRow="1" bandRow="1">
                <a:tableStyleId>{5C22544A-7EE6-4342-B048-85BDC9FD1C3A}</a:tableStyleId>
              </a:tblPr>
              <a:tblGrid>
                <a:gridCol w="2895600"/>
                <a:gridCol w="2895600"/>
                <a:gridCol w="2895600"/>
              </a:tblGrid>
              <a:tr h="274320">
                <a:tc>
                  <a:txBody>
                    <a:bodyPr/>
                    <a:lstStyle/>
                    <a:p>
                      <a:pPr algn="ctr">
                        <a:defRPr sz="900">
                          <a:solidFill>
                            <a:srgbClr val="404040"/>
                          </a:solidFill>
                          <a:latin typeface="Arial"/>
                        </a:defRPr>
                      </a:pPr>
                      <a:r>
                        <a:t>Sep 2025</a:t>
                      </a:r>
                    </a:p>
                  </a:txBody>
                  <a:tcPr anchor="ctr">
                    <a:solidFill>
                      <a:srgbClr val="FFFFFF"/>
                    </a:solidFill>
                  </a:tcPr>
                </a:tc>
                <a:tc>
                  <a:txBody>
                    <a:bodyPr/>
                    <a:lstStyle/>
                    <a:p>
                      <a:pPr algn="ctr">
                        <a:defRPr sz="900">
                          <a:solidFill>
                            <a:srgbClr val="404040"/>
                          </a:solidFill>
                          <a:latin typeface="Arial"/>
                        </a:defRPr>
                      </a:pPr>
                      <a:r>
                        <a:t>2020</a:t>
                      </a:r>
                    </a:p>
                  </a:txBody>
                  <a:tcPr anchor="ctr">
                    <a:solidFill>
                      <a:srgbClr val="FFFFFF"/>
                    </a:solidFill>
                  </a:tcPr>
                </a:tc>
                <a:tc>
                  <a:txBody>
                    <a:bodyPr/>
                    <a:lstStyle/>
                    <a:p>
                      <a:pPr algn="ctr">
                        <a:defRPr sz="900">
                          <a:solidFill>
                            <a:srgbClr val="404040"/>
                          </a:solidFill>
                          <a:latin typeface="Arial"/>
                        </a:defRPr>
                      </a:pPr>
                      <a:r>
                        <a:t>2023-2025</a:t>
                      </a:r>
                    </a:p>
                  </a:txBody>
                  <a:tcPr anchor="ctr">
                    <a:solidFill>
                      <a:srgbClr val="FFFFFF"/>
                    </a:solidFill>
                  </a:tcPr>
                </a:tc>
              </a:tr>
              <a:tr h="274320">
                <a:tc>
                  <a:txBody>
                    <a:bodyPr/>
                    <a:lstStyle/>
                    <a:p>
                      <a:pPr algn="ctr">
                        <a:defRPr sz="900">
                          <a:solidFill>
                            <a:srgbClr val="404040"/>
                          </a:solidFill>
                          <a:latin typeface="Arial"/>
                        </a:defRPr>
                      </a:pPr>
                      <a:r>
                        <a:t>Boboli Benelux ...</a:t>
                      </a:r>
                    </a:p>
                  </a:txBody>
                  <a:tcPr anchor="ctr">
                    <a:solidFill>
                      <a:srgbClr val="FFFFFF"/>
                    </a:solidFill>
                  </a:tcPr>
                </a:tc>
                <a:tc>
                  <a:txBody>
                    <a:bodyPr/>
                    <a:lstStyle/>
                    <a:p>
                      <a:pPr algn="ctr">
                        <a:defRPr sz="900">
                          <a:solidFill>
                            <a:srgbClr val="404040"/>
                          </a:solidFill>
                          <a:latin typeface="Arial"/>
                        </a:defRPr>
                      </a:pPr>
                      <a:r>
                        <a:t>BreadTalk Group...</a:t>
                      </a:r>
                    </a:p>
                  </a:txBody>
                  <a:tcPr anchor="ctr">
                    <a:solidFill>
                      <a:srgbClr val="FFFFFF"/>
                    </a:solidFill>
                  </a:tcPr>
                </a:tc>
                <a:tc>
                  <a:txBody>
                    <a:bodyPr/>
                    <a:lstStyle/>
                    <a:p>
                      <a:pPr algn="ctr">
                        <a:defRPr sz="900">
                          <a:solidFill>
                            <a:srgbClr val="404040"/>
                          </a:solidFill>
                          <a:latin typeface="Arial"/>
                        </a:defRPr>
                      </a:pPr>
                      <a:r>
                        <a:t>PT Nippon Indos...</a:t>
                      </a:r>
                    </a:p>
                  </a:txBody>
                  <a:tcPr anchor="ctr">
                    <a:solidFill>
                      <a:srgbClr val="FFFFFF"/>
                    </a:solidFill>
                  </a:tcPr>
                </a:tc>
              </a:tr>
              <a:tr h="274320">
                <a:tc>
                  <a:txBody>
                    <a:bodyPr/>
                    <a:lstStyle/>
                    <a:p>
                      <a:pPr algn="ctr">
                        <a:defRPr sz="900">
                          <a:solidFill>
                            <a:srgbClr val="404040"/>
                          </a:solidFill>
                          <a:latin typeface="Arial"/>
                        </a:defRPr>
                      </a:pPr>
                      <a:r>
                        <a:t>Lantmännen Unib...</a:t>
                      </a:r>
                    </a:p>
                  </a:txBody>
                  <a:tcPr anchor="ctr">
                    <a:solidFill>
                      <a:srgbClr val="FFFFFF"/>
                    </a:solidFill>
                  </a:tcPr>
                </a:tc>
                <a:tc>
                  <a:txBody>
                    <a:bodyPr/>
                    <a:lstStyle/>
                    <a:p>
                      <a:pPr algn="ctr">
                        <a:defRPr sz="900">
                          <a:solidFill>
                            <a:srgbClr val="404040"/>
                          </a:solidFill>
                          <a:latin typeface="Arial"/>
                        </a:defRPr>
                      </a:pPr>
                      <a:r>
                        <a:t>Various (SGX de...</a:t>
                      </a:r>
                    </a:p>
                  </a:txBody>
                  <a:tcPr anchor="ctr">
                    <a:solidFill>
                      <a:srgbClr val="FFFFFF"/>
                    </a:solidFill>
                  </a:tcPr>
                </a:tc>
                <a:tc>
                  <a:txBody>
                    <a:bodyPr/>
                    <a:lstStyle/>
                    <a:p>
                      <a:pPr algn="ctr">
                        <a:defRPr sz="900">
                          <a:solidFill>
                            <a:srgbClr val="404040"/>
                          </a:solidFill>
                          <a:latin typeface="Arial"/>
                        </a:defRPr>
                      </a:pPr>
                      <a:r>
                        <a:t>Public</a:t>
                      </a:r>
                    </a:p>
                  </a:txBody>
                  <a:tcPr anchor="ctr">
                    <a:solidFill>
                      <a:srgbClr val="FFFFFF"/>
                    </a:solidFill>
                  </a:tcPr>
                </a:tc>
              </a:tr>
              <a:tr h="274320">
                <a:tc>
                  <a:txBody>
                    <a:bodyPr/>
                    <a:lstStyle/>
                    <a:p>
                      <a:pPr algn="ctr">
                        <a:defRPr sz="900">
                          <a:solidFill>
                            <a:srgbClr val="404040"/>
                          </a:solidFill>
                          <a:latin typeface="Arial"/>
                        </a:defRPr>
                      </a:pPr>
                      <a:r>
                        <a:t>Netherlands</a:t>
                      </a:r>
                    </a:p>
                  </a:txBody>
                  <a:tcPr anchor="ctr">
                    <a:solidFill>
                      <a:srgbClr val="FFFFFF"/>
                    </a:solidFill>
                  </a:tcPr>
                </a:tc>
                <a:tc>
                  <a:txBody>
                    <a:bodyPr/>
                    <a:lstStyle/>
                    <a:p>
                      <a:pPr algn="ctr">
                        <a:defRPr sz="900">
                          <a:solidFill>
                            <a:srgbClr val="404040"/>
                          </a:solidFill>
                          <a:latin typeface="Arial"/>
                        </a:defRPr>
                      </a:pPr>
                      <a:r>
                        <a:t>Singapore</a:t>
                      </a:r>
                    </a:p>
                  </a:txBody>
                  <a:tcPr anchor="ctr">
                    <a:solidFill>
                      <a:srgbClr val="FFFFFF"/>
                    </a:solidFill>
                  </a:tcPr>
                </a:tc>
                <a:tc>
                  <a:txBody>
                    <a:bodyPr/>
                    <a:lstStyle/>
                    <a:p>
                      <a:pPr algn="ctr">
                        <a:defRPr sz="900">
                          <a:solidFill>
                            <a:srgbClr val="404040"/>
                          </a:solidFill>
                          <a:latin typeface="Arial"/>
                        </a:defRPr>
                      </a:pPr>
                      <a:r>
                        <a:t>Indonesia</a:t>
                      </a:r>
                    </a:p>
                  </a:txBody>
                  <a:tcPr anchor="ctr">
                    <a:solidFill>
                      <a:srgbClr val="FFFFFF"/>
                    </a:solidFill>
                  </a:tcPr>
                </a:tc>
              </a:tr>
              <a:tr h="274320">
                <a:tc>
                  <a:txBody>
                    <a:bodyPr/>
                    <a:lstStyle/>
                    <a:p>
                      <a:pPr algn="ctr">
                        <a:defRPr sz="900">
                          <a:solidFill>
                            <a:srgbClr val="404040"/>
                          </a:solidFill>
                          <a:latin typeface="Arial"/>
                        </a:defRPr>
                      </a:pPr>
                      <a:r>
                        <a:t>$130</a:t>
                      </a:r>
                    </a:p>
                  </a:txBody>
                  <a:tcPr anchor="ctr">
                    <a:solidFill>
                      <a:srgbClr val="FFFFFF"/>
                    </a:solidFill>
                  </a:tcPr>
                </a:tc>
                <a:tc>
                  <a:txBody>
                    <a:bodyPr/>
                    <a:lstStyle/>
                    <a:p>
                      <a:pPr algn="ctr">
                        <a:defRPr sz="900">
                          <a:solidFill>
                            <a:srgbClr val="404040"/>
                          </a:solidFill>
                          <a:latin typeface="Arial"/>
                        </a:defRPr>
                      </a:pPr>
                      <a:r>
                        <a:t>$350</a:t>
                      </a:r>
                    </a:p>
                  </a:txBody>
                  <a:tcPr anchor="ctr">
                    <a:solidFill>
                      <a:srgbClr val="FFFFFF"/>
                    </a:solidFill>
                  </a:tcPr>
                </a:tc>
                <a:tc>
                  <a:txBody>
                    <a:bodyPr/>
                    <a:lstStyle/>
                    <a:p>
                      <a:pPr algn="ctr">
                        <a:defRPr sz="900">
                          <a:solidFill>
                            <a:srgbClr val="404040"/>
                          </a:solidFill>
                          <a:latin typeface="Arial"/>
                        </a:defRPr>
                      </a:pPr>
                      <a:r>
                        <a:t>$470</a:t>
                      </a:r>
                    </a:p>
                  </a:txBody>
                  <a:tcPr anchor="ctr">
                    <a:solidFill>
                      <a:srgbClr val="FFFFFF"/>
                    </a:solidFill>
                  </a:tcPr>
                </a:tc>
              </a:tr>
              <a:tr h="274320">
                <a:tc>
                  <a:txBody>
                    <a:bodyPr/>
                    <a:lstStyle/>
                    <a:p>
                      <a:pPr algn="ctr">
                        <a:defRPr sz="900">
                          <a:solidFill>
                            <a:srgbClr val="404040"/>
                          </a:solidFill>
                          <a:latin typeface="Arial"/>
                        </a:defRPr>
                      </a:pPr>
                      <a:r>
                        <a:t>$60</a:t>
                      </a:r>
                    </a:p>
                  </a:txBody>
                  <a:tcPr anchor="ctr">
                    <a:solidFill>
                      <a:srgbClr val="FFFFFF"/>
                    </a:solidFill>
                  </a:tcPr>
                </a:tc>
                <a:tc>
                  <a:txBody>
                    <a:bodyPr/>
                    <a:lstStyle/>
                    <a:p>
                      <a:pPr algn="ctr">
                        <a:defRPr sz="900">
                          <a:solidFill>
                            <a:srgbClr val="404040"/>
                          </a:solidFill>
                          <a:latin typeface="Arial"/>
                        </a:defRPr>
                      </a:pPr>
                      <a:r>
                        <a:t>$175</a:t>
                      </a:r>
                    </a:p>
                  </a:txBody>
                  <a:tcPr anchor="ctr">
                    <a:solidFill>
                      <a:srgbClr val="FFFFFF"/>
                    </a:solidFill>
                  </a:tcPr>
                </a:tc>
                <a:tc>
                  <a:txBody>
                    <a:bodyPr/>
                    <a:lstStyle/>
                    <a:p>
                      <a:pPr algn="ctr">
                        <a:defRPr sz="900">
                          <a:solidFill>
                            <a:srgbClr val="404040"/>
                          </a:solidFill>
                          <a:latin typeface="Arial"/>
                        </a:defRPr>
                      </a:pPr>
                      <a:r>
                        <a:t>$350</a:t>
                      </a:r>
                    </a:p>
                  </a:txBody>
                  <a:tcPr anchor="ctr">
                    <a:solidFill>
                      <a:srgbClr val="FFFFFF"/>
                    </a:solidFill>
                  </a:tcPr>
                </a:tc>
              </a:tr>
              <a:tr h="274320">
                <a:tc>
                  <a:txBody>
                    <a:bodyPr/>
                    <a:lstStyle/>
                    <a:p>
                      <a:pPr algn="ctr">
                        <a:defRPr sz="900">
                          <a:solidFill>
                            <a:srgbClr val="404040"/>
                          </a:solidFill>
                          <a:latin typeface="Arial"/>
                        </a:defRPr>
                      </a:pPr>
                      <a:r>
                        <a:t>2.2x</a:t>
                      </a:r>
                    </a:p>
                  </a:txBody>
                  <a:tcPr anchor="ctr">
                    <a:solidFill>
                      <a:srgbClr val="FFFFFF"/>
                    </a:solidFill>
                  </a:tcPr>
                </a:tc>
                <a:tc>
                  <a:txBody>
                    <a:bodyPr/>
                    <a:lstStyle/>
                    <a:p>
                      <a:pPr algn="ctr">
                        <a:defRPr sz="900">
                          <a:solidFill>
                            <a:srgbClr val="404040"/>
                          </a:solidFill>
                          <a:latin typeface="Arial"/>
                        </a:defRPr>
                      </a:pPr>
                      <a:r>
                        <a:t>2.0x</a:t>
                      </a:r>
                    </a:p>
                  </a:txBody>
                  <a:tcPr anchor="ctr">
                    <a:solidFill>
                      <a:srgbClr val="FFFFFF"/>
                    </a:solidFill>
                  </a:tcPr>
                </a:tc>
                <a:tc>
                  <a:txBody>
                    <a:bodyPr/>
                    <a:lstStyle/>
                    <a:p>
                      <a:pPr algn="ctr">
                        <a:defRPr sz="900">
                          <a:solidFill>
                            <a:srgbClr val="404040"/>
                          </a:solidFill>
                          <a:latin typeface="Arial"/>
                        </a:defRPr>
                      </a:pPr>
                      <a:r>
                        <a:t>1.3x</a:t>
                      </a:r>
                    </a:p>
                  </a:txBody>
                  <a:tcPr anchor="ctr">
                    <a:solidFill>
                      <a:srgbClr val="FFFFFF"/>
                    </a:solidFill>
                  </a:tcPr>
                </a:tc>
              </a:tr>
            </a:tbl>
          </a:graphicData>
        </a:graphic>
      </p:graphicFrame>
      <p:sp>
        <p:nvSpPr>
          <p:cNvPr id="16" name="TextBox 15"/>
          <p:cNvSpPr txBox="1"/>
          <p:nvPr/>
        </p:nvSpPr>
        <p:spPr>
          <a:xfrm>
            <a:off x="457200" y="6400800"/>
            <a:ext cx="5486400" cy="365760"/>
          </a:xfrm>
          <a:prstGeom prst="rect">
            <a:avLst/>
          </a:prstGeom>
          <a:noFill/>
        </p:spPr>
        <p:txBody>
          <a:bodyPr wrap="none">
            <a:spAutoFit/>
          </a:bodyPr>
          <a:lstStyle/>
          <a:p>
            <a:pPr>
              <a:defRPr sz="900">
                <a:solidFill>
                  <a:srgbClr val="808080"/>
                </a:solidFill>
                <a:latin typeface="Arial"/>
              </a:defRPr>
            </a:pPr>
            <a:r>
              <a:t>Confidential | September 2025</a:t>
            </a:r>
          </a:p>
        </p:txBody>
      </p:sp>
      <p:sp>
        <p:nvSpPr>
          <p:cNvPr id="17" name="TextBox 16"/>
          <p:cNvSpPr txBox="1"/>
          <p:nvPr/>
        </p:nvSpPr>
        <p:spPr>
          <a:xfrm>
            <a:off x="6705295" y="6400800"/>
            <a:ext cx="5486400" cy="365760"/>
          </a:xfrm>
          <a:prstGeom prst="rect">
            <a:avLst/>
          </a:prstGeom>
          <a:noFill/>
        </p:spPr>
        <p:txBody>
          <a:bodyPr wrap="none">
            <a:spAutoFit/>
          </a:bodyPr>
          <a:lstStyle/>
          <a:p>
            <a:pPr algn="r">
              <a:defRPr sz="900">
                <a:solidFill>
                  <a:srgbClr val="808080"/>
                </a:solidFill>
                <a:latin typeface="Arial"/>
              </a:defRPr>
            </a:pPr>
            <a:r>
              <a:t>Moelis &amp; Company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Margin &amp; Cost Resilience</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5486400" cy="274320"/>
          </a:xfrm>
          <a:prstGeom prst="rect">
            <a:avLst/>
          </a:prstGeom>
          <a:noFill/>
          <a:ln>
            <a:noFill/>
          </a:ln>
          <a:effectLst/>
        </p:spPr>
        <p:txBody>
          <a:bodyPr wrap="square">
            <a:spAutoFit/>
          </a:bodyPr>
          <a:lstStyle/>
          <a:p>
            <a:pPr algn="l"/>
            <a:r>
              <a:rPr sz="1400" b="1">
                <a:solidFill>
                  <a:srgbClr val="183A58"/>
                </a:solidFill>
                <a:latin typeface="Arial"/>
              </a:rPr>
              <a:t>EBITDA Margins by Channel (2024)</a:t>
            </a:r>
          </a:p>
        </p:txBody>
      </p:sp>
      <p:graphicFrame>
        <p:nvGraphicFramePr>
          <p:cNvPr id="5" name="Chart 4"/>
          <p:cNvGraphicFramePr>
            <a:graphicFrameLocks noGrp="1"/>
          </p:cNvGraphicFramePr>
          <p:nvPr/>
        </p:nvGraphicFramePr>
        <p:xfrm>
          <a:off x="914400" y="1645920"/>
          <a:ext cx="5486400" cy="2011680"/>
        </p:xfrm>
        <a:graphic>
          <a:graphicData uri="http://schemas.openxmlformats.org/drawingml/2006/chart">
            <c:chart xmlns:c="http://schemas.openxmlformats.org/drawingml/2006/chart" r:id="rId2"/>
          </a:graphicData>
        </a:graphic>
      </p:graphicFrame>
      <p:sp>
        <p:nvSpPr>
          <p:cNvPr id="6" name="TextBox 5"/>
          <p:cNvSpPr txBox="1"/>
          <p:nvPr/>
        </p:nvSpPr>
        <p:spPr>
          <a:xfrm>
            <a:off x="4572000" y="3749039"/>
            <a:ext cx="2286000" cy="137160"/>
          </a:xfrm>
          <a:prstGeom prst="rect">
            <a:avLst/>
          </a:prstGeom>
          <a:noFill/>
          <a:ln>
            <a:noFill/>
          </a:ln>
          <a:effectLst/>
        </p:spPr>
        <p:txBody>
          <a:bodyPr wrap="square">
            <a:spAutoFit/>
          </a:bodyPr>
          <a:lstStyle/>
          <a:p>
            <a:pPr algn="r"/>
            <a:r>
              <a:rPr sz="800" b="0">
                <a:solidFill>
                  <a:srgbClr val="404040"/>
                </a:solidFill>
                <a:latin typeface="Arial"/>
              </a:rPr>
              <a:t>Source: Company financials</a:t>
            </a:r>
          </a:p>
        </p:txBody>
      </p:sp>
      <p:sp>
        <p:nvSpPr>
          <p:cNvPr id="7" name="TextBox 6"/>
          <p:cNvSpPr txBox="1"/>
          <p:nvPr/>
        </p:nvSpPr>
        <p:spPr>
          <a:xfrm>
            <a:off x="914400" y="4023360"/>
            <a:ext cx="5486400" cy="274320"/>
          </a:xfrm>
          <a:prstGeom prst="rect">
            <a:avLst/>
          </a:prstGeom>
          <a:noFill/>
          <a:ln>
            <a:noFill/>
          </a:ln>
          <a:effectLst/>
        </p:spPr>
        <p:txBody>
          <a:bodyPr wrap="square">
            <a:spAutoFit/>
          </a:bodyPr>
          <a:lstStyle/>
          <a:p>
            <a:pPr algn="l"/>
            <a:r>
              <a:rPr sz="1400" b="1">
                <a:solidFill>
                  <a:srgbClr val="183A58"/>
                </a:solidFill>
                <a:latin typeface="Arial"/>
              </a:rPr>
              <a:t>Cost Management &amp; Efficiency Initiatives</a:t>
            </a:r>
          </a:p>
        </p:txBody>
      </p:sp>
      <p:sp>
        <p:nvSpPr>
          <p:cNvPr id="8" name="Oval 7"/>
          <p:cNvSpPr/>
          <p:nvPr/>
        </p:nvSpPr>
        <p:spPr>
          <a:xfrm>
            <a:off x="1097280" y="438912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4343400"/>
            <a:ext cx="5029200" cy="137160"/>
          </a:xfrm>
          <a:prstGeom prst="rect">
            <a:avLst/>
          </a:prstGeom>
          <a:noFill/>
          <a:ln>
            <a:noFill/>
          </a:ln>
          <a:effectLst/>
        </p:spPr>
        <p:txBody>
          <a:bodyPr wrap="square">
            <a:spAutoFit/>
          </a:bodyPr>
          <a:lstStyle/>
          <a:p>
            <a:pPr algn="l"/>
            <a:r>
              <a:rPr sz="1000" b="1">
                <a:solidFill>
                  <a:srgbClr val="183A58"/>
                </a:solidFill>
                <a:latin typeface="Arial"/>
              </a:rPr>
              <a:t>Centralized Production &amp; Supply Chain</a:t>
            </a:r>
          </a:p>
        </p:txBody>
      </p:sp>
      <p:sp>
        <p:nvSpPr>
          <p:cNvPr id="10" name="TextBox 9"/>
          <p:cNvSpPr txBox="1"/>
          <p:nvPr/>
        </p:nvSpPr>
        <p:spPr>
          <a:xfrm>
            <a:off x="1234440" y="4480560"/>
            <a:ext cx="5029200" cy="256032"/>
          </a:xfrm>
          <a:prstGeom prst="rect">
            <a:avLst/>
          </a:prstGeom>
          <a:noFill/>
          <a:ln>
            <a:noFill/>
          </a:ln>
          <a:effectLst/>
        </p:spPr>
        <p:txBody>
          <a:bodyPr wrap="square">
            <a:spAutoFit/>
          </a:bodyPr>
          <a:lstStyle/>
          <a:p>
            <a:pPr algn="l"/>
            <a:r>
              <a:rPr sz="900" b="0">
                <a:solidFill>
                  <a:srgbClr val="404040"/>
                </a:solidFill>
                <a:latin typeface="Arial"/>
              </a:rPr>
              <a:t>Leverage DailyCo’s centralized food production and logistics for operational efficiency and scale economies.</a:t>
            </a:r>
          </a:p>
        </p:txBody>
      </p:sp>
      <p:sp>
        <p:nvSpPr>
          <p:cNvPr id="11" name="Oval 10"/>
          <p:cNvSpPr/>
          <p:nvPr/>
        </p:nvSpPr>
        <p:spPr>
          <a:xfrm>
            <a:off x="1097280" y="480060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4754880"/>
            <a:ext cx="5029200" cy="137160"/>
          </a:xfrm>
          <a:prstGeom prst="rect">
            <a:avLst/>
          </a:prstGeom>
          <a:noFill/>
          <a:ln>
            <a:noFill/>
          </a:ln>
          <a:effectLst/>
        </p:spPr>
        <p:txBody>
          <a:bodyPr wrap="square">
            <a:spAutoFit/>
          </a:bodyPr>
          <a:lstStyle/>
          <a:p>
            <a:pPr algn="l"/>
            <a:r>
              <a:rPr sz="1000" b="1">
                <a:solidFill>
                  <a:srgbClr val="183A58"/>
                </a:solidFill>
                <a:latin typeface="Arial"/>
              </a:rPr>
              <a:t>Layered Pricing &amp; Product Strategy</a:t>
            </a:r>
          </a:p>
        </p:txBody>
      </p:sp>
      <p:sp>
        <p:nvSpPr>
          <p:cNvPr id="13" name="TextBox 12"/>
          <p:cNvSpPr txBox="1"/>
          <p:nvPr/>
        </p:nvSpPr>
        <p:spPr>
          <a:xfrm>
            <a:off x="1234440" y="4892040"/>
            <a:ext cx="5029200" cy="256032"/>
          </a:xfrm>
          <a:prstGeom prst="rect">
            <a:avLst/>
          </a:prstGeom>
          <a:noFill/>
          <a:ln>
            <a:noFill/>
          </a:ln>
          <a:effectLst/>
        </p:spPr>
        <p:txBody>
          <a:bodyPr wrap="square">
            <a:spAutoFit/>
          </a:bodyPr>
          <a:lstStyle/>
          <a:p>
            <a:pPr algn="l"/>
            <a:r>
              <a:rPr sz="900" b="0">
                <a:solidFill>
                  <a:srgbClr val="404040"/>
                </a:solidFill>
                <a:latin typeface="Arial"/>
              </a:rPr>
              <a:t>Target both mass-market and premium consumers with a multi-brand, multi-price approach.</a:t>
            </a:r>
          </a:p>
        </p:txBody>
      </p:sp>
      <p:sp>
        <p:nvSpPr>
          <p:cNvPr id="14" name="Oval 13"/>
          <p:cNvSpPr/>
          <p:nvPr/>
        </p:nvSpPr>
        <p:spPr>
          <a:xfrm>
            <a:off x="1097280" y="5212080"/>
            <a:ext cx="54864" cy="54864"/>
          </a:xfrm>
          <a:prstGeom prst="ellipse">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5166360"/>
            <a:ext cx="5029200" cy="137160"/>
          </a:xfrm>
          <a:prstGeom prst="rect">
            <a:avLst/>
          </a:prstGeom>
          <a:noFill/>
          <a:ln>
            <a:noFill/>
          </a:ln>
          <a:effectLst/>
        </p:spPr>
        <p:txBody>
          <a:bodyPr wrap="square">
            <a:spAutoFit/>
          </a:bodyPr>
          <a:lstStyle/>
          <a:p>
            <a:pPr algn="l"/>
            <a:r>
              <a:rPr sz="1000" b="1">
                <a:solidFill>
                  <a:srgbClr val="183A58"/>
                </a:solidFill>
                <a:latin typeface="Arial"/>
              </a:rPr>
              <a:t>Tech-Enabled Operations</a:t>
            </a:r>
          </a:p>
        </p:txBody>
      </p:sp>
      <p:sp>
        <p:nvSpPr>
          <p:cNvPr id="16" name="TextBox 15"/>
          <p:cNvSpPr txBox="1"/>
          <p:nvPr/>
        </p:nvSpPr>
        <p:spPr>
          <a:xfrm>
            <a:off x="1234440" y="5303520"/>
            <a:ext cx="5029200" cy="256032"/>
          </a:xfrm>
          <a:prstGeom prst="rect">
            <a:avLst/>
          </a:prstGeom>
          <a:noFill/>
          <a:ln>
            <a:noFill/>
          </a:ln>
          <a:effectLst/>
        </p:spPr>
        <p:txBody>
          <a:bodyPr wrap="square">
            <a:spAutoFit/>
          </a:bodyPr>
          <a:lstStyle/>
          <a:p>
            <a:pPr algn="l"/>
            <a:r>
              <a:rPr sz="900" b="0">
                <a:solidFill>
                  <a:srgbClr val="404040"/>
                </a:solidFill>
                <a:latin typeface="Arial"/>
              </a:rPr>
              <a:t>Digital platforms, ERP, and working capital management for cost control and resource optimization.</a:t>
            </a:r>
          </a:p>
        </p:txBody>
      </p:sp>
      <p:sp>
        <p:nvSpPr>
          <p:cNvPr id="17" name="TextBox 16"/>
          <p:cNvSpPr txBox="1"/>
          <p:nvPr/>
        </p:nvSpPr>
        <p:spPr>
          <a:xfrm>
            <a:off x="7315200" y="1280160"/>
            <a:ext cx="4572000" cy="274320"/>
          </a:xfrm>
          <a:prstGeom prst="rect">
            <a:avLst/>
          </a:prstGeom>
          <a:noFill/>
          <a:ln>
            <a:noFill/>
          </a:ln>
          <a:effectLst/>
        </p:spPr>
        <p:txBody>
          <a:bodyPr wrap="square">
            <a:spAutoFit/>
          </a:bodyPr>
          <a:lstStyle/>
          <a:p>
            <a:pPr algn="l"/>
            <a:r>
              <a:rPr sz="1400" b="1">
                <a:solidFill>
                  <a:srgbClr val="183A58"/>
                </a:solidFill>
                <a:latin typeface="Arial"/>
              </a:rPr>
              <a:t>Risk Mitigation Strategies</a:t>
            </a:r>
          </a:p>
        </p:txBody>
      </p:sp>
      <p:sp>
        <p:nvSpPr>
          <p:cNvPr id="18" name="Rectangle 17"/>
          <p:cNvSpPr/>
          <p:nvPr/>
        </p:nvSpPr>
        <p:spPr>
          <a:xfrm>
            <a:off x="7315200" y="1645920"/>
            <a:ext cx="4572000" cy="164592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1645920"/>
            <a:ext cx="91440" cy="1645920"/>
          </a:xfrm>
          <a:prstGeom prst="rect">
            <a:avLst/>
          </a:prstGeom>
          <a:solidFill>
            <a:srgbClr val="B59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31520"/>
            <a:ext cx="10515600" cy="1371600"/>
          </a:xfrm>
          <a:prstGeom prst="rect">
            <a:avLst/>
          </a:prstGeom>
          <a:noFill/>
        </p:spPr>
        <p:txBody>
          <a:bodyPr wrap="none">
            <a:spAutoFit/>
          </a:bodyPr>
          <a:lstStyle/>
          <a:p>
            <a:pPr algn="l"/>
            <a:r>
              <a:rPr sz="1400"/>
              <a:t>Renderer error: 'str' object has no attribute 'get'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SEA Conglomerate Strategic Buyers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277295" cy="4572000"/>
        </p:xfrm>
        <a:graphic>
          <a:graphicData uri="http://schemas.openxmlformats.org/drawingml/2006/table">
            <a:tbl>
              <a:tblPr firstRow="1" bandRow="1">
                <a:tableStyleId>{5C22544A-7EE6-4342-B048-85BDC9FD1C3A}</a:tableStyleId>
              </a:tblPr>
              <a:tblGrid>
                <a:gridCol w="1645920"/>
                <a:gridCol w="914400"/>
                <a:gridCol w="3840480"/>
                <a:gridCol w="2011680"/>
                <a:gridCol w="1645920"/>
                <a:gridCol w="1218895"/>
              </a:tblGrid>
              <a:tr h="548640">
                <a:tc>
                  <a:txBody>
                    <a:bodyPr/>
                    <a:lstStyle/>
                    <a:p>
                      <a:pPr algn="ctr">
                        <a:defRPr sz="1400" b="1">
                          <a:solidFill>
                            <a:srgbClr val="FFFFFF"/>
                          </a:solidFill>
                          <a:latin typeface="Arial"/>
                        </a:defRPr>
                      </a:pPr>
                      <a:r>
                        <a:t>Name</a:t>
                      </a:r>
                    </a:p>
                  </a:txBody>
                  <a:tcPr>
                    <a:solidFill>
                      <a:srgbClr val="183A58"/>
                    </a:solidFill>
                  </a:tcPr>
                </a:tc>
                <a:tc>
                  <a:txBody>
                    <a:bodyPr/>
                    <a:lstStyle/>
                    <a:p>
                      <a:pPr algn="ctr">
                        <a:defRPr sz="1400" b="1">
                          <a:solidFill>
                            <a:srgbClr val="FFFFFF"/>
                          </a:solidFill>
                          <a:latin typeface="Arial"/>
                        </a:defRPr>
                      </a:pPr>
                      <a:r>
                        <a:t>Country</a:t>
                      </a:r>
                    </a:p>
                  </a:txBody>
                  <a:tcPr>
                    <a:solidFill>
                      <a:srgbClr val="183A58"/>
                    </a:solidFill>
                  </a:tcPr>
                </a:tc>
                <a:tc>
                  <a:txBody>
                    <a:bodyPr/>
                    <a:lstStyle/>
                    <a:p>
                      <a:pPr algn="ctr">
                        <a:defRPr sz="1400" b="1">
                          <a:solidFill>
                            <a:srgbClr val="FFFFFF"/>
                          </a:solidFill>
                          <a:latin typeface="Arial"/>
                        </a:defRPr>
                      </a:pPr>
                      <a:r>
                        <a:t>Description</a:t>
                      </a:r>
                    </a:p>
                  </a:txBody>
                  <a:tcPr>
                    <a:solidFill>
                      <a:srgbClr val="183A58"/>
                    </a:solidFill>
                  </a:tcPr>
                </a:tc>
                <a:tc>
                  <a:txBody>
                    <a:bodyPr/>
                    <a:lstStyle/>
                    <a:p>
                      <a:pPr algn="ctr">
                        <a:defRPr sz="1400" b="1">
                          <a:solidFill>
                            <a:srgbClr val="FFFFFF"/>
                          </a:solidFill>
                          <a:latin typeface="Arial"/>
                        </a:defRPr>
                      </a:pPr>
                      <a:r>
                        <a:t>Key shareholders</a:t>
                      </a:r>
                    </a:p>
                  </a:txBody>
                  <a:tcPr>
                    <a:solidFill>
                      <a:srgbClr val="183A58"/>
                    </a:solidFill>
                  </a:tcPr>
                </a:tc>
                <a:tc>
                  <a:txBody>
                    <a:bodyPr/>
                    <a:lstStyle/>
                    <a:p>
                      <a:pPr algn="ctr">
                        <a:defRPr sz="1400" b="1">
                          <a:solidFill>
                            <a:srgbClr val="FFFFFF"/>
                          </a:solidFill>
                          <a:latin typeface="Arial"/>
                        </a:defRPr>
                      </a:pPr>
                      <a:r>
                        <a:t>Key financials (US$m)</a:t>
                      </a:r>
                    </a:p>
                  </a:txBody>
                  <a:tcPr>
                    <a:solidFill>
                      <a:srgbClr val="183A58"/>
                    </a:solidFill>
                  </a:tcPr>
                </a:tc>
                <a:tc>
                  <a:txBody>
                    <a:bodyPr/>
                    <a:lstStyle/>
                    <a:p>
                      <a:pPr algn="ctr">
                        <a:defRPr sz="1400" b="1">
                          <a:solidFill>
                            <a:srgbClr val="FFFFFF"/>
                          </a:solidFill>
                          <a:latin typeface="Arial"/>
                        </a:defRPr>
                      </a:pPr>
                      <a:r>
                        <a:t>Moelis contact</a:t>
                      </a:r>
                    </a:p>
                  </a:txBody>
                  <a:tcPr>
                    <a:solidFill>
                      <a:srgbClr val="183A58"/>
                    </a:solidFill>
                  </a:tcPr>
                </a:tc>
              </a:tr>
              <a:tr h="1005840">
                <a:tc>
                  <a:txBody>
                    <a:bodyPr wrap="square"/>
                    <a:lstStyle/>
                    <a:p>
                      <a:pPr algn="l">
                        <a:defRPr sz="1100" b="0">
                          <a:solidFill>
                            <a:srgbClr val="404040"/>
                          </a:solidFill>
                          <a:latin typeface="Arial"/>
                        </a:defRPr>
                      </a:pPr>
                      <a:r>
                        <a:t>Ayala Corporation</a:t>
                      </a:r>
                    </a:p>
                  </a:txBody>
                  <a:tcPr>
                    <a:solidFill>
                      <a:srgbClr val="FFFFFF"/>
                    </a:solidFill>
                  </a:tcPr>
                </a:tc>
                <a:tc>
                  <a:txBody>
                    <a:bodyPr wrap="square"/>
                    <a:lstStyle/>
                    <a:p>
                      <a:pPr algn="l">
                        <a:defRPr sz="1100" b="0">
                          <a:solidFill>
                            <a:srgbClr val="404040"/>
                          </a:solidFill>
                          <a:latin typeface="Arial"/>
                        </a:defRPr>
                      </a:pPr>
                      <a:r>
                        <a:t>Philippines</a:t>
                      </a:r>
                    </a:p>
                  </a:txBody>
                  <a:tcPr>
                    <a:solidFill>
                      <a:srgbClr val="FFFFFF"/>
                    </a:solidFill>
                  </a:tcPr>
                </a:tc>
                <a:tc>
                  <a:txBody>
                    <a:bodyPr wrap="square"/>
                    <a:lstStyle/>
                    <a:p>
                      <a:pPr algn="l">
                        <a:defRPr sz="1100" b="0">
                          <a:solidFill>
                            <a:srgbClr val="404040"/>
                          </a:solidFill>
                          <a:latin typeface="Arial"/>
                        </a:defRPr>
                      </a:pPr>
                      <a:r>
                        <a:t>Leading diversified conglomerate with significant healthcare investments through Ayala Healthcare Holdings</a:t>
                      </a:r>
                    </a:p>
                  </a:txBody>
                  <a:tcPr>
                    <a:solidFill>
                      <a:srgbClr val="FFFFFF"/>
                    </a:solidFill>
                  </a:tcPr>
                </a:tc>
                <a:tc>
                  <a:txBody>
                    <a:bodyPr wrap="square"/>
                    <a:lstStyle/>
                    <a:p>
                      <a:pPr algn="l">
                        <a:defRPr sz="1100" b="0">
                          <a:solidFill>
                            <a:srgbClr val="404040"/>
                          </a:solidFill>
                          <a:latin typeface="Arial"/>
                        </a:defRPr>
                      </a:pPr>
                      <a:r>
                        <a:t>Ayala family trust and institutional investors</a:t>
                      </a:r>
                    </a:p>
                  </a:txBody>
                  <a:tcPr>
                    <a:solidFill>
                      <a:srgbClr val="FFFFFF"/>
                    </a:solidFill>
                  </a:tcPr>
                </a:tc>
                <a:tc>
                  <a:txBody>
                    <a:bodyPr wrap="square"/>
                    <a:lstStyle/>
                    <a:p>
                      <a:pPr algn="l">
                        <a:defRPr sz="1100" b="0">
                          <a:solidFill>
                            <a:srgbClr val="404040"/>
                          </a:solidFill>
                          <a:latin typeface="Arial"/>
                        </a:defRPr>
                      </a:pPr>
                      <a:r>
                        <a:t>Revenue: US$3.2B, Healthcare growing 15%+ annually</a:t>
                      </a:r>
                    </a:p>
                  </a:txBody>
                  <a:tcPr>
                    <a:solidFill>
                      <a:srgbClr val="FFFFFF"/>
                    </a:solidFill>
                  </a:tcPr>
                </a:tc>
                <a:tc>
                  <a:txBody>
                    <a:bodyPr wrap="square"/>
                    <a:lstStyle/>
                    <a:p>
                      <a:pPr algn="l">
                        <a:defRPr sz="1100" b="0">
                          <a:solidFill>
                            <a:srgbClr val="404040"/>
                          </a:solidFill>
                          <a:latin typeface="Arial"/>
                        </a:defRPr>
                      </a:pPr>
                      <a:r>
                        <a:t>Managing Director - SEA Healthcare</a:t>
                      </a:r>
                    </a:p>
                  </a:txBody>
                  <a:tcPr>
                    <a:solidFill>
                      <a:srgbClr val="FFFFFF"/>
                    </a:solidFill>
                  </a:tcPr>
                </a:tc>
              </a:tr>
              <a:tr h="1005840">
                <a:tc>
                  <a:txBody>
                    <a:bodyPr wrap="square"/>
                    <a:lstStyle/>
                    <a:p>
                      <a:pPr algn="l">
                        <a:defRPr sz="1100" b="0">
                          <a:solidFill>
                            <a:srgbClr val="404040"/>
                          </a:solidFill>
                          <a:latin typeface="Arial"/>
                        </a:defRPr>
                      </a:pPr>
                      <a:r>
                        <a:t>CP Group (Charoen Pokphand)</a:t>
                      </a:r>
                    </a:p>
                  </a:txBody>
                  <a:tcPr>
                    <a:solidFill>
                      <a:srgbClr val="FFFFFF"/>
                    </a:solidFill>
                  </a:tcPr>
                </a:tc>
                <a:tc>
                  <a:txBody>
                    <a:bodyPr wrap="square"/>
                    <a:lstStyle/>
                    <a:p>
                      <a:pPr algn="l">
                        <a:defRPr sz="1100" b="0">
                          <a:solidFill>
                            <a:srgbClr val="404040"/>
                          </a:solidFill>
                          <a:latin typeface="Arial"/>
                        </a:defRPr>
                      </a:pPr>
                      <a:r>
                        <a:t>Thailand</a:t>
                      </a:r>
                    </a:p>
                  </a:txBody>
                  <a:tcPr>
                    <a:solidFill>
                      <a:srgbClr val="FFFFFF"/>
                    </a:solidFill>
                  </a:tcPr>
                </a:tc>
                <a:tc>
                  <a:txBody>
                    <a:bodyPr wrap="square"/>
                    <a:lstStyle/>
                    <a:p>
                      <a:pPr algn="l">
                        <a:defRPr sz="1100" b="0">
                          <a:solidFill>
                            <a:srgbClr val="404040"/>
                          </a:solidFill>
                          <a:latin typeface="Arial"/>
                        </a:defRPr>
                      </a:pPr>
                      <a:r>
                        <a:t>Massive diversified conglomerate with healthcare retail exposure through pharmacy chains</a:t>
                      </a:r>
                    </a:p>
                  </a:txBody>
                  <a:tcPr>
                    <a:solidFill>
                      <a:srgbClr val="FFFFFF"/>
                    </a:solidFill>
                  </a:tcPr>
                </a:tc>
                <a:tc>
                  <a:txBody>
                    <a:bodyPr wrap="square"/>
                    <a:lstStyle/>
                    <a:p>
                      <a:pPr algn="l">
                        <a:defRPr sz="1100" b="0">
                          <a:solidFill>
                            <a:srgbClr val="404040"/>
                          </a:solidFill>
                          <a:latin typeface="Arial"/>
                        </a:defRPr>
                      </a:pPr>
                      <a:r>
                        <a:t>Chearavanont family and holding companies</a:t>
                      </a:r>
                    </a:p>
                  </a:txBody>
                  <a:tcPr>
                    <a:solidFill>
                      <a:srgbClr val="FFFFFF"/>
                    </a:solidFill>
                  </a:tcPr>
                </a:tc>
                <a:tc>
                  <a:txBody>
                    <a:bodyPr wrap="square"/>
                    <a:lstStyle/>
                    <a:p>
                      <a:pPr algn="l">
                        <a:defRPr sz="1100" b="0">
                          <a:solidFill>
                            <a:srgbClr val="404040"/>
                          </a:solidFill>
                          <a:latin typeface="Arial"/>
                        </a:defRPr>
                      </a:pPr>
                      <a:r>
                        <a:t>Revenue: US$45B+, Healthcare investments &gt;US$500M</a:t>
                      </a:r>
                    </a:p>
                  </a:txBody>
                  <a:tcPr>
                    <a:solidFill>
                      <a:srgbClr val="FFFFFF"/>
                    </a:solidFill>
                  </a:tcPr>
                </a:tc>
                <a:tc>
                  <a:txBody>
                    <a:bodyPr wrap="square"/>
                    <a:lstStyle/>
                    <a:p>
                      <a:pPr algn="l">
                        <a:defRPr sz="1100" b="0">
                          <a:solidFill>
                            <a:srgbClr val="404040"/>
                          </a:solidFill>
                          <a:latin typeface="Arial"/>
                        </a:defRPr>
                      </a:pPr>
                      <a:r>
                        <a:t>Managing Director - Consumer Healthcare</a:t>
                      </a:r>
                    </a:p>
                  </a:txBody>
                  <a:tcPr>
                    <a:solidFill>
                      <a:srgbClr val="FFFFFF"/>
                    </a:solidFill>
                  </a:tcPr>
                </a:tc>
              </a:tr>
              <a:tr h="1005840">
                <a:tc>
                  <a:txBody>
                    <a:bodyPr wrap="square"/>
                    <a:lstStyle/>
                    <a:p>
                      <a:pPr algn="l">
                        <a:defRPr sz="1100" b="0">
                          <a:solidFill>
                            <a:srgbClr val="404040"/>
                          </a:solidFill>
                          <a:latin typeface="Arial"/>
                        </a:defRPr>
                      </a:pPr>
                      <a:r>
                        <a:t>Sinar Mas Group</a:t>
                      </a:r>
                    </a:p>
                  </a:txBody>
                  <a:tcPr>
                    <a:solidFill>
                      <a:srgbClr val="FFFFFF"/>
                    </a:solidFill>
                  </a:tcPr>
                </a:tc>
                <a:tc>
                  <a:txBody>
                    <a:bodyPr wrap="square"/>
                    <a:lstStyle/>
                    <a:p>
                      <a:pPr algn="l">
                        <a:defRPr sz="1100" b="0">
                          <a:solidFill>
                            <a:srgbClr val="404040"/>
                          </a:solidFill>
                          <a:latin typeface="Arial"/>
                        </a:defRPr>
                      </a:pPr>
                      <a:r>
                        <a:t>Indonesia</a:t>
                      </a:r>
                    </a:p>
                  </a:txBody>
                  <a:tcPr>
                    <a:solidFill>
                      <a:srgbClr val="FFFFFF"/>
                    </a:solidFill>
                  </a:tcPr>
                </a:tc>
                <a:tc>
                  <a:txBody>
                    <a:bodyPr wrap="square"/>
                    <a:lstStyle/>
                    <a:p>
                      <a:pPr algn="l">
                        <a:defRPr sz="1100" b="0">
                          <a:solidFill>
                            <a:srgbClr val="404040"/>
                          </a:solidFill>
                          <a:latin typeface="Arial"/>
                        </a:defRPr>
                      </a:pPr>
                      <a:r>
                        <a:t>Indonesian conglomerate with diversified portfolio and growing healthcare technology investments</a:t>
                      </a:r>
                    </a:p>
                  </a:txBody>
                  <a:tcPr>
                    <a:solidFill>
                      <a:srgbClr val="FFFFFF"/>
                    </a:solidFill>
                  </a:tcPr>
                </a:tc>
                <a:tc>
                  <a:txBody>
                    <a:bodyPr wrap="square"/>
                    <a:lstStyle/>
                    <a:p>
                      <a:pPr algn="l">
                        <a:defRPr sz="1100" b="0">
                          <a:solidFill>
                            <a:srgbClr val="404040"/>
                          </a:solidFill>
                          <a:latin typeface="Arial"/>
                        </a:defRPr>
                      </a:pPr>
                      <a:r>
                        <a:t>Widjaja family and investment vehicles</a:t>
                      </a:r>
                    </a:p>
                  </a:txBody>
                  <a:tcPr>
                    <a:solidFill>
                      <a:srgbClr val="FFFFFF"/>
                    </a:solidFill>
                  </a:tcPr>
                </a:tc>
                <a:tc>
                  <a:txBody>
                    <a:bodyPr wrap="square"/>
                    <a:lstStyle/>
                    <a:p>
                      <a:pPr algn="l">
                        <a:defRPr sz="1100" b="0">
                          <a:solidFill>
                            <a:srgbClr val="404040"/>
                          </a:solidFill>
                          <a:latin typeface="Arial"/>
                        </a:defRPr>
                      </a:pPr>
                      <a:r>
                        <a:t>Revenue: US$15B+, Active healthtech program</a:t>
                      </a:r>
                    </a:p>
                  </a:txBody>
                  <a:tcPr>
                    <a:solidFill>
                      <a:srgbClr val="FFFFFF"/>
                    </a:solidFill>
                  </a:tcPr>
                </a:tc>
                <a:tc>
                  <a:txBody>
                    <a:bodyPr wrap="square"/>
                    <a:lstStyle/>
                    <a:p>
                      <a:pPr algn="l">
                        <a:defRPr sz="1100" b="0">
                          <a:solidFill>
                            <a:srgbClr val="404040"/>
                          </a:solidFill>
                          <a:latin typeface="Arial"/>
                        </a:defRPr>
                      </a:pPr>
                      <a:r>
                        <a:t>Executive Director - Indonesia Coverage</a:t>
                      </a:r>
                    </a:p>
                  </a:txBody>
                  <a:tcPr>
                    <a:solidFill>
                      <a:srgbClr val="FFFFFF"/>
                    </a:solidFill>
                  </a:tcPr>
                </a:tc>
              </a:tr>
              <a:tr h="1005840">
                <a:tc>
                  <a:txBody>
                    <a:bodyPr wrap="square"/>
                    <a:lstStyle/>
                    <a:p>
                      <a:pPr algn="l">
                        <a:defRPr sz="1100" b="0">
                          <a:solidFill>
                            <a:srgbClr val="404040"/>
                          </a:solidFill>
                          <a:latin typeface="Arial"/>
                        </a:defRPr>
                      </a:pPr>
                      <a:r>
                        <a:t>Genting Group</a:t>
                      </a:r>
                    </a:p>
                  </a:txBody>
                  <a:tcPr>
                    <a:solidFill>
                      <a:srgbClr val="FFFFFF"/>
                    </a:solidFill>
                  </a:tcPr>
                </a:tc>
                <a:tc>
                  <a:txBody>
                    <a:bodyPr wrap="square"/>
                    <a:lstStyle/>
                    <a:p>
                      <a:pPr algn="l">
                        <a:defRPr sz="1100" b="0">
                          <a:solidFill>
                            <a:srgbClr val="404040"/>
                          </a:solidFill>
                          <a:latin typeface="Arial"/>
                        </a:defRPr>
                      </a:pPr>
                      <a:r>
                        <a:t>Malaysia</a:t>
                      </a:r>
                    </a:p>
                  </a:txBody>
                  <a:tcPr>
                    <a:solidFill>
                      <a:srgbClr val="FFFFFF"/>
                    </a:solidFill>
                  </a:tcPr>
                </a:tc>
                <a:tc>
                  <a:txBody>
                    <a:bodyPr wrap="square"/>
                    <a:lstStyle/>
                    <a:p>
                      <a:pPr algn="l">
                        <a:defRPr sz="1100" b="0">
                          <a:solidFill>
                            <a:srgbClr val="404040"/>
                          </a:solidFill>
                          <a:latin typeface="Arial"/>
                        </a:defRPr>
                      </a:pPr>
                      <a:r>
                        <a:t>Diversified conglomerate with strategic healthcare investments through integrated resort wellness</a:t>
                      </a:r>
                    </a:p>
                  </a:txBody>
                  <a:tcPr>
                    <a:solidFill>
                      <a:srgbClr val="FFFFFF"/>
                    </a:solidFill>
                  </a:tcPr>
                </a:tc>
                <a:tc>
                  <a:txBody>
                    <a:bodyPr wrap="square"/>
                    <a:lstStyle/>
                    <a:p>
                      <a:pPr algn="l">
                        <a:defRPr sz="1100" b="0">
                          <a:solidFill>
                            <a:srgbClr val="404040"/>
                          </a:solidFill>
                          <a:latin typeface="Arial"/>
                        </a:defRPr>
                      </a:pPr>
                      <a:r>
                        <a:t>Lim Kok Thay family trust</a:t>
                      </a:r>
                    </a:p>
                  </a:txBody>
                  <a:tcPr>
                    <a:solidFill>
                      <a:srgbClr val="FFFFFF"/>
                    </a:solidFill>
                  </a:tcPr>
                </a:tc>
                <a:tc>
                  <a:txBody>
                    <a:bodyPr wrap="square"/>
                    <a:lstStyle/>
                    <a:p>
                      <a:pPr algn="l">
                        <a:defRPr sz="1100" b="0">
                          <a:solidFill>
                            <a:srgbClr val="404040"/>
                          </a:solidFill>
                          <a:latin typeface="Arial"/>
                        </a:defRPr>
                      </a:pPr>
                      <a:r>
                        <a:t>Revenue: US$2.8B, Healthcare target US$200M+</a:t>
                      </a:r>
                    </a:p>
                  </a:txBody>
                  <a:tcPr>
                    <a:solidFill>
                      <a:srgbClr val="FFFFFF"/>
                    </a:solidFill>
                  </a:tcPr>
                </a:tc>
                <a:tc>
                  <a:txBody>
                    <a:bodyPr wrap="square"/>
                    <a:lstStyle/>
                    <a:p>
                      <a:pPr algn="l">
                        <a:defRPr sz="1100" b="0">
                          <a:solidFill>
                            <a:srgbClr val="404040"/>
                          </a:solidFill>
                          <a:latin typeface="Arial"/>
                        </a:defRPr>
                      </a:pPr>
                      <a:r>
                        <a:t>Managing Director - Malaysia Coverage</a:t>
                      </a:r>
                    </a:p>
                  </a:txBody>
                  <a:tcPr>
                    <a:solidFill>
                      <a:srgbClr val="FFFFFF"/>
                    </a:solidFill>
                  </a:tcPr>
                </a:tc>
              </a:tr>
            </a:tbl>
          </a:graphicData>
        </a:graphic>
      </p:graphicFrame>
      <p:sp>
        <p:nvSpPr>
          <p:cNvPr id="5" name="TextBox 4"/>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6" name="TextBox 5"/>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Strategic Buyer Profiles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463040"/>
          <a:ext cx="10515600" cy="2743200"/>
        </p:xfrm>
        <a:graphic>
          <a:graphicData uri="http://schemas.openxmlformats.org/drawingml/2006/table">
            <a:tbl>
              <a:tblPr firstRow="1" bandRow="1">
                <a:tableStyleId>{5C22544A-7EE6-4342-B048-85BDC9FD1C3A}</a:tableStyleId>
              </a:tblPr>
              <a:tblGrid>
                <a:gridCol w="2560320"/>
                <a:gridCol w="2286000"/>
                <a:gridCol w="2286000"/>
                <a:gridCol w="2011680"/>
                <a:gridCol w="1371600"/>
              </a:tblGrid>
              <a:tr h="548640">
                <a:tc>
                  <a:txBody>
                    <a:bodyPr/>
                    <a:lstStyle/>
                    <a:p>
                      <a:pPr algn="ctr"/>
                      <a:r>
                        <a:rPr sz="1200" b="1">
                          <a:solidFill>
                            <a:srgbClr val="FFFFFF"/>
                          </a:solidFill>
                          <a:latin typeface="Arial"/>
                        </a:rPr>
                        <a:t>Buyer Name</a:t>
                      </a:r>
                    </a:p>
                  </a:txBody>
                  <a:tcPr marL="45720" marR="45720" marT="45720" marB="45720">
                    <a:solidFill>
                      <a:srgbClr val="183A58"/>
                    </a:solidFill>
                  </a:tcPr>
                </a:tc>
                <a:tc>
                  <a:txBody>
                    <a:bodyPr/>
                    <a:lstStyle/>
                    <a:p>
                      <a:pPr algn="ctr"/>
                      <a:r>
                        <a:rPr sz="1200" b="1">
                          <a:solidFill>
                            <a:srgbClr val="FFFFFF"/>
                          </a:solidFill>
                          <a:latin typeface="Arial"/>
                        </a:rPr>
                        <a:t>Description</a:t>
                      </a:r>
                    </a:p>
                  </a:txBody>
                  <a:tcPr marL="45720" marR="45720" marT="45720" marB="45720">
                    <a:solidFill>
                      <a:srgbClr val="183A58"/>
                    </a:solidFill>
                  </a:tcPr>
                </a:tc>
                <a:tc>
                  <a:txBody>
                    <a:bodyPr/>
                    <a:lstStyle/>
                    <a:p>
                      <a:pPr algn="ctr"/>
                      <a:r>
                        <a:rPr sz="1200" b="1">
                          <a:solidFill>
                            <a:srgbClr val="FFFFFF"/>
                          </a:solidFill>
                          <a:latin typeface="Arial"/>
                        </a:rPr>
                        <a:t>Strategic Rationale</a:t>
                      </a:r>
                    </a:p>
                  </a:txBody>
                  <a:tcPr marL="45720" marR="45720" marT="45720" marB="45720">
                    <a:solidFill>
                      <a:srgbClr val="183A58"/>
                    </a:solidFill>
                  </a:tcPr>
                </a:tc>
                <a:tc>
                  <a:txBody>
                    <a:bodyPr/>
                    <a:lstStyle/>
                    <a:p>
                      <a:pPr algn="ctr"/>
                      <a:r>
                        <a:rPr sz="1200" b="1">
                          <a:solidFill>
                            <a:srgbClr val="FFFFFF"/>
                          </a:solidFill>
                          <a:latin typeface="Arial"/>
                        </a:rPr>
                        <a:t>Key Synergies</a:t>
                      </a:r>
                    </a:p>
                  </a:txBody>
                  <a:tcPr marL="45720" marR="45720" marT="45720" marB="45720">
                    <a:solidFill>
                      <a:srgbClr val="183A58"/>
                    </a:solidFill>
                  </a:tcPr>
                </a:tc>
                <a:tc>
                  <a:txBody>
                    <a:bodyPr/>
                    <a:lstStyle/>
                    <a:p>
                      <a:pPr algn="ctr"/>
                      <a:r>
                        <a:rPr sz="1200" b="1">
                          <a:solidFill>
                            <a:srgbClr val="FFFFFF"/>
                          </a:solidFill>
                          <a:latin typeface="Arial"/>
                        </a:rPr>
                        <a:t>Concerns</a:t>
                      </a:r>
                    </a:p>
                  </a:txBody>
                  <a:tcPr marL="45720" marR="45720" marT="45720" marB="45720">
                    <a:solidFill>
                      <a:srgbClr val="183A58"/>
                    </a:solidFill>
                  </a:tcPr>
                </a:tc>
              </a:tr>
              <a:tr h="548640">
                <a:tc>
                  <a:txBody>
                    <a:bodyPr wrap="square"/>
                    <a:lstStyle/>
                    <a:p>
                      <a:pPr algn="l"/>
                      <a:r>
                        <a:rPr sz="1100" b="1">
                          <a:solidFill>
                            <a:srgbClr val="404040"/>
                          </a:solidFill>
                          <a:latin typeface="Arial"/>
                        </a:rPr>
                        <a:t>PT Nippon Indosari Corpindo Tbk</a:t>
                      </a:r>
                    </a:p>
                  </a:txBody>
                  <a:tcPr marL="45720" marR="45720" marT="45720" marB="45720">
                    <a:solidFill>
                      <a:srgbClr val="FFFFFF"/>
                    </a:solidFill>
                  </a:tcPr>
                </a:tc>
                <a:tc>
                  <a:txBody>
                    <a:bodyPr wrap="square"/>
                    <a:lstStyle/>
                    <a:p>
                      <a:pPr algn="l"/>
                      <a:r>
                        <a:rPr sz="1100">
                          <a:solidFill>
                            <a:srgbClr val="404040"/>
                          </a:solidFill>
                          <a:latin typeface="Arial"/>
                        </a:rPr>
                        <a:t>Strengthen mass-market share, expand into premium and B2C retail bakery formats.</a:t>
                      </a:r>
                    </a:p>
                  </a:txBody>
                  <a:tcPr marL="45720" marR="45720" marT="45720" marB="45720">
                    <a:solidFill>
                      <a:srgbClr val="FFFFFF"/>
                    </a:solidFill>
                  </a:tcPr>
                </a:tc>
                <a:tc>
                  <a:txBody>
                    <a:bodyPr wrap="square"/>
                    <a:lstStyle/>
                    <a:p>
                      <a:pPr algn="l"/>
                      <a:r>
                        <a:rPr sz="1100">
                          <a:solidFill>
                            <a:srgbClr val="404040"/>
                          </a:solidFill>
                          <a:latin typeface="Arial"/>
                        </a:rPr>
                        <a:t>Supply chain scale, distribution, operational integration, outlet network</a:t>
                      </a:r>
                    </a:p>
                  </a:txBody>
                  <a:tcPr marL="45720" marR="45720" marT="45720" marB="45720">
                    <a:solidFill>
                      <a:srgbClr val="FFFFFF"/>
                    </a:solidFill>
                  </a:tcPr>
                </a:tc>
                <a:tc>
                  <a:txBody>
                    <a:bodyPr wrap="square"/>
                    <a:lstStyle/>
                    <a:p>
                      <a:pPr algn="l"/>
                      <a:r>
                        <a:rPr sz="1100">
                          <a:solidFill>
                            <a:srgbClr val="404040"/>
                          </a:solidFill>
                          <a:latin typeface="Arial"/>
                        </a:rPr>
                        <a:t>Integration risk, overlap in product positioning</a:t>
                      </a:r>
                    </a:p>
                  </a:txBody>
                  <a:tcPr marL="45720" marR="45720" marT="45720" marB="45720">
                    <a:solidFill>
                      <a:srgbClr val="FFFFFF"/>
                    </a:solidFill>
                  </a:tcPr>
                </a:tc>
                <a:tc>
                  <a:txBody>
                    <a:bodyPr wrap="square"/>
                    <a:lstStyle/>
                    <a:p>
                      <a:pPr algn="l"/>
                      <a:r>
                        <a:rPr sz="1100">
                          <a:solidFill>
                            <a:srgbClr val="404040"/>
                          </a:solidFill>
                          <a:latin typeface="Arial"/>
                        </a:rPr>
                        <a:t>9/10</a:t>
                      </a:r>
                    </a:p>
                  </a:txBody>
                  <a:tcPr marL="45720" marR="45720" marT="45720" marB="45720">
                    <a:solidFill>
                      <a:srgbClr val="FFFFFF"/>
                    </a:solidFill>
                  </a:tcPr>
                </a:tc>
              </a:tr>
              <a:tr h="548640">
                <a:tc>
                  <a:txBody>
                    <a:bodyPr wrap="square"/>
                    <a:lstStyle/>
                    <a:p>
                      <a:pPr algn="l"/>
                      <a:r>
                        <a:rPr sz="1100" b="1">
                          <a:solidFill>
                            <a:srgbClr val="404040"/>
                          </a:solidFill>
                          <a:latin typeface="Arial"/>
                        </a:rPr>
                        <a:t>BreadTalk Group</a:t>
                      </a:r>
                    </a:p>
                  </a:txBody>
                  <a:tcPr marL="45720" marR="45720" marT="45720" marB="45720">
                    <a:solidFill>
                      <a:srgbClr val="F0F0F0"/>
                    </a:solidFill>
                  </a:tcPr>
                </a:tc>
                <a:tc>
                  <a:txBody>
                    <a:bodyPr wrap="square"/>
                    <a:lstStyle/>
                    <a:p>
                      <a:pPr algn="l"/>
                      <a:r>
                        <a:rPr sz="1100">
                          <a:solidFill>
                            <a:srgbClr val="404040"/>
                          </a:solidFill>
                          <a:latin typeface="Arial"/>
                        </a:rPr>
                        <a:t>Expand footprint, capture Indonesian growth, leverage Breadlife’s brand in transit/mall retail.</a:t>
                      </a:r>
                    </a:p>
                  </a:txBody>
                  <a:tcPr marL="45720" marR="45720" marT="45720" marB="45720">
                    <a:solidFill>
                      <a:srgbClr val="F0F0F0"/>
                    </a:solidFill>
                  </a:tcPr>
                </a:tc>
                <a:tc>
                  <a:txBody>
                    <a:bodyPr wrap="square"/>
                    <a:lstStyle/>
                    <a:p>
                      <a:pPr algn="l"/>
                      <a:r>
                        <a:rPr sz="1100">
                          <a:solidFill>
                            <a:srgbClr val="404040"/>
                          </a:solidFill>
                          <a:latin typeface="Arial"/>
                        </a:rPr>
                        <a:t>Brand, product innovation, mall network, digital, multi-format synergy</a:t>
                      </a:r>
                    </a:p>
                  </a:txBody>
                  <a:tcPr marL="45720" marR="45720" marT="45720" marB="45720">
                    <a:solidFill>
                      <a:srgbClr val="F0F0F0"/>
                    </a:solidFill>
                  </a:tcPr>
                </a:tc>
                <a:tc>
                  <a:txBody>
                    <a:bodyPr wrap="square"/>
                    <a:lstStyle/>
                    <a:p>
                      <a:pPr algn="l"/>
                      <a:r>
                        <a:rPr sz="1100">
                          <a:solidFill>
                            <a:srgbClr val="404040"/>
                          </a:solidFill>
                          <a:latin typeface="Arial"/>
                        </a:rPr>
                        <a:t>Cultural/brand alignment, regulatory complexity</a:t>
                      </a:r>
                    </a:p>
                  </a:txBody>
                  <a:tcPr marL="45720" marR="45720" marT="45720" marB="45720">
                    <a:solidFill>
                      <a:srgbClr val="F0F0F0"/>
                    </a:solidFill>
                  </a:tcPr>
                </a:tc>
                <a:tc>
                  <a:txBody>
                    <a:bodyPr wrap="square"/>
                    <a:lstStyle/>
                    <a:p>
                      <a:pPr algn="l"/>
                      <a:r>
                        <a:rPr sz="1100">
                          <a:solidFill>
                            <a:srgbClr val="404040"/>
                          </a:solidFill>
                          <a:latin typeface="Arial"/>
                        </a:rPr>
                        <a:t>8/10</a:t>
                      </a:r>
                    </a:p>
                  </a:txBody>
                  <a:tcPr marL="45720" marR="45720" marT="45720" marB="45720">
                    <a:solidFill>
                      <a:srgbClr val="F0F0F0"/>
                    </a:solidFill>
                  </a:tcPr>
                </a:tc>
              </a:tr>
              <a:tr h="548640">
                <a:tc>
                  <a:txBody>
                    <a:bodyPr wrap="square"/>
                    <a:lstStyle/>
                    <a:p>
                      <a:pPr algn="l"/>
                      <a:r>
                        <a:rPr sz="1100" b="1">
                          <a:solidFill>
                            <a:srgbClr val="404040"/>
                          </a:solidFill>
                          <a:latin typeface="Arial"/>
                        </a:rPr>
                        <a:t>Mayora Indah Tbk</a:t>
                      </a:r>
                    </a:p>
                  </a:txBody>
                  <a:tcPr marL="45720" marR="45720" marT="45720" marB="45720">
                    <a:solidFill>
                      <a:srgbClr val="FFFFFF"/>
                    </a:solidFill>
                  </a:tcPr>
                </a:tc>
                <a:tc>
                  <a:txBody>
                    <a:bodyPr wrap="square"/>
                    <a:lstStyle/>
                    <a:p>
                      <a:pPr algn="l"/>
                      <a:r>
                        <a:rPr sz="1100">
                          <a:solidFill>
                            <a:srgbClr val="404040"/>
                          </a:solidFill>
                          <a:latin typeface="Arial"/>
                        </a:rPr>
                        <a:t>Diversify into fresh bakery, leverage existing distribution and consumer reach.</a:t>
                      </a:r>
                    </a:p>
                  </a:txBody>
                  <a:tcPr marL="45720" marR="45720" marT="45720" marB="45720">
                    <a:solidFill>
                      <a:srgbClr val="FFFFFF"/>
                    </a:solidFill>
                  </a:tcPr>
                </a:tc>
                <a:tc>
                  <a:txBody>
                    <a:bodyPr wrap="square"/>
                    <a:lstStyle/>
                    <a:p>
                      <a:pPr algn="l"/>
                      <a:r>
                        <a:rPr sz="1100">
                          <a:solidFill>
                            <a:srgbClr val="404040"/>
                          </a:solidFill>
                          <a:latin typeface="Arial"/>
                        </a:rPr>
                        <a:t>Distribution, marketing, procurement, consumer analytics</a:t>
                      </a:r>
                    </a:p>
                  </a:txBody>
                  <a:tcPr marL="45720" marR="45720" marT="45720" marB="45720">
                    <a:solidFill>
                      <a:srgbClr val="FFFFFF"/>
                    </a:solidFill>
                  </a:tcPr>
                </a:tc>
                <a:tc>
                  <a:txBody>
                    <a:bodyPr wrap="square"/>
                    <a:lstStyle/>
                    <a:p>
                      <a:pPr algn="l"/>
                      <a:r>
                        <a:rPr sz="1100">
                          <a:solidFill>
                            <a:srgbClr val="404040"/>
                          </a:solidFill>
                          <a:latin typeface="Arial"/>
                        </a:rPr>
                        <a:t>Fresh supply chain, operational adaptation</a:t>
                      </a:r>
                    </a:p>
                  </a:txBody>
                  <a:tcPr marL="45720" marR="45720" marT="45720" marB="45720">
                    <a:solidFill>
                      <a:srgbClr val="FFFFFF"/>
                    </a:solidFill>
                  </a:tcPr>
                </a:tc>
                <a:tc>
                  <a:txBody>
                    <a:bodyPr wrap="square"/>
                    <a:lstStyle/>
                    <a:p>
                      <a:pPr algn="l"/>
                      <a:r>
                        <a:rPr sz="1100">
                          <a:solidFill>
                            <a:srgbClr val="404040"/>
                          </a:solidFill>
                          <a:latin typeface="Arial"/>
                        </a:rPr>
                        <a:t>8/10</a:t>
                      </a:r>
                    </a:p>
                  </a:txBody>
                  <a:tcPr marL="45720" marR="45720" marT="45720" marB="45720">
                    <a:solidFill>
                      <a:srgbClr val="FFFFFF"/>
                    </a:solidFill>
                  </a:tcPr>
                </a:tc>
              </a:tr>
              <a:tr h="548640">
                <a:tc>
                  <a:txBody>
                    <a:bodyPr wrap="square"/>
                    <a:lstStyle/>
                    <a:p>
                      <a:pPr algn="l"/>
                      <a:r>
                        <a:rPr sz="1100" b="1">
                          <a:solidFill>
                            <a:srgbClr val="404040"/>
                          </a:solidFill>
                          <a:latin typeface="Arial"/>
                        </a:rPr>
                        <a:t>Paris Baguette (SPC Group)</a:t>
                      </a:r>
                    </a:p>
                  </a:txBody>
                  <a:tcPr marL="45720" marR="45720" marT="45720" marB="45720">
                    <a:solidFill>
                      <a:srgbClr val="F0F0F0"/>
                    </a:solidFill>
                  </a:tcPr>
                </a:tc>
                <a:tc>
                  <a:txBody>
                    <a:bodyPr wrap="square"/>
                    <a:lstStyle/>
                    <a:p>
                      <a:pPr algn="l"/>
                      <a:r>
                        <a:rPr sz="1100">
                          <a:solidFill>
                            <a:srgbClr val="404040"/>
                          </a:solidFill>
                          <a:latin typeface="Arial"/>
                        </a:rPr>
                        <a:t>Accelerate Indonesia growth, acquire local scale and market knowledge.</a:t>
                      </a:r>
                    </a:p>
                  </a:txBody>
                  <a:tcPr marL="45720" marR="45720" marT="45720" marB="45720">
                    <a:solidFill>
                      <a:srgbClr val="F0F0F0"/>
                    </a:solidFill>
                  </a:tcPr>
                </a:tc>
                <a:tc>
                  <a:txBody>
                    <a:bodyPr wrap="square"/>
                    <a:lstStyle/>
                    <a:p>
                      <a:pPr algn="l"/>
                      <a:r>
                        <a:rPr sz="1100">
                          <a:solidFill>
                            <a:srgbClr val="404040"/>
                          </a:solidFill>
                          <a:latin typeface="Arial"/>
                        </a:rPr>
                        <a:t>Premium branding, product dev, retail synergies, innovation pipeline</a:t>
                      </a:r>
                    </a:p>
                  </a:txBody>
                  <a:tcPr marL="45720" marR="45720" marT="45720" marB="45720">
                    <a:solidFill>
                      <a:srgbClr val="F0F0F0"/>
                    </a:solidFill>
                  </a:tcPr>
                </a:tc>
                <a:tc>
                  <a:txBody>
                    <a:bodyPr wrap="square"/>
                    <a:lstStyle/>
                    <a:p>
                      <a:pPr algn="l"/>
                      <a:r>
                        <a:rPr sz="1100">
                          <a:solidFill>
                            <a:srgbClr val="404040"/>
                          </a:solidFill>
                          <a:latin typeface="Arial"/>
                        </a:rPr>
                        <a:t>Premium vs. mass positioning, integration risk</a:t>
                      </a:r>
                    </a:p>
                  </a:txBody>
                  <a:tcPr marL="45720" marR="45720" marT="45720" marB="45720">
                    <a:solidFill>
                      <a:srgbClr val="F0F0F0"/>
                    </a:solidFill>
                  </a:tcPr>
                </a:tc>
                <a:tc>
                  <a:txBody>
                    <a:bodyPr wrap="square"/>
                    <a:lstStyle/>
                    <a:p>
                      <a:pPr algn="l"/>
                      <a:r>
                        <a:rPr sz="1100">
                          <a:solidFill>
                            <a:srgbClr val="404040"/>
                          </a:solidFill>
                          <a:latin typeface="Arial"/>
                        </a:rPr>
                        <a:t>7/10</a:t>
                      </a:r>
                    </a:p>
                  </a:txBody>
                  <a:tcPr marL="45720" marR="45720" marT="45720" marB="45720">
                    <a:solidFill>
                      <a:srgbClr val="F0F0F0"/>
                    </a:solidFill>
                  </a:tcPr>
                </a:tc>
              </a:tr>
            </a:tbl>
          </a:graphicData>
        </a:graphic>
      </p:graphicFrame>
      <p:sp>
        <p:nvSpPr>
          <p:cNvPr id="5" name="TextBox 4"/>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6" name="TextBox 5"/>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31520"/>
          </a:xfrm>
          <a:prstGeom prst="rect">
            <a:avLst/>
          </a:prstGeom>
          <a:noFill/>
        </p:spPr>
        <p:txBody>
          <a:bodyPr wrap="none" lIns="0" tIns="0" rIns="0" bIns="0">
            <a:spAutoFit/>
          </a:bodyPr>
          <a:lstStyle/>
          <a:p>
            <a:pPr algn="l"/>
            <a:r>
              <a:rPr sz="2400" b="1">
                <a:solidFill>
                  <a:srgbClr val="183A58"/>
                </a:solidFill>
                <a:latin typeface="Arial"/>
              </a:rPr>
              <a:t>Financial Buyer Profiles</a:t>
            </a:r>
          </a:p>
        </p:txBody>
      </p:sp>
      <p:sp>
        <p:nvSpPr>
          <p:cNvPr id="3" name="Rectangle 2"/>
          <p:cNvSpPr/>
          <p:nvPr/>
        </p:nvSpPr>
        <p:spPr>
          <a:xfrm>
            <a:off x="457200" y="914400"/>
            <a:ext cx="11277295" cy="45720"/>
          </a:xfrm>
          <a:prstGeom prst="rect">
            <a:avLst/>
          </a:prstGeom>
          <a:solidFill>
            <a:srgbClr val="183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463040"/>
          <a:ext cx="10515600" cy="2743200"/>
        </p:xfrm>
        <a:graphic>
          <a:graphicData uri="http://schemas.openxmlformats.org/drawingml/2006/table">
            <a:tbl>
              <a:tblPr firstRow="1" bandRow="1">
                <a:tableStyleId>{5C22544A-7EE6-4342-B048-85BDC9FD1C3A}</a:tableStyleId>
              </a:tblPr>
              <a:tblGrid>
                <a:gridCol w="2560320"/>
                <a:gridCol w="2286000"/>
                <a:gridCol w="2286000"/>
                <a:gridCol w="2011680"/>
                <a:gridCol w="1371600"/>
              </a:tblGrid>
              <a:tr h="548640">
                <a:tc>
                  <a:txBody>
                    <a:bodyPr/>
                    <a:lstStyle/>
                    <a:p>
                      <a:pPr algn="ctr"/>
                      <a:r>
                        <a:rPr sz="1200" b="1">
                          <a:solidFill>
                            <a:srgbClr val="FFFFFF"/>
                          </a:solidFill>
                          <a:latin typeface="Arial"/>
                        </a:rPr>
                        <a:t>Buyer Name</a:t>
                      </a:r>
                    </a:p>
                  </a:txBody>
                  <a:tcPr marL="45720" marR="45720" marT="45720" marB="45720">
                    <a:solidFill>
                      <a:srgbClr val="183A58"/>
                    </a:solidFill>
                  </a:tcPr>
                </a:tc>
                <a:tc>
                  <a:txBody>
                    <a:bodyPr/>
                    <a:lstStyle/>
                    <a:p>
                      <a:pPr algn="ctr"/>
                      <a:r>
                        <a:rPr sz="1200" b="1">
                          <a:solidFill>
                            <a:srgbClr val="FFFFFF"/>
                          </a:solidFill>
                          <a:latin typeface="Arial"/>
                        </a:rPr>
                        <a:t>Description</a:t>
                      </a:r>
                    </a:p>
                  </a:txBody>
                  <a:tcPr marL="45720" marR="45720" marT="45720" marB="45720">
                    <a:solidFill>
                      <a:srgbClr val="183A58"/>
                    </a:solidFill>
                  </a:tcPr>
                </a:tc>
                <a:tc>
                  <a:txBody>
                    <a:bodyPr/>
                    <a:lstStyle/>
                    <a:p>
                      <a:pPr algn="ctr"/>
                      <a:r>
                        <a:rPr sz="1200" b="1">
                          <a:solidFill>
                            <a:srgbClr val="FFFFFF"/>
                          </a:solidFill>
                          <a:latin typeface="Arial"/>
                        </a:rPr>
                        <a:t>Strategic Rationale</a:t>
                      </a:r>
                    </a:p>
                  </a:txBody>
                  <a:tcPr marL="45720" marR="45720" marT="45720" marB="45720">
                    <a:solidFill>
                      <a:srgbClr val="183A58"/>
                    </a:solidFill>
                  </a:tcPr>
                </a:tc>
                <a:tc>
                  <a:txBody>
                    <a:bodyPr/>
                    <a:lstStyle/>
                    <a:p>
                      <a:pPr algn="ctr"/>
                      <a:r>
                        <a:rPr sz="1200" b="1">
                          <a:solidFill>
                            <a:srgbClr val="FFFFFF"/>
                          </a:solidFill>
                          <a:latin typeface="Arial"/>
                        </a:rPr>
                        <a:t>Key Synergies</a:t>
                      </a:r>
                    </a:p>
                  </a:txBody>
                  <a:tcPr marL="45720" marR="45720" marT="45720" marB="45720">
                    <a:solidFill>
                      <a:srgbClr val="183A58"/>
                    </a:solidFill>
                  </a:tcPr>
                </a:tc>
                <a:tc>
                  <a:txBody>
                    <a:bodyPr/>
                    <a:lstStyle/>
                    <a:p>
                      <a:pPr algn="ctr"/>
                      <a:r>
                        <a:rPr sz="1200" b="1">
                          <a:solidFill>
                            <a:srgbClr val="FFFFFF"/>
                          </a:solidFill>
                          <a:latin typeface="Arial"/>
                        </a:rPr>
                        <a:t>Concerns</a:t>
                      </a:r>
                    </a:p>
                  </a:txBody>
                  <a:tcPr marL="45720" marR="45720" marT="45720" marB="45720">
                    <a:solidFill>
                      <a:srgbClr val="183A58"/>
                    </a:solidFill>
                  </a:tcPr>
                </a:tc>
              </a:tr>
              <a:tr h="548640">
                <a:tc>
                  <a:txBody>
                    <a:bodyPr wrap="square"/>
                    <a:lstStyle/>
                    <a:p>
                      <a:pPr algn="l"/>
                      <a:r>
                        <a:rPr sz="1100" b="1">
                          <a:solidFill>
                            <a:srgbClr val="404040"/>
                          </a:solidFill>
                          <a:latin typeface="Arial"/>
                        </a:rPr>
                        <a:t>CVC Capital Partners</a:t>
                      </a:r>
                    </a:p>
                  </a:txBody>
                  <a:tcPr marL="45720" marR="45720" marT="45720" marB="45720">
                    <a:solidFill>
                      <a:srgbClr val="FFFFFF"/>
                    </a:solidFill>
                  </a:tcPr>
                </a:tc>
                <a:tc>
                  <a:txBody>
                    <a:bodyPr wrap="square"/>
                    <a:lstStyle/>
                    <a:p>
                      <a:pPr algn="l"/>
                      <a:r>
                        <a:rPr sz="1100">
                          <a:solidFill>
                            <a:srgbClr val="404040"/>
                          </a:solidFill>
                          <a:latin typeface="Arial"/>
                        </a:rPr>
                        <a:t>Deep experience in Indonesian branded food, strong F&amp;B network, value-creation track record.</a:t>
                      </a:r>
                    </a:p>
                  </a:txBody>
                  <a:tcPr marL="45720" marR="45720" marT="45720" marB="45720">
                    <a:solidFill>
                      <a:srgbClr val="FFFFFF"/>
                    </a:solidFill>
                  </a:tcPr>
                </a:tc>
                <a:tc>
                  <a:txBody>
                    <a:bodyPr wrap="square"/>
                    <a:lstStyle/>
                    <a:p>
                      <a:pPr algn="l"/>
                      <a:r>
                        <a:rPr sz="1100">
                          <a:solidFill>
                            <a:srgbClr val="404040"/>
                          </a:solidFill>
                          <a:latin typeface="Arial"/>
                        </a:rPr>
                        <a:t>Growth capital, governance, international expansion, operational excellence</a:t>
                      </a:r>
                    </a:p>
                  </a:txBody>
                  <a:tcPr marL="45720" marR="45720" marT="45720" marB="45720">
                    <a:solidFill>
                      <a:srgbClr val="FFFFFF"/>
                    </a:solidFill>
                  </a:tcPr>
                </a:tc>
                <a:tc>
                  <a:txBody>
                    <a:bodyPr wrap="square"/>
                    <a:lstStyle/>
                    <a:p>
                      <a:pPr algn="l"/>
                      <a:r>
                        <a:rPr sz="1100">
                          <a:solidFill>
                            <a:srgbClr val="404040"/>
                          </a:solidFill>
                          <a:latin typeface="Arial"/>
                        </a:rPr>
                        <a:t>Market competition, exit timing</a:t>
                      </a:r>
                    </a:p>
                  </a:txBody>
                  <a:tcPr marL="45720" marR="45720" marT="45720" marB="45720">
                    <a:solidFill>
                      <a:srgbClr val="FFFFFF"/>
                    </a:solidFill>
                  </a:tcPr>
                </a:tc>
                <a:tc>
                  <a:txBody>
                    <a:bodyPr wrap="square"/>
                    <a:lstStyle/>
                    <a:p>
                      <a:pPr algn="l"/>
                      <a:r>
                        <a:rPr sz="1100">
                          <a:solidFill>
                            <a:srgbClr val="404040"/>
                          </a:solidFill>
                          <a:latin typeface="Arial"/>
                        </a:rPr>
                        <a:t>9/10</a:t>
                      </a:r>
                    </a:p>
                  </a:txBody>
                  <a:tcPr marL="45720" marR="45720" marT="45720" marB="45720">
                    <a:solidFill>
                      <a:srgbClr val="FFFFFF"/>
                    </a:solidFill>
                  </a:tcPr>
                </a:tc>
              </a:tr>
              <a:tr h="548640">
                <a:tc>
                  <a:txBody>
                    <a:bodyPr wrap="square"/>
                    <a:lstStyle/>
                    <a:p>
                      <a:pPr algn="l"/>
                      <a:r>
                        <a:rPr sz="1100" b="1">
                          <a:solidFill>
                            <a:srgbClr val="404040"/>
                          </a:solidFill>
                          <a:latin typeface="Arial"/>
                        </a:rPr>
                        <a:t>Northstar Group</a:t>
                      </a:r>
                    </a:p>
                  </a:txBody>
                  <a:tcPr marL="45720" marR="45720" marT="45720" marB="45720">
                    <a:solidFill>
                      <a:srgbClr val="F0F0F0"/>
                    </a:solidFill>
                  </a:tcPr>
                </a:tc>
                <a:tc>
                  <a:txBody>
                    <a:bodyPr wrap="square"/>
                    <a:lstStyle/>
                    <a:p>
                      <a:pPr algn="l"/>
                      <a:r>
                        <a:rPr sz="1100">
                          <a:solidFill>
                            <a:srgbClr val="404040"/>
                          </a:solidFill>
                          <a:latin typeface="Arial"/>
                        </a:rPr>
                        <a:t>Proven operator in scaling Indonesian consumer brands, local network.</a:t>
                      </a:r>
                    </a:p>
                  </a:txBody>
                  <a:tcPr marL="45720" marR="45720" marT="45720" marB="45720">
                    <a:solidFill>
                      <a:srgbClr val="F0F0F0"/>
                    </a:solidFill>
                  </a:tcPr>
                </a:tc>
                <a:tc>
                  <a:txBody>
                    <a:bodyPr wrap="square"/>
                    <a:lstStyle/>
                    <a:p>
                      <a:pPr algn="l"/>
                      <a:r>
                        <a:rPr sz="1100">
                          <a:solidFill>
                            <a:srgbClr val="404040"/>
                          </a:solidFill>
                          <a:latin typeface="Arial"/>
                        </a:rPr>
                        <a:t>Access to strategic partners, regional scaling, M&amp;A execution</a:t>
                      </a:r>
                    </a:p>
                  </a:txBody>
                  <a:tcPr marL="45720" marR="45720" marT="45720" marB="45720">
                    <a:solidFill>
                      <a:srgbClr val="F0F0F0"/>
                    </a:solidFill>
                  </a:tcPr>
                </a:tc>
                <a:tc>
                  <a:txBody>
                    <a:bodyPr wrap="square"/>
                    <a:lstStyle/>
                    <a:p>
                      <a:pPr algn="l"/>
                      <a:r>
                        <a:rPr sz="1100">
                          <a:solidFill>
                            <a:srgbClr val="404040"/>
                          </a:solidFill>
                          <a:latin typeface="Arial"/>
                        </a:rPr>
                        <a:t>Integration risk, return expectations</a:t>
                      </a:r>
                    </a:p>
                  </a:txBody>
                  <a:tcPr marL="45720" marR="45720" marT="45720" marB="45720">
                    <a:solidFill>
                      <a:srgbClr val="F0F0F0"/>
                    </a:solidFill>
                  </a:tcPr>
                </a:tc>
                <a:tc>
                  <a:txBody>
                    <a:bodyPr wrap="square"/>
                    <a:lstStyle/>
                    <a:p>
                      <a:pPr algn="l"/>
                      <a:r>
                        <a:rPr sz="1100">
                          <a:solidFill>
                            <a:srgbClr val="404040"/>
                          </a:solidFill>
                          <a:latin typeface="Arial"/>
                        </a:rPr>
                        <a:t>8/10</a:t>
                      </a:r>
                    </a:p>
                  </a:txBody>
                  <a:tcPr marL="45720" marR="45720" marT="45720" marB="45720">
                    <a:solidFill>
                      <a:srgbClr val="F0F0F0"/>
                    </a:solidFill>
                  </a:tcPr>
                </a:tc>
              </a:tr>
              <a:tr h="548640">
                <a:tc>
                  <a:txBody>
                    <a:bodyPr wrap="square"/>
                    <a:lstStyle/>
                    <a:p>
                      <a:pPr algn="l"/>
                      <a:r>
                        <a:rPr sz="1100" b="1">
                          <a:solidFill>
                            <a:srgbClr val="404040"/>
                          </a:solidFill>
                          <a:latin typeface="Arial"/>
                        </a:rPr>
                        <a:t>Everstone Capital</a:t>
                      </a:r>
                    </a:p>
                  </a:txBody>
                  <a:tcPr marL="45720" marR="45720" marT="45720" marB="45720">
                    <a:solidFill>
                      <a:srgbClr val="FFFFFF"/>
                    </a:solidFill>
                  </a:tcPr>
                </a:tc>
                <a:tc>
                  <a:txBody>
                    <a:bodyPr wrap="square"/>
                    <a:lstStyle/>
                    <a:p>
                      <a:pPr algn="l"/>
                      <a:r>
                        <a:rPr sz="1100">
                          <a:solidFill>
                            <a:srgbClr val="404040"/>
                          </a:solidFill>
                          <a:latin typeface="Arial"/>
                        </a:rPr>
                        <a:t>Deep F&amp;B operations expertise, cross-brand synergies, Indonesia QSR experience.</a:t>
                      </a:r>
                    </a:p>
                  </a:txBody>
                  <a:tcPr marL="45720" marR="45720" marT="45720" marB="45720">
                    <a:solidFill>
                      <a:srgbClr val="FFFFFF"/>
                    </a:solidFill>
                  </a:tcPr>
                </a:tc>
                <a:tc>
                  <a:txBody>
                    <a:bodyPr wrap="square"/>
                    <a:lstStyle/>
                    <a:p>
                      <a:pPr algn="l"/>
                      <a:r>
                        <a:rPr sz="1100">
                          <a:solidFill>
                            <a:srgbClr val="404040"/>
                          </a:solidFill>
                          <a:latin typeface="Arial"/>
                        </a:rPr>
                        <a:t>Operational improvement, digital, procurement, M&amp;A</a:t>
                      </a:r>
                    </a:p>
                  </a:txBody>
                  <a:tcPr marL="45720" marR="45720" marT="45720" marB="45720">
                    <a:solidFill>
                      <a:srgbClr val="FFFFFF"/>
                    </a:solidFill>
                  </a:tcPr>
                </a:tc>
                <a:tc>
                  <a:txBody>
                    <a:bodyPr wrap="square"/>
                    <a:lstStyle/>
                    <a:p>
                      <a:pPr algn="l"/>
                      <a:r>
                        <a:rPr sz="1100">
                          <a:solidFill>
                            <a:srgbClr val="404040"/>
                          </a:solidFill>
                          <a:latin typeface="Arial"/>
                        </a:rPr>
                        <a:t>Brand overlap, local adaptation</a:t>
                      </a:r>
                    </a:p>
                  </a:txBody>
                  <a:tcPr marL="45720" marR="45720" marT="45720" marB="45720">
                    <a:solidFill>
                      <a:srgbClr val="FFFFFF"/>
                    </a:solidFill>
                  </a:tcPr>
                </a:tc>
                <a:tc>
                  <a:txBody>
                    <a:bodyPr wrap="square"/>
                    <a:lstStyle/>
                    <a:p>
                      <a:pPr algn="l"/>
                      <a:r>
                        <a:rPr sz="1100">
                          <a:solidFill>
                            <a:srgbClr val="404040"/>
                          </a:solidFill>
                          <a:latin typeface="Arial"/>
                        </a:rPr>
                        <a:t>8/10</a:t>
                      </a:r>
                    </a:p>
                  </a:txBody>
                  <a:tcPr marL="45720" marR="45720" marT="45720" marB="45720">
                    <a:solidFill>
                      <a:srgbClr val="FFFFFF"/>
                    </a:solidFill>
                  </a:tcPr>
                </a:tc>
              </a:tr>
              <a:tr h="548640">
                <a:tc>
                  <a:txBody>
                    <a:bodyPr wrap="square"/>
                    <a:lstStyle/>
                    <a:p>
                      <a:pPr algn="l"/>
                      <a:r>
                        <a:rPr sz="1100" b="1">
                          <a:solidFill>
                            <a:srgbClr val="404040"/>
                          </a:solidFill>
                          <a:latin typeface="Arial"/>
                        </a:rPr>
                        <a:t>Partners Group</a:t>
                      </a:r>
                    </a:p>
                  </a:txBody>
                  <a:tcPr marL="45720" marR="45720" marT="45720" marB="45720">
                    <a:solidFill>
                      <a:srgbClr val="F0F0F0"/>
                    </a:solidFill>
                  </a:tcPr>
                </a:tc>
                <a:tc>
                  <a:txBody>
                    <a:bodyPr wrap="square"/>
                    <a:lstStyle/>
                    <a:p>
                      <a:pPr algn="l"/>
                      <a:r>
                        <a:rPr sz="1100">
                          <a:solidFill>
                            <a:srgbClr val="404040"/>
                          </a:solidFill>
                          <a:latin typeface="Arial"/>
                        </a:rPr>
                        <a:t>Growth platform, global best practices, digital and distribution expertise.</a:t>
                      </a:r>
                    </a:p>
                  </a:txBody>
                  <a:tcPr marL="45720" marR="45720" marT="45720" marB="45720">
                    <a:solidFill>
                      <a:srgbClr val="F0F0F0"/>
                    </a:solidFill>
                  </a:tcPr>
                </a:tc>
                <a:tc>
                  <a:txBody>
                    <a:bodyPr wrap="square"/>
                    <a:lstStyle/>
                    <a:p>
                      <a:pPr algn="l"/>
                      <a:r>
                        <a:rPr sz="1100">
                          <a:solidFill>
                            <a:srgbClr val="404040"/>
                          </a:solidFill>
                          <a:latin typeface="Arial"/>
                        </a:rPr>
                        <a:t>Digitization, internationalization, portfolio synergies</a:t>
                      </a:r>
                    </a:p>
                  </a:txBody>
                  <a:tcPr marL="45720" marR="45720" marT="45720" marB="45720">
                    <a:solidFill>
                      <a:srgbClr val="F0F0F0"/>
                    </a:solidFill>
                  </a:tcPr>
                </a:tc>
                <a:tc>
                  <a:txBody>
                    <a:bodyPr wrap="square"/>
                    <a:lstStyle/>
                    <a:p>
                      <a:pPr algn="l"/>
                      <a:r>
                        <a:rPr sz="1100">
                          <a:solidFill>
                            <a:srgbClr val="404040"/>
                          </a:solidFill>
                          <a:latin typeface="Arial"/>
                        </a:rPr>
                        <a:t>Cultural fit, scale requirement</a:t>
                      </a:r>
                    </a:p>
                  </a:txBody>
                  <a:tcPr marL="45720" marR="45720" marT="45720" marB="45720">
                    <a:solidFill>
                      <a:srgbClr val="F0F0F0"/>
                    </a:solidFill>
                  </a:tcPr>
                </a:tc>
                <a:tc>
                  <a:txBody>
                    <a:bodyPr wrap="square"/>
                    <a:lstStyle/>
                    <a:p>
                      <a:pPr algn="l"/>
                      <a:r>
                        <a:rPr sz="1100">
                          <a:solidFill>
                            <a:srgbClr val="404040"/>
                          </a:solidFill>
                          <a:latin typeface="Arial"/>
                        </a:rPr>
                        <a:t>7/10</a:t>
                      </a:r>
                    </a:p>
                  </a:txBody>
                  <a:tcPr marL="45720" marR="45720" marT="45720" marB="45720">
                    <a:solidFill>
                      <a:srgbClr val="F0F0F0"/>
                    </a:solidFill>
                  </a:tcPr>
                </a:tc>
              </a:tr>
            </a:tbl>
          </a:graphicData>
        </a:graphic>
      </p:graphicFrame>
      <p:sp>
        <p:nvSpPr>
          <p:cNvPr id="5" name="TextBox 4"/>
          <p:cNvSpPr txBox="1"/>
          <p:nvPr/>
        </p:nvSpPr>
        <p:spPr>
          <a:xfrm>
            <a:off x="457200" y="6400800"/>
            <a:ext cx="5486400" cy="365760"/>
          </a:xfrm>
          <a:prstGeom prst="rect">
            <a:avLst/>
          </a:prstGeom>
          <a:noFill/>
        </p:spPr>
        <p:txBody>
          <a:bodyPr wrap="none" anchor="ctr">
            <a:spAutoFit/>
          </a:bodyPr>
          <a:lstStyle/>
          <a:p>
            <a:pPr algn="l">
              <a:defRPr sz="900">
                <a:solidFill>
                  <a:srgbClr val="808080"/>
                </a:solidFill>
                <a:latin typeface="Arial"/>
              </a:defRPr>
            </a:pPr>
            <a:r>
              <a:t>Confidential | September 06, 2025</a:t>
            </a:r>
          </a:p>
        </p:txBody>
      </p:sp>
      <p:sp>
        <p:nvSpPr>
          <p:cNvPr id="6" name="TextBox 5"/>
          <p:cNvSpPr txBox="1"/>
          <p:nvPr/>
        </p:nvSpPr>
        <p:spPr>
          <a:xfrm>
            <a:off x="9144000" y="6400800"/>
            <a:ext cx="2743200" cy="365760"/>
          </a:xfrm>
          <a:prstGeom prst="rect">
            <a:avLst/>
          </a:prstGeom>
          <a:noFill/>
        </p:spPr>
        <p:txBody>
          <a:bodyPr wrap="none" anchor="ctr">
            <a:spAutoFit/>
          </a:bodyPr>
          <a:lstStyle/>
          <a:p>
            <a:pPr algn="r">
              <a:defRPr sz="900">
                <a:solidFill>
                  <a:srgbClr val="808080"/>
                </a:solidFill>
                <a:latin typeface="Arial"/>
              </a:defRPr>
            </a:pPr>
            <a:r>
              <a:t>Moelis &amp; Company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