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 millions)</c:v>
                </c:pt>
              </c:strCache>
            </c:strRef>
          </c:tx>
          <c:spPr>
            <a:solidFill>
              <a:srgbClr val="183A58"/>
            </a:solidFill>
          </c:spPr>
          <c:dPt>
            <c:idx val="0"/>
            <c:spPr>
              <a:solidFill>
                <a:srgbClr val="183A58"/>
              </a:solidFill>
            </c:spPr>
          </c:dPt>
          <c:dPt>
            <c:idx val="1"/>
            <c:spPr>
              <a:solidFill>
                <a:srgbClr val="183A58"/>
              </a:solidFill>
            </c:spPr>
          </c:dPt>
          <c:dPt>
            <c:idx val="2"/>
            <c:spPr>
              <a:solidFill>
                <a:srgbClr val="183A58"/>
              </a:solidFill>
            </c:spPr>
          </c:dPt>
          <c:dPt>
            <c:idx val="3"/>
            <c:spPr>
              <a:solidFill>
                <a:srgbClr val="183A58"/>
              </a:solidFill>
            </c:spPr>
          </c:dPt>
          <c:dPt>
            <c:idx val="4"/>
            <c:spPr>
              <a:solidFill>
                <a:srgbClr val="183A58"/>
              </a:solidFill>
            </c:spPr>
          </c:dPt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145</c:v>
                </c:pt>
                <c:pt idx="2">
                  <c:v>180</c:v>
                </c:pt>
                <c:pt idx="3">
                  <c:v>210</c:v>
                </c:pt>
                <c:pt idx="4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(USD millions)</c:v>
                </c:pt>
              </c:strCache>
            </c:strRef>
          </c:tx>
          <c:spPr>
            <a:solidFill>
              <a:srgbClr val="B5975B"/>
            </a:solidFill>
          </c:spPr>
          <c:dPt>
            <c:idx val="0"/>
            <c:spPr>
              <a:solidFill>
                <a:srgbClr val="B5975B"/>
              </a:solidFill>
            </c:spPr>
          </c:dPt>
          <c:dPt>
            <c:idx val="1"/>
            <c:spPr>
              <a:solidFill>
                <a:srgbClr val="B5975B"/>
              </a:solidFill>
            </c:spPr>
          </c:dPt>
          <c:dPt>
            <c:idx val="2"/>
            <c:spPr>
              <a:solidFill>
                <a:srgbClr val="B5975B"/>
              </a:solidFill>
            </c:spPr>
          </c:dPt>
          <c:dPt>
            <c:idx val="3"/>
            <c:spPr>
              <a:solidFill>
                <a:srgbClr val="B5975B"/>
              </a:solidFill>
            </c:spPr>
          </c:dPt>
          <c:dPt>
            <c:idx val="4"/>
            <c:spPr>
              <a:solidFill>
                <a:srgbClr val="B5975B"/>
              </a:solidFill>
            </c:spPr>
          </c:dPt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</c:v>
                </c:pt>
                <c:pt idx="1">
                  <c:v>24</c:v>
                </c:pt>
                <c:pt idx="2">
                  <c:v>31</c:v>
                </c:pt>
                <c:pt idx="3">
                  <c:v>40</c:v>
                </c:pt>
                <c:pt idx="4">
                  <c:v>47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 millions)</c:v>
                </c:pt>
              </c:strCache>
            </c:strRef>
          </c:tx>
          <c:spPr>
            <a:solidFill>
              <a:srgbClr val="183A58"/>
            </a:solidFill>
          </c:spPr>
          <c:cat>
            <c:strRef>
              <c:f>Sheet1!$A$2:$A$4</c:f>
              <c:strCache>
                <c:ptCount val="3"/>
                <c:pt idx="0">
                  <c:v>2024E</c:v>
                </c:pt>
                <c:pt idx="1">
                  <c:v>2025E</c:v>
                </c:pt>
                <c:pt idx="2">
                  <c:v>2026E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240</c:v>
                </c:pt>
                <c:pt idx="1">
                  <c:v>280</c:v>
                </c:pt>
                <c:pt idx="2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(USD millions)</c:v>
                </c:pt>
              </c:strCache>
            </c:strRef>
          </c:tx>
          <c:spPr>
            <a:solidFill>
              <a:srgbClr val="B5975B"/>
            </a:solidFill>
          </c:spPr>
          <c:cat>
            <c:strRef>
              <c:f>Sheet1!$A$2:$A$4</c:f>
              <c:strCache>
                <c:ptCount val="3"/>
                <c:pt idx="0">
                  <c:v>2024E</c:v>
                </c:pt>
                <c:pt idx="1">
                  <c:v>2025E</c:v>
                </c:pt>
                <c:pt idx="2">
                  <c:v>2026E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</c:v>
                </c:pt>
                <c:pt idx="1">
                  <c:v>56</c:v>
                </c:pt>
                <c:pt idx="2">
                  <c:v>64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/>
            </a:pP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(HK$ M)</c:v>
                </c:pt>
              </c:strCache>
            </c:strRef>
          </c:tx>
          <c:dPt>
            <c:idx val="0"/>
            <c:spPr>
              <a:solidFill>
                <a:srgbClr val="183A58"/>
              </a:solidFill>
            </c:spPr>
          </c:dPt>
          <c:dPt>
            <c:idx val="1"/>
            <c:spPr>
              <a:solidFill>
                <a:srgbClr val="183A58"/>
              </a:solidFill>
            </c:spPr>
          </c:dPt>
          <c:dPt>
            <c:idx val="2"/>
            <c:spPr>
              <a:solidFill>
                <a:srgbClr val="183A58"/>
              </a:solidFill>
            </c:spPr>
          </c:dPt>
          <c:cat>
            <c:strRef>
              <c:f>Sheet1!$A$2:$A$4</c:f>
              <c:strCache>
                <c:ptCount val="3"/>
                <c:pt idx="0">
                  <c:v>PT Nippon Indosari Corpindo (Sari Roti)</c:v>
                </c:pt>
                <c:pt idx="1">
                  <c:v>Sriboga Raturaya (Holland Bakery)</c:v>
                </c:pt>
                <c:pt idx="2">
                  <c:v>PT Breadtalk Indonesia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260</c:v>
                </c:pt>
                <c:pt idx="1">
                  <c:v>180</c:v>
                </c:pt>
                <c:pt idx="2">
                  <c:v>110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/>
            </a:pP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 %</c:v>
                </c:pt>
              </c:strCache>
            </c:strRef>
          </c:tx>
          <c:spPr>
            <a:ln w="38100">
              <a:solidFill>
                <a:srgbClr val="B5975B"/>
              </a:solidFill>
            </a:ln>
          </c:spPr>
          <c:dPt>
            <c:idx val="0"/>
            <c:spPr>
              <a:solidFill>
                <a:srgbClr val="B5975B"/>
              </a:solidFill>
              <a:ln>
                <a:solidFill>
                  <a:srgbClr val="B5975B"/>
                </a:solidFill>
              </a:ln>
            </c:spPr>
          </c:dPt>
          <c:dPt>
            <c:idx val="1"/>
            <c:spPr>
              <a:solidFill>
                <a:srgbClr val="B5975B"/>
              </a:solidFill>
              <a:ln>
                <a:solidFill>
                  <a:srgbClr val="B5975B"/>
                </a:solidFill>
              </a:ln>
            </c:spPr>
          </c:dPt>
          <c:dPt>
            <c:idx val="2"/>
            <c:spPr>
              <a:solidFill>
                <a:srgbClr val="B5975B"/>
              </a:solidFill>
              <a:ln>
                <a:solidFill>
                  <a:srgbClr val="B5975B"/>
                </a:solidFill>
              </a:ln>
            </c:spPr>
          </c:dPt>
          <c:dPt>
            <c:idx val="3"/>
            <c:spPr>
              <a:solidFill>
                <a:srgbClr val="B5975B"/>
              </a:solidFill>
              <a:ln>
                <a:solidFill>
                  <a:srgbClr val="B5975B"/>
                </a:solidFill>
              </a:ln>
            </c:spPr>
          </c:dPt>
          <c:dPt>
            <c:idx val="4"/>
            <c:spPr>
              <a:solidFill>
                <a:srgbClr val="B5975B"/>
              </a:solidFill>
              <a:ln>
                <a:solidFill>
                  <a:srgbClr val="B5975B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15.0</c:v>
                </c:pt>
                <c:pt idx="1">
                  <c:v>16.6</c:v>
                </c:pt>
                <c:pt idx="2">
                  <c:v>17.2</c:v>
                </c:pt>
                <c:pt idx="3">
                  <c:v>19.0</c:v>
                </c:pt>
                <c:pt idx="4">
                  <c:v>19.6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Business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972800" cy="10972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04040"/>
                </a:solidFill>
                <a:latin typeface="Arial"/>
              </a:rPr>
              <a:t>Breadlife is Indonesia’s leading Japanese-inspired artisan bakery chain, owned by The Daily Company (DailyCo). Known for its fresh, preservative-free breads, Breadlife operates over 130 outlets in major cities and transit hubs, serving both B2C retail and institutional B2B clients.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2606040"/>
            <a:ext cx="3657600" cy="18288"/>
          </a:xfrm>
          <a:prstGeom prst="rect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0" y="2560320"/>
            <a:ext cx="109728" cy="109728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457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83A58"/>
                </a:solidFill>
                <a:latin typeface="Arial"/>
              </a:rPr>
              <a:t>2015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86000"/>
            <a:ext cx="457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83A58"/>
                </a:solidFill>
                <a:latin typeface="Arial"/>
              </a:rP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68880"/>
            <a:ext cx="2743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(9+ years of operation)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2560320"/>
            <a:ext cx="4114800" cy="3200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2651760"/>
            <a:ext cx="3749039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83A58"/>
                </a:solidFill>
                <a:latin typeface="Arial"/>
              </a:rPr>
              <a:t>Key Operational Highlights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0" y="306324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3017520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Largest Japanese-style artisan bakery network in Indonesia.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0" y="342899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383279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Rapid expansion with 100+ new outlets since 2021 acquisition.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0" y="3794759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347472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Consistent double-digit revenue and EBITDA growth post-acquisition.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08960"/>
            <a:ext cx="45720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Core Service Lines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3520440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474720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Artisan sweet and savory breads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023359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977639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Whole cakes and celebration products</a:t>
            </a:r>
          </a:p>
        </p:txBody>
      </p:sp>
      <p:sp>
        <p:nvSpPr>
          <p:cNvPr id="24" name="Oval 23"/>
          <p:cNvSpPr/>
          <p:nvPr/>
        </p:nvSpPr>
        <p:spPr>
          <a:xfrm>
            <a:off x="3840480" y="3520440"/>
            <a:ext cx="45720" cy="457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77640" y="3474720"/>
            <a:ext cx="2560320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Packaged soft buns and B2B snack boxes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669280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Strategic Market Positioning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035040"/>
            <a:ext cx="1051560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Arial"/>
              </a:rPr>
              <a:t>Premium yet affordable, health-forward bakery catering to urban consumers seeking fresh, innovative, and quality baked goods.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3657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808080"/>
                </a:solidFill>
                <a:latin typeface="Arial"/>
              </a:rPr>
              <a:t>Confidential | September 06, 2025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40080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  <a:latin typeface="Arial"/>
              </a:rPr>
              <a:t>Moelis &amp;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Investor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83A58"/>
                </a:solidFill>
                <a:latin typeface="Arial"/>
              </a:defRPr>
            </a:pPr>
            <a:r>
              <a:t>Considerations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83A58"/>
                </a:solidFill>
                <a:latin typeface="Arial"/>
              </a:defRPr>
            </a:pPr>
            <a:r>
              <a:t>Mitigants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45920"/>
            <a:ext cx="274320" cy="274320"/>
          </a:xfrm>
          <a:prstGeom prst="ellipse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85900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Intensifying competition in Indonesia’s bakery sector from local and international players.</a:t>
            </a:r>
          </a:p>
        </p:txBody>
      </p:sp>
      <p:sp>
        <p:nvSpPr>
          <p:cNvPr id="9" name="Oval 8"/>
          <p:cNvSpPr/>
          <p:nvPr/>
        </p:nvSpPr>
        <p:spPr>
          <a:xfrm>
            <a:off x="6126480" y="164592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459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85900"/>
            <a:ext cx="5212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Strong brand loyalty and high repeat purchase rates.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31720"/>
            <a:ext cx="274320" cy="274320"/>
          </a:xfrm>
          <a:prstGeom prst="ellipse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71700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Managing supply chain and input cost volatility (wheat, dairy).</a:t>
            </a:r>
          </a:p>
        </p:txBody>
      </p:sp>
      <p:sp>
        <p:nvSpPr>
          <p:cNvPr id="15" name="Oval 14"/>
          <p:cNvSpPr/>
          <p:nvPr/>
        </p:nvSpPr>
        <p:spPr>
          <a:xfrm>
            <a:off x="6126480" y="233172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71700"/>
            <a:ext cx="5212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Centralized procurement and long-term supplier contracts.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0175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857500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Sustaining growth momentum post rapid expansion phase.</a:t>
            </a:r>
          </a:p>
        </p:txBody>
      </p:sp>
      <p:sp>
        <p:nvSpPr>
          <p:cNvPr id="21" name="Oval 20"/>
          <p:cNvSpPr/>
          <p:nvPr/>
        </p:nvSpPr>
        <p:spPr>
          <a:xfrm>
            <a:off x="6126480" y="301752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30175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57500"/>
            <a:ext cx="5212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Proven track record of outlet-level profitability and disciplined expansion.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703320"/>
            <a:ext cx="274320" cy="274320"/>
          </a:xfrm>
          <a:prstGeom prst="ellipse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543300"/>
            <a:ext cx="47548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Ability to maintain product innovation and consumer engagement.</a:t>
            </a:r>
          </a:p>
        </p:txBody>
      </p:sp>
      <p:sp>
        <p:nvSpPr>
          <p:cNvPr id="27" name="Oval 26"/>
          <p:cNvSpPr/>
          <p:nvPr/>
        </p:nvSpPr>
        <p:spPr>
          <a:xfrm>
            <a:off x="6126480" y="370332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3703320"/>
            <a:ext cx="2743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543300"/>
            <a:ext cx="5212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0">
                <a:solidFill>
                  <a:srgbClr val="404040"/>
                </a:solidFill>
                <a:latin typeface="Arial"/>
              </a:defRPr>
            </a:pPr>
            <a:r>
              <a:t>Continuous menu innovation driven by in-house R&amp;D team.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06, 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Product &amp; Service Footprint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28016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28016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Artisan Sweet Breads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Wide range of Japanese-inspired sweet breads with signature fillings, baked fresh daily.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Savory Breads &amp; Snacks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Popular choices include Yakitari, spicy chicken floss buns, and cheese breads catering to diverse tastes.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Cakes &amp; Celebration Products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Whole cakes, chiffon cakes, and party cakes for birthdays and gifting occasions.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274320" cy="274320"/>
          </a:xfrm>
          <a:prstGeom prst="ellipse">
            <a:avLst/>
          </a:prstGeom>
          <a:solidFill>
            <a:srgbClr val="B5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5029200" cy="228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Packaged Soft Buns &amp; Bundles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80"/>
            <a:ext cx="5029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Multi-pack soft buns and convenient snack boxes for families, groups, and B2B clients.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83A58"/>
                </a:solidFill>
                <a:latin typeface="Arial"/>
              </a:rPr>
              <a:t>Product &amp; Service Market Coverage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0" y="164592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8457"/>
                <a:gridCol w="718457"/>
                <a:gridCol w="718457"/>
                <a:gridCol w="718457"/>
                <a:gridCol w="718457"/>
                <a:gridCol w="718457"/>
                <a:gridCol w="718458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u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g</a:t>
                      </a:r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l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i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k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404040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/>
              <a:t>Renderer error: list index out of range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Historical Financial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83A58"/>
                </a:solidFill>
                <a:latin typeface="Arial"/>
              </a:rPr>
              <a:t>Company - 5-Year Financial Performance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28800" y="1554480"/>
          <a:ext cx="822960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828800" y="3749039"/>
            <a:ext cx="82296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Arial"/>
              </a:rPr>
              <a:t>*Historical figures represent estimated performance based on market trends.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4023360"/>
            <a:ext cx="256032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/>
              <a:t>Renderer error: 'str' object has no attribute 'get'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Management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25880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Chief Executive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69164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15+ years in F&amp;B and retail expansion across Southeast Asia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07568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Former Regional Director at a leading Asian QSR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45973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Expert in multi-unit operations and brand 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843784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MBA from National University of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319272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Chief Operating Officer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685032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Built and managed supply chain for 100+ outlets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06908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Ex-Head of Operations at a major Indonesian bakery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45312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Implemented lean manufacturing for central kitchen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3717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Certified Six Sigma Black Belt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325880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Chief Financial Officer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169164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Oversaw finance for F&amp;B conglomerates in Indonesia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207568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Led M&amp;A and integration of Breadlife into DailyCo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Implemented ERP systems for multi-brand groups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843784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Chartered Accountant (Indonesia)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80" y="3319272"/>
            <a:ext cx="3657600" cy="320040"/>
          </a:xfrm>
          <a:prstGeom prst="rect">
            <a:avLst/>
          </a:prstGeom>
          <a:noFill/>
        </p:spPr>
        <p:txBody>
          <a:bodyPr wrap="square" lIns="36576" rIns="36576" tIns="14630" bIns="14630">
            <a:spAutoFit/>
          </a:bodyPr>
          <a:lstStyle/>
          <a:p>
            <a:pPr algn="l">
              <a:defRPr sz="1400" b="1">
                <a:solidFill>
                  <a:srgbClr val="183A58"/>
                </a:solidFill>
                <a:latin typeface="Arial"/>
              </a:defRPr>
            </a:pPr>
            <a:r>
              <a:t>Head of Product &amp; Innovation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3685032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Developed 25+ market-leading bakery SKUs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4069080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Former R&amp;D Head at Japanese-style bakery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453128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Expert in flavor innovation and food 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837176"/>
            <a:ext cx="3657600" cy="329184"/>
          </a:xfrm>
          <a:prstGeom prst="rect">
            <a:avLst/>
          </a:prstGeom>
          <a:noFill/>
        </p:spPr>
        <p:txBody>
          <a:bodyPr wrap="square" lIns="36576" rIns="36576" tIns="10972" bIns="10972"/>
          <a:lstStyle/>
          <a:p>
            <a:pPr algn="l">
              <a:lnSpc>
                <a:spcPct val="120000"/>
              </a:lnSpc>
              <a:defRPr sz="1100">
                <a:solidFill>
                  <a:srgbClr val="404040"/>
                </a:solidFill>
                <a:latin typeface="Arial"/>
              </a:defRPr>
            </a:pPr>
            <a:r>
              <a:t>• Graduate of Tokyo Institute of Culinary Arts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55080"/>
            <a:ext cx="5486400" cy="36576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06,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355080"/>
            <a:ext cx="2926080" cy="365760"/>
          </a:xfrm>
          <a:prstGeom prst="rect">
            <a:avLst/>
          </a:prstGeom>
          <a:noFill/>
        </p:spPr>
        <p:txBody>
          <a:bodyPr wrap="none" lIns="45720" rIns="45720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Growth Strategy &amp;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Multi-Pronged Growth Strategy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4592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Accelerate outlet expansion in secondary Indonesian cities.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96596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Expand B2B institutional sales and corporate catering partnerships.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8600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Invest in digital ordering, loyalty programs, and e-commerce to boost urban sales.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858000" y="1280160"/>
          <a:ext cx="502920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0" y="3291840"/>
            <a:ext cx="5029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3A58"/>
                </a:solidFill>
                <a:latin typeface="Arial"/>
              </a:rPr>
              <a:t>Revenue &amp; EBITDA Projections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566160"/>
            <a:ext cx="5029200" cy="182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Arial"/>
              </a:rPr>
              <a:t>■ Revenue (USD millions)  ■ EBITDA (USD millions)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06,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Competitive Positioning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Revenue Comparison vs. Competitors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0" y="1188720"/>
            <a:ext cx="5029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Competitive Assessment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554480"/>
          <a:ext cx="35661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31520"/>
                <a:gridCol w="640080"/>
                <a:gridCol w="8229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our_company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competitor_a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competitor_b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our_company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competitor_a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183A58"/>
                          </a:solidFill>
                          <a:latin typeface="Arial"/>
                        </a:rPr>
                        <a:t>competitor_b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our_company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competitor_a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competitor_b</a:t>
                      </a:r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our_company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competitor_a</a:t>
                      </a:r>
                    </a:p>
                  </a:txBody>
                  <a:tcPr marL="45720" marR="4572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404040"/>
                          </a:solidFill>
                          <a:latin typeface="Arial"/>
                        </a:rPr>
                        <a:t>competitor_b</a:t>
                      </a:r>
                    </a:p>
                  </a:txBody>
                  <a:tcPr marL="45720" marR="45720" marT="45720" marB="4572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/>
              <a:t>Renderer error: column index [4] out of range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Valuation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241280" cy="228600"/>
          </a:xfrm>
          <a:prstGeom prst="rect">
            <a:avLst/>
          </a:prstGeom>
          <a:noFill/>
        </p:spPr>
        <p:txBody>
          <a:bodyPr wrap="none" lIns="45720" rIns="45720">
            <a:spAutoFit/>
          </a:bodyPr>
          <a:lstStyle/>
          <a:p>
            <a:pPr algn="ctr">
              <a:defRPr sz="1100" b="1">
                <a:solidFill>
                  <a:srgbClr val="183A58"/>
                </a:solidFill>
                <a:latin typeface="Arial"/>
              </a:defRPr>
            </a:pPr>
            <a:r>
              <a:t>Implied EV/Post IRFS-16 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80160"/>
            <a:ext cx="2011680" cy="457200"/>
          </a:xfrm>
          <a:prstGeom prst="rect">
            <a:avLst/>
          </a:prstGeom>
          <a:solidFill>
            <a:srgbClr val="183A58"/>
          </a:solidFill>
          <a:ln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2011680" cy="457200"/>
          </a:xfrm>
          <a:prstGeom prst="rect">
            <a:avLst/>
          </a:prstGeom>
          <a:noFill/>
        </p:spPr>
        <p:txBody>
          <a:bodyPr wrap="none" anchor="ctr" lIns="73152" rIns="7315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280160"/>
            <a:ext cx="3291840" cy="457200"/>
          </a:xfrm>
          <a:prstGeom prst="rect">
            <a:avLst/>
          </a:prstGeom>
          <a:solidFill>
            <a:srgbClr val="183A58"/>
          </a:solidFill>
          <a:ln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1280160"/>
            <a:ext cx="3291840" cy="457200"/>
          </a:xfrm>
          <a:prstGeom prst="rect">
            <a:avLst/>
          </a:prstGeom>
          <a:noFill/>
        </p:spPr>
        <p:txBody>
          <a:bodyPr wrap="none" anchor="ctr" lIns="73152" rIns="7315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Commentary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80160"/>
            <a:ext cx="1645920" cy="457200"/>
          </a:xfrm>
          <a:prstGeom prst="rect">
            <a:avLst/>
          </a:prstGeom>
          <a:solidFill>
            <a:srgbClr val="183A58"/>
          </a:solidFill>
          <a:ln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1645920" cy="457200"/>
          </a:xfrm>
          <a:prstGeom prst="rect">
            <a:avLst/>
          </a:prstGeom>
          <a:noFill/>
        </p:spPr>
        <p:txBody>
          <a:bodyPr wrap="none" anchor="ctr" lIns="73152" rIns="7315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Enterprise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1463040" cy="457200"/>
          </a:xfrm>
          <a:prstGeom prst="rect">
            <a:avLst/>
          </a:prstGeom>
          <a:solidFill>
            <a:srgbClr val="183A58"/>
          </a:solidFill>
          <a:ln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280160"/>
            <a:ext cx="1463040" cy="457200"/>
          </a:xfrm>
          <a:prstGeom prst="rect">
            <a:avLst/>
          </a:prstGeom>
          <a:noFill/>
        </p:spPr>
        <p:txBody>
          <a:bodyPr wrap="none" anchor="ctr" lIns="73152" rIns="7315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1280160"/>
            <a:ext cx="914400" cy="457200"/>
          </a:xfrm>
          <a:prstGeom prst="rect">
            <a:avLst/>
          </a:prstGeom>
          <a:solidFill>
            <a:srgbClr val="183A58"/>
          </a:solidFill>
          <a:ln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1280160"/>
            <a:ext cx="914400" cy="457200"/>
          </a:xfrm>
          <a:prstGeom prst="rect">
            <a:avLst/>
          </a:prstGeom>
          <a:noFill/>
        </p:spPr>
        <p:txBody>
          <a:bodyPr wrap="none" anchor="ctr" lIns="73152" rIns="7315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22A'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24160" y="1280160"/>
            <a:ext cx="914400" cy="457200"/>
          </a:xfrm>
          <a:prstGeom prst="rect">
            <a:avLst/>
          </a:prstGeom>
          <a:solidFill>
            <a:srgbClr val="183A58"/>
          </a:solidFill>
          <a:ln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0" y="1280160"/>
            <a:ext cx="914400" cy="457200"/>
          </a:xfrm>
          <a:prstGeom prst="rect">
            <a:avLst/>
          </a:prstGeom>
          <a:noFill/>
        </p:spPr>
        <p:txBody>
          <a:bodyPr wrap="none" anchor="ctr" lIns="73152" rIns="7315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23E (Rev)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1737360"/>
            <a:ext cx="2011680" cy="1097280"/>
          </a:xfrm>
          <a:prstGeom prst="rect">
            <a:avLst/>
          </a:prstGeom>
          <a:solidFill>
            <a:srgbClr val="183A58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737360"/>
            <a:ext cx="201168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900" b="1">
                <a:solidFill>
                  <a:srgbClr val="FFFFFF"/>
                </a:solidFill>
                <a:latin typeface="Arial"/>
              </a:defRPr>
            </a:pPr>
            <a:r>
              <a:t>Precedent</a:t>
            </a:r>
            <a:br/>
            <a:r>
              <a:t>Transactions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1737360"/>
            <a:ext cx="3291840" cy="1097280"/>
          </a:xfrm>
          <a:prstGeom prst="rect">
            <a:avLst/>
          </a:prstGeom>
          <a:solidFill>
            <a:srgbClr val="F0F0F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737360"/>
            <a:ext cx="329184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l">
              <a:lnSpc>
                <a:spcPct val="110000"/>
              </a:lnSpc>
              <a:defRPr sz="800" b="0">
                <a:solidFill>
                  <a:srgbClr val="404040"/>
                </a:solidFill>
                <a:latin typeface="Arial"/>
              </a:defRPr>
            </a:pPr>
            <a:r>
              <a:t>Based on 1.0x–1.2x forward revenue and 8–9x</a:t>
            </a:r>
            <a:br/>
            <a:r>
              <a:t>EBITDA multiples for Indonesian bakery</a:t>
            </a:r>
            <a:br/>
            <a:r>
              <a:t>transactions.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737360"/>
            <a:ext cx="1645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164592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US$150M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737360"/>
            <a:ext cx="14630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737360"/>
            <a:ext cx="146304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EV/Revenue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737360"/>
            <a:ext cx="914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737360"/>
            <a:ext cx="91440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24160" y="1737360"/>
            <a:ext cx="914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1737360"/>
            <a:ext cx="91440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2834640"/>
            <a:ext cx="2011680" cy="1097280"/>
          </a:xfrm>
          <a:prstGeom prst="rect">
            <a:avLst/>
          </a:prstGeom>
          <a:solidFill>
            <a:srgbClr val="183A58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2834640"/>
            <a:ext cx="201168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900" b="1">
                <a:solidFill>
                  <a:srgbClr val="FFFFFF"/>
                </a:solidFill>
                <a:latin typeface="Arial"/>
              </a:defRPr>
            </a:pPr>
            <a:r>
              <a:t>Public Comps</a:t>
            </a:r>
            <a:br/>
            <a:r>
              <a:t>(Sari Roti)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2834640"/>
            <a:ext cx="3291840" cy="1097280"/>
          </a:xfrm>
          <a:prstGeom prst="rect">
            <a:avLst/>
          </a:prstGeom>
          <a:solidFill>
            <a:srgbClr val="F0F0F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08960" y="2834640"/>
            <a:ext cx="329184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l">
              <a:lnSpc>
                <a:spcPct val="110000"/>
              </a:lnSpc>
              <a:defRPr sz="800" b="0">
                <a:solidFill>
                  <a:srgbClr val="404040"/>
                </a:solidFill>
                <a:latin typeface="Arial"/>
              </a:defRPr>
            </a:pPr>
            <a:r>
              <a:t>Implied by 1.2x revenue and 9.5x EBITDA, in</a:t>
            </a:r>
            <a:br/>
            <a:r>
              <a:t>line with Sari Roti (IDX:ROTI) trading</a:t>
            </a:r>
            <a:br/>
            <a:r>
              <a:t>multiples.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834640"/>
            <a:ext cx="1645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834640"/>
            <a:ext cx="164592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US$175M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2834640"/>
            <a:ext cx="14630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34640"/>
            <a:ext cx="146304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</a:p>
        </p:txBody>
      </p:sp>
      <p:sp>
        <p:nvSpPr>
          <p:cNvPr id="37" name="Rectangle 36"/>
          <p:cNvSpPr/>
          <p:nvPr/>
        </p:nvSpPr>
        <p:spPr>
          <a:xfrm>
            <a:off x="9509760" y="2834640"/>
            <a:ext cx="914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2834640"/>
            <a:ext cx="91440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60" y="2834640"/>
            <a:ext cx="914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2834640"/>
            <a:ext cx="91440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97280" y="3931920"/>
            <a:ext cx="2011680" cy="1097280"/>
          </a:xfrm>
          <a:prstGeom prst="rect">
            <a:avLst/>
          </a:prstGeom>
          <a:solidFill>
            <a:srgbClr val="325032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931920"/>
            <a:ext cx="201168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900" b="1">
                <a:solidFill>
                  <a:srgbClr val="FFFFFF"/>
                </a:solidFill>
                <a:latin typeface="Arial"/>
              </a:defRPr>
            </a:pPr>
            <a:r>
              <a:t>Discounted Cash</a:t>
            </a:r>
            <a:br/>
            <a:r>
              <a:t>Flow (DCF)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0" y="3931920"/>
            <a:ext cx="3291840" cy="1097280"/>
          </a:xfrm>
          <a:prstGeom prst="rect">
            <a:avLst/>
          </a:prstGeom>
          <a:solidFill>
            <a:srgbClr val="F0F0F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3931920"/>
            <a:ext cx="329184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l">
              <a:lnSpc>
                <a:spcPct val="110000"/>
              </a:lnSpc>
              <a:defRPr sz="800" b="0">
                <a:solidFill>
                  <a:srgbClr val="404040"/>
                </a:solidFill>
                <a:latin typeface="Arial"/>
              </a:defRPr>
            </a:pPr>
            <a:r>
              <a:t>Assumes 12% discount rate, 5% terminal</a:t>
            </a:r>
            <a:br/>
            <a:r>
              <a:t>growth, and continued EBITDA margin</a:t>
            </a:r>
            <a:br/>
            <a:r>
              <a:t>expansion.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3931920"/>
            <a:ext cx="1645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931920"/>
            <a:ext cx="164592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US$165M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20" y="3931920"/>
            <a:ext cx="14630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3931920"/>
            <a:ext cx="146304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DCF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0" y="3931920"/>
            <a:ext cx="914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0" y="3931920"/>
            <a:ext cx="91440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424160" y="3931920"/>
            <a:ext cx="9144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24160" y="3931920"/>
            <a:ext cx="914400" cy="1097280"/>
          </a:xfrm>
          <a:prstGeom prst="rect">
            <a:avLst/>
          </a:prstGeom>
          <a:noFill/>
        </p:spPr>
        <p:txBody>
          <a:bodyPr wrap="square" anchor="ctr" tIns="73152" bIns="73152"/>
          <a:lstStyle/>
          <a:p>
            <a:pPr algn="ctr">
              <a:lnSpc>
                <a:spcPct val="110000"/>
              </a:lnSpc>
              <a:defRPr sz="1100" b="0">
                <a:solidFill>
                  <a:srgbClr val="404040"/>
                </a:solidFill>
                <a:latin typeface="Arial"/>
              </a:defRPr>
            </a:pPr>
            <a:r>
              <a:t>-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1737360"/>
            <a:ext cx="822960" cy="2194560"/>
          </a:xfrm>
          <a:prstGeom prst="rect">
            <a:avLst/>
          </a:prstGeom>
          <a:solidFill>
            <a:srgbClr val="183A58"/>
          </a:solidFill>
          <a:ln w="6350">
            <a:solidFill>
              <a:srgbClr val="18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2880" y="1737360"/>
            <a:ext cx="822960" cy="21945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PRECEDENT TRANSACTIONS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" y="3931920"/>
            <a:ext cx="822960" cy="1097280"/>
          </a:xfrm>
          <a:prstGeom prst="rect">
            <a:avLst/>
          </a:prstGeom>
          <a:solidFill>
            <a:srgbClr val="325032"/>
          </a:solidFill>
          <a:ln w="6350">
            <a:solidFill>
              <a:srgbClr val="325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3931920"/>
            <a:ext cx="822960" cy="10972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DCF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05295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Precedent Transactions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83A58"/>
                </a:solidFill>
                <a:latin typeface="Arial"/>
              </a:defRPr>
            </a:pPr>
            <a:r>
              <a:t>EV/Revenue Multiples by Transaction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2919222"/>
            <a:ext cx="2804160" cy="555498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690622"/>
            <a:ext cx="2804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1.4x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66160"/>
            <a:ext cx="2804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latin typeface="Arial"/>
              </a:defRPr>
            </a:pPr>
            <a:r>
              <a:t>T1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1520" y="2980944"/>
            <a:ext cx="2804160" cy="493776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1520" y="2752344"/>
            <a:ext cx="2804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1.2x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1520" y="3566160"/>
            <a:ext cx="2804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latin typeface="Arial"/>
              </a:defRPr>
            </a:pPr>
            <a:r>
              <a:t>T2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37120" y="3017978"/>
            <a:ext cx="2804160" cy="456742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7120" y="2789378"/>
            <a:ext cx="2804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37120" y="3566160"/>
            <a:ext cx="28041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latin typeface="Arial"/>
              </a:defRPr>
            </a:pPr>
            <a:r>
              <a:t>T3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89120"/>
          <a:ext cx="1188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Date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Acquirer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Country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EV ($M)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Revenue ($M)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EV/Revenue</a:t>
                      </a:r>
                    </a:p>
                  </a:txBody>
                  <a:tcPr anchor="ctr"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600200" y="4389120"/>
          <a:ext cx="8686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5600"/>
                <a:gridCol w="2895600"/>
                <a:gridCol w="28956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2020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2023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PT Nippon Indos...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BreadTalk Indon...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Holland Bakery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Public (IDX:ROT...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Auric Pacific G...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Sriboga Raturay...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Indonesia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Indonesia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Indonesia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$350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$120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$200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$260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$100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$180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1.4x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1.2x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1.1x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295" y="6400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Margin &amp; Cost Resilience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Margin Performance &amp; Cost Management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14400" y="1645920"/>
          <a:ext cx="548640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3749039"/>
            <a:ext cx="228600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404040"/>
                </a:solidFill>
                <a:latin typeface="Arial"/>
              </a:rPr>
              <a:t>Source: Company financials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Cost Management &amp; Efficiency Initiatives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438912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343400"/>
            <a:ext cx="502920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83A58"/>
                </a:solidFill>
                <a:latin typeface="Arial"/>
              </a:rPr>
              <a:t>Centralized Procurement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80560"/>
            <a:ext cx="50292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Bulk purchasing of wheat and dairy to hedge input price volatility and reduce per-unit costs.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00600"/>
            <a:ext cx="54864" cy="54864"/>
          </a:xfrm>
          <a:prstGeom prst="ellipse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754880"/>
            <a:ext cx="5029200" cy="1371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83A58"/>
                </a:solidFill>
                <a:latin typeface="Arial"/>
              </a:rPr>
              <a:t>Lean Outlet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892040"/>
            <a:ext cx="502920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Arial"/>
              </a:rPr>
              <a:t>Standardized processes and training to keep labor and wastage costs low across all locations.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280160"/>
            <a:ext cx="45720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83A58"/>
                </a:solidFill>
                <a:latin typeface="Arial"/>
              </a:rPr>
              <a:t>Risk Mitigation Strategies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45920"/>
            <a:ext cx="4572000" cy="16459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1645920"/>
            <a:ext cx="91440" cy="1645920"/>
          </a:xfrm>
          <a:prstGeom prst="rect">
            <a:avLst/>
          </a:prstGeom>
          <a:solidFill>
            <a:srgbClr val="B597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/>
              <a:t>Renderer error: 'str' object has no attribute 'get'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SEA Conglomerate Strategic Buyers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729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3840480"/>
                <a:gridCol w="2011680"/>
                <a:gridCol w="1645920"/>
                <a:gridCol w="1218895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Country</a:t>
                      </a:r>
                    </a:p>
                  </a:txBody>
                  <a:tcPr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shareholders</a:t>
                      </a:r>
                    </a:p>
                  </a:txBody>
                  <a:tcPr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financials (US$m)</a:t>
                      </a:r>
                    </a:p>
                  </a:txBody>
                  <a:tcPr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Moelis contact</a:t>
                      </a:r>
                    </a:p>
                  </a:txBody>
                  <a:tcPr>
                    <a:solidFill>
                      <a:srgbClr val="183A58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Salim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Indonesia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One of Southeast Asia's largest conglomerates with interests in FMCG (via Indofood), retail, and financial services.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To be assigned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Jardine Matheson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Singapore/Hong Kong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Diversified conglomerate with major holdings in retail, automotive, and food distribution across Asia.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To be assigned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Sinar Mas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Indonesia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Major player in consumer goods, agribusiness, and real estate, with a growing footprint in food retail.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404040"/>
                          </a:solidFill>
                          <a:latin typeface="Arial"/>
                        </a:defRPr>
                      </a:pPr>
                      <a:r>
                        <a:t>To be assigned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06,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Strategic Buyer Profiles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286000"/>
                <a:gridCol w="2011680"/>
                <a:gridCol w="13716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Buyer Name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Strategic Rationale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Key Synergies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Concerns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Fit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06,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400" b="1">
                <a:solidFill>
                  <a:srgbClr val="183A58"/>
                </a:solidFill>
                <a:latin typeface="Arial"/>
              </a:rPr>
              <a:t>Financial Buyer Profiles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45720"/>
          </a:xfrm>
          <a:prstGeom prst="rect">
            <a:avLst/>
          </a:prstGeom>
          <a:solidFill>
            <a:srgbClr val="18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286000"/>
                <a:gridCol w="2011680"/>
                <a:gridCol w="13716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Buyer Name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Strategic Rationale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Key Synergies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Concerns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Fit</a:t>
                      </a:r>
                    </a:p>
                  </a:txBody>
                  <a:tcPr marL="45720" marR="45720" marT="45720" marB="45720">
                    <a:solidFill>
                      <a:srgbClr val="183A5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0F0F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45720" marR="4572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>
                <a:solidFill>
                  <a:srgbClr val="808080"/>
                </a:solidFill>
                <a:latin typeface="Arial"/>
              </a:defRPr>
            </a:pPr>
            <a:r>
              <a:t>Confidential | September 06,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>
                <a:solidFill>
                  <a:srgbClr val="808080"/>
                </a:solidFill>
                <a:latin typeface="Arial"/>
              </a:defRPr>
            </a:pPr>
            <a:r>
              <a:t>Moelis &amp; 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