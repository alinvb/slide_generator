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(USD millions)</c:v>
                </c:pt>
              </c:strCache>
            </c:strRef>
          </c:tx>
          <c:spPr>
            <a:solidFill>
              <a:srgbClr val="183A58"/>
            </a:solidFill>
          </c:spPr>
          <c:dPt>
            <c:idx val="0"/>
            <c:spPr>
              <a:solidFill>
                <a:srgbClr val="183A58"/>
              </a:solidFill>
            </c:spPr>
          </c:dPt>
          <c:dPt>
            <c:idx val="1"/>
            <c:spPr>
              <a:solidFill>
                <a:srgbClr val="183A58"/>
              </a:solidFill>
            </c:spPr>
          </c:dPt>
          <c:dPt>
            <c:idx val="2"/>
            <c:spPr>
              <a:solidFill>
                <a:srgbClr val="183A58"/>
              </a:solidFill>
            </c:spPr>
          </c:dPt>
          <c:dPt>
            <c:idx val="3"/>
            <c:spPr>
              <a:solidFill>
                <a:srgbClr val="183A58"/>
              </a:solidFill>
            </c:spPr>
          </c:dPt>
          <c:cat>
            <c:strRef>
              <c:f>Sheet1!$A$2:$A$5</c:f>
              <c:strCach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0.26</c:v>
                </c:pt>
                <c:pt idx="1">
                  <c:v>0.43</c:v>
                </c:pt>
                <c:pt idx="2">
                  <c:v>0.64</c:v>
                </c:pt>
                <c:pt idx="3">
                  <c:v>0.86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 (USD millions)</c:v>
                </c:pt>
              </c:strCache>
            </c:strRef>
          </c:tx>
          <c:spPr>
            <a:solidFill>
              <a:srgbClr val="B5975B"/>
            </a:solidFill>
          </c:spPr>
          <c:dPt>
            <c:idx val="0"/>
            <c:spPr>
              <a:solidFill>
                <a:srgbClr val="B5975B"/>
              </a:solidFill>
            </c:spPr>
          </c:dPt>
          <c:dPt>
            <c:idx val="1"/>
            <c:spPr>
              <a:solidFill>
                <a:srgbClr val="B5975B"/>
              </a:solidFill>
            </c:spPr>
          </c:dPt>
          <c:dPt>
            <c:idx val="2"/>
            <c:spPr>
              <a:solidFill>
                <a:srgbClr val="B5975B"/>
              </a:solidFill>
            </c:spPr>
          </c:dPt>
          <c:dPt>
            <c:idx val="3"/>
            <c:spPr>
              <a:solidFill>
                <a:srgbClr val="B5975B"/>
              </a:solidFill>
            </c:spPr>
          </c:dPt>
          <c:cat>
            <c:strRef>
              <c:f>Sheet1!$A$2:$A$5</c:f>
              <c:strCach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2024E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0.039</c:v>
                </c:pt>
                <c:pt idx="1">
                  <c:v>0.069</c:v>
                </c:pt>
                <c:pt idx="2">
                  <c:v>0.109</c:v>
                </c:pt>
                <c:pt idx="3">
                  <c:v>0.155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/>
            </a:pP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(HK$ M)</c:v>
                </c:pt>
              </c:strCache>
            </c:strRef>
          </c:tx>
          <c:dPt>
            <c:idx val="0"/>
            <c:spPr>
              <a:solidFill>
                <a:srgbClr val="183A58"/>
              </a:solidFill>
            </c:spPr>
          </c:dPt>
          <c:dPt>
            <c:idx val="1"/>
            <c:spPr>
              <a:solidFill>
                <a:srgbClr val="183A58"/>
              </a:solidFill>
            </c:spPr>
          </c:dPt>
          <c:cat>
            <c:strRef>
              <c:f>Sheet1!$A$2:$A$3</c:f>
              <c:strCache>
                <c:ptCount val="2"/>
                <c:pt idx="0">
                  <c:v>Regional Competitor A</c:v>
                </c:pt>
                <c:pt idx="1">
                  <c:v>Regional Competitor B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</c:v>
                </c:pt>
                <c:pt idx="1">
                  <c:v>0.5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0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/>
            </a:pP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(HK$ M)</c:v>
                </c:pt>
              </c:strCache>
            </c:strRef>
          </c:tx>
          <c:dPt>
            <c:idx val="0"/>
            <c:spPr>
              <a:solidFill>
                <a:srgbClr val="183A58"/>
              </a:solidFill>
            </c:spPr>
          </c:dPt>
          <c:dPt>
            <c:idx val="1"/>
            <c:spPr>
              <a:solidFill>
                <a:srgbClr val="183A58"/>
              </a:solidFill>
            </c:spPr>
          </c:dPt>
          <c:cat>
            <c:strRef>
              <c:f>Sheet1!$A$2:$A$3</c:f>
              <c:strCache>
                <c:ptCount val="2"/>
                <c:pt idx="0">
                  <c:v>Regional Competitor A</c:v>
                </c:pt>
                <c:pt idx="1">
                  <c:v>Regional Competitor B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</c:v>
                </c:pt>
                <c:pt idx="1">
                  <c:v>0.5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0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/>
            </a:pP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(HK$ M)</c:v>
                </c:pt>
              </c:strCache>
            </c:strRef>
          </c:tx>
          <c:dPt>
            <c:idx val="0"/>
            <c:spPr>
              <a:solidFill>
                <a:srgbClr val="183A58"/>
              </a:solidFill>
            </c:spPr>
          </c:dPt>
          <c:dPt>
            <c:idx val="1"/>
            <c:spPr>
              <a:solidFill>
                <a:srgbClr val="183A58"/>
              </a:solidFill>
            </c:spPr>
          </c:dPt>
          <c:cat>
            <c:strRef>
              <c:f>Sheet1!$A$2:$A$3</c:f>
              <c:strCache>
                <c:ptCount val="2"/>
                <c:pt idx="0">
                  <c:v>Regional Competitor A</c:v>
                </c:pt>
                <c:pt idx="1">
                  <c:v>Regional Competitor B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</c:v>
                </c:pt>
                <c:pt idx="1">
                  <c:v>0.5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0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400" b="1">
                <a:solidFill>
                  <a:srgbClr val="183A58"/>
                </a:solidFill>
                <a:latin typeface="Arial"/>
              </a:rPr>
              <a:t>Core Techies Private Limited - Business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45720"/>
          </a:xfrm>
          <a:prstGeom prst="rect">
            <a:avLst/>
          </a:prstGeom>
          <a:solidFill>
            <a:srgbClr val="183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972800" cy="109728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04040"/>
                </a:solidFill>
                <a:latin typeface="Arial"/>
              </a:rPr>
              <a:t>Core Techies is a rapidly growing IT services company providing end-to-end software development and digital transformation solutions to SMEs across North India.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2560320"/>
            <a:ext cx="109728" cy="109728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4128" y="2606040"/>
            <a:ext cx="3657600" cy="18288"/>
          </a:xfrm>
          <a:prstGeom prst="rect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572000" y="2560320"/>
            <a:ext cx="109728" cy="109728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457200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83A58"/>
                </a:solidFill>
                <a:latin typeface="Arial"/>
              </a:rPr>
              <a:t>2015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286000"/>
            <a:ext cx="457200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83A58"/>
                </a:solidFill>
                <a:latin typeface="Arial"/>
              </a:rPr>
              <a:t>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468880"/>
            <a:ext cx="2743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Arial"/>
              </a:rPr>
              <a:t>(9+ years of operation)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2560320"/>
            <a:ext cx="4114800" cy="320040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0" y="2651760"/>
            <a:ext cx="3749039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83A58"/>
                </a:solidFill>
                <a:latin typeface="Arial"/>
              </a:rPr>
              <a:t>Key Operational Highlights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0" y="3063240"/>
            <a:ext cx="54864" cy="54864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60" y="3017520"/>
            <a:ext cx="347472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Arial"/>
              </a:rPr>
              <a:t>Established regional leader in custom software development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0" y="3428999"/>
            <a:ext cx="54864" cy="54864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3383279"/>
            <a:ext cx="347472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Arial"/>
              </a:rPr>
              <a:t>60% year-over-year revenue growth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0" y="3794759"/>
            <a:ext cx="54864" cy="54864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9560" y="3749039"/>
            <a:ext cx="347472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Arial"/>
              </a:rPr>
              <a:t>Strong presence in healthcare, education, and financial services sectors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0" y="4160520"/>
            <a:ext cx="54864" cy="54864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9560" y="4114800"/>
            <a:ext cx="347472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Arial"/>
              </a:rPr>
              <a:t>Team of 75+ skilled IT professionals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108960"/>
            <a:ext cx="45720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83A58"/>
                </a:solidFill>
                <a:latin typeface="Arial"/>
              </a:rPr>
              <a:t>Core Service Lines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520440"/>
            <a:ext cx="45720" cy="45720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3474720"/>
            <a:ext cx="2560320" cy="41148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Arial"/>
              </a:rPr>
              <a:t>Custom Software Development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023359"/>
            <a:ext cx="45720" cy="45720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3977639"/>
            <a:ext cx="2560320" cy="41148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Arial"/>
              </a:rPr>
              <a:t>Web &amp; Mobile Applications</a:t>
            </a:r>
          </a:p>
        </p:txBody>
      </p:sp>
      <p:sp>
        <p:nvSpPr>
          <p:cNvPr id="26" name="Oval 25"/>
          <p:cNvSpPr/>
          <p:nvPr/>
        </p:nvSpPr>
        <p:spPr>
          <a:xfrm>
            <a:off x="3840480" y="3520440"/>
            <a:ext cx="45720" cy="45720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77640" y="3474720"/>
            <a:ext cx="2560320" cy="41148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Arial"/>
              </a:rPr>
              <a:t>Cloud Solutions</a:t>
            </a:r>
          </a:p>
        </p:txBody>
      </p:sp>
      <p:sp>
        <p:nvSpPr>
          <p:cNvPr id="28" name="Oval 27"/>
          <p:cNvSpPr/>
          <p:nvPr/>
        </p:nvSpPr>
        <p:spPr>
          <a:xfrm>
            <a:off x="3840480" y="4023359"/>
            <a:ext cx="45720" cy="45720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77640" y="3977639"/>
            <a:ext cx="2560320" cy="41148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Arial"/>
              </a:rPr>
              <a:t>Digital Marketing Services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669280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83A58"/>
                </a:solidFill>
                <a:latin typeface="Arial"/>
              </a:rPr>
              <a:t>Strategic Market Positioning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6035040"/>
            <a:ext cx="10515600" cy="54864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04040"/>
                </a:solidFill>
                <a:latin typeface="Arial"/>
              </a:rPr>
              <a:t>Positioned as a premium yet cost-effective IT solutions provider for SMEs in North India, with focus on quality delivery and customer satisfaction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6400800"/>
            <a:ext cx="3657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808080"/>
                </a:solidFill>
                <a:latin typeface="Arial"/>
              </a:rPr>
              <a:t>Confidential | September 01, 2025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6400800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/>
              </a:rPr>
              <a:t>Moelis &amp; Company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400" b="1">
                <a:solidFill>
                  <a:srgbClr val="183A58"/>
                </a:solidFill>
                <a:latin typeface="Arial"/>
              </a:rPr>
              <a:t>Service Portfolio &amp; Market Coverage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45720"/>
          </a:xfrm>
          <a:prstGeom prst="rect">
            <a:avLst/>
          </a:prstGeom>
          <a:solidFill>
            <a:srgbClr val="183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280160"/>
            <a:ext cx="274320" cy="274320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280160"/>
            <a:ext cx="502920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83A58"/>
                </a:solidFill>
                <a:latin typeface="Arial"/>
              </a:rPr>
              <a:t>Custom Software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508760"/>
            <a:ext cx="5029200" cy="5029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Arial"/>
              </a:rPr>
              <a:t>End-to-end custom software solutions tailored for business needs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057400"/>
            <a:ext cx="274320" cy="274320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057400"/>
            <a:ext cx="502920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83A58"/>
                </a:solidFill>
                <a:latin typeface="Arial"/>
              </a:rPr>
              <a:t>Web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286000"/>
            <a:ext cx="5029200" cy="5029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Arial"/>
              </a:rPr>
              <a:t>Responsive web applications with modern technology stack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834640"/>
            <a:ext cx="274320" cy="274320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834640"/>
            <a:ext cx="502920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83A58"/>
                </a:solidFill>
                <a:latin typeface="Arial"/>
              </a:rPr>
              <a:t>Mobile App Development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063240"/>
            <a:ext cx="5029200" cy="5029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Arial"/>
              </a:rPr>
              <a:t>Native and cross-platform mobile applications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3611880"/>
            <a:ext cx="274320" cy="274320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502920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83A58"/>
                </a:solidFill>
                <a:latin typeface="Arial"/>
              </a:rPr>
              <a:t>Cloud Solutions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840480"/>
            <a:ext cx="5029200" cy="5029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Arial"/>
              </a:rPr>
              <a:t>Cloud migration and management services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1280160"/>
            <a:ext cx="5029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83A58"/>
                </a:solidFill>
                <a:latin typeface="Arial"/>
              </a:rPr>
              <a:t>Product &amp; Service Market Coverage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3152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/>
              <a:t>Renderer error: 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400" b="1">
                <a:solidFill>
                  <a:srgbClr val="183A58"/>
                </a:solidFill>
                <a:latin typeface="Arial"/>
              </a:rPr>
              <a:t>Financial Performance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45720"/>
          </a:xfrm>
          <a:prstGeom prst="rect">
            <a:avLst/>
          </a:prstGeom>
          <a:solidFill>
            <a:srgbClr val="183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83A58"/>
                </a:solidFill>
                <a:latin typeface="Arial"/>
              </a:rPr>
              <a:t>Company - 5-Year Financial Performance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1828800" y="1554480"/>
          <a:ext cx="8229600" cy="2103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828800" y="3749039"/>
            <a:ext cx="8229600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04040"/>
                </a:solidFill>
                <a:latin typeface="Arial"/>
              </a:rPr>
              <a:t>*Historical figures represent estimated performance based on market trends.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4023360"/>
            <a:ext cx="2560320" cy="100584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4114800"/>
            <a:ext cx="2377440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</a:p>
        </p:txBody>
      </p:sp>
      <p:sp>
        <p:nvSpPr>
          <p:cNvPr id="9" name="TextBox 8"/>
          <p:cNvSpPr txBox="1"/>
          <p:nvPr/>
        </p:nvSpPr>
        <p:spPr>
          <a:xfrm>
            <a:off x="786384" y="4297680"/>
            <a:ext cx="237744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83A58"/>
                </a:solidFill>
                <a:latin typeface="Arial"/>
              </a:rPr>
              <a:t>49%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4526280"/>
            <a:ext cx="2377440" cy="1371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</a:p>
        </p:txBody>
      </p:sp>
      <p:sp>
        <p:nvSpPr>
          <p:cNvPr id="11" name="TextBox 10"/>
          <p:cNvSpPr txBox="1"/>
          <p:nvPr/>
        </p:nvSpPr>
        <p:spPr>
          <a:xfrm>
            <a:off x="786384" y="4709160"/>
            <a:ext cx="237744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</a:p>
        </p:txBody>
      </p:sp>
      <p:sp>
        <p:nvSpPr>
          <p:cNvPr id="12" name="Rectangle 11"/>
          <p:cNvSpPr/>
          <p:nvPr/>
        </p:nvSpPr>
        <p:spPr>
          <a:xfrm>
            <a:off x="3493008" y="4023360"/>
            <a:ext cx="2560320" cy="100584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448" y="4114800"/>
            <a:ext cx="2377440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3584448" y="4297680"/>
            <a:ext cx="237744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83A58"/>
                </a:solidFill>
                <a:latin typeface="Arial"/>
              </a:rPr>
              <a:t>18%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4526280"/>
            <a:ext cx="2377440" cy="1371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</a:p>
        </p:txBody>
      </p:sp>
      <p:sp>
        <p:nvSpPr>
          <p:cNvPr id="16" name="TextBox 15"/>
          <p:cNvSpPr txBox="1"/>
          <p:nvPr/>
        </p:nvSpPr>
        <p:spPr>
          <a:xfrm>
            <a:off x="3584448" y="4709160"/>
            <a:ext cx="237744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</a:p>
        </p:txBody>
      </p:sp>
      <p:sp>
        <p:nvSpPr>
          <p:cNvPr id="17" name="Rectangle 16"/>
          <p:cNvSpPr/>
          <p:nvPr/>
        </p:nvSpPr>
        <p:spPr>
          <a:xfrm>
            <a:off x="6291072" y="4023360"/>
            <a:ext cx="2560320" cy="100584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4114800"/>
            <a:ext cx="2377440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</a:p>
        </p:txBody>
      </p:sp>
      <p:sp>
        <p:nvSpPr>
          <p:cNvPr id="19" name="TextBox 18"/>
          <p:cNvSpPr txBox="1"/>
          <p:nvPr/>
        </p:nvSpPr>
        <p:spPr>
          <a:xfrm>
            <a:off x="6382512" y="4297680"/>
            <a:ext cx="237744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83A58"/>
                </a:solidFill>
                <a:latin typeface="Arial"/>
              </a:rPr>
              <a:t>92%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4526280"/>
            <a:ext cx="2377440" cy="1371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</a:p>
        </p:txBody>
      </p:sp>
      <p:sp>
        <p:nvSpPr>
          <p:cNvPr id="21" name="TextBox 20"/>
          <p:cNvSpPr txBox="1"/>
          <p:nvPr/>
        </p:nvSpPr>
        <p:spPr>
          <a:xfrm>
            <a:off x="6382512" y="4709160"/>
            <a:ext cx="237744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</a:p>
        </p:txBody>
      </p:sp>
      <p:sp>
        <p:nvSpPr>
          <p:cNvPr id="22" name="TextBox 21"/>
          <p:cNvSpPr txBox="1"/>
          <p:nvPr/>
        </p:nvSpPr>
        <p:spPr>
          <a:xfrm>
            <a:off x="914400" y="5212080"/>
            <a:ext cx="6400800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83A58"/>
                </a:solidFill>
                <a:latin typeface="Arial"/>
              </a:rPr>
              <a:t>Revenue Growth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79" y="5120640"/>
            <a:ext cx="4389120" cy="914400"/>
          </a:xfrm>
          <a:prstGeom prst="rect">
            <a:avLst/>
          </a:prstGeom>
          <a:solidFill>
            <a:srgbClr val="F0F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0" y="5212080"/>
            <a:ext cx="4023360" cy="1371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28B22"/>
                </a:solidFill>
                <a:latin typeface="Arial"/>
              </a:rPr>
              <a:t>BANKER'S 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5394960"/>
            <a:ext cx="4023360" cy="5943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</a:p>
        </p:txBody>
      </p:sp>
      <p:sp>
        <p:nvSpPr>
          <p:cNvPr id="26" name="TextBox 25"/>
          <p:cNvSpPr txBox="1"/>
          <p:nvPr/>
        </p:nvSpPr>
        <p:spPr>
          <a:xfrm>
            <a:off x="457200" y="6309360"/>
            <a:ext cx="3657600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08080"/>
                </a:solidFill>
                <a:latin typeface="Arial"/>
              </a:rPr>
              <a:t>Confidential | September 01, 2025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6309360"/>
            <a:ext cx="3200400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Arial"/>
              </a:rPr>
              <a:t>Moelis &amp; Company Investment Opportunity   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400" b="1">
                <a:solidFill>
                  <a:srgbClr val="183A58"/>
                </a:solidFill>
                <a:latin typeface="Arial"/>
              </a:rPr>
              <a:t>Experienced Leadership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45720"/>
          </a:xfrm>
          <a:prstGeom prst="rect">
            <a:avLst/>
          </a:prstGeom>
          <a:solidFill>
            <a:srgbClr val="183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25880"/>
            <a:ext cx="3657600" cy="320040"/>
          </a:xfrm>
          <a:prstGeom prst="rect">
            <a:avLst/>
          </a:prstGeom>
          <a:noFill/>
        </p:spPr>
        <p:txBody>
          <a:bodyPr wrap="square" lIns="36576" rIns="36576" tIns="14630" bIns="14630">
            <a:spAutoFit/>
          </a:bodyPr>
          <a:lstStyle/>
          <a:p>
            <a:pPr algn="l">
              <a:defRPr sz="1400" b="1">
                <a:solidFill>
                  <a:srgbClr val="183A58"/>
                </a:solidFill>
                <a:latin typeface="Arial"/>
              </a:defRPr>
            </a:pPr>
            <a:r>
              <a:t>Chief Executive Officer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691640"/>
            <a:ext cx="3657600" cy="329184"/>
          </a:xfrm>
          <a:prstGeom prst="rect">
            <a:avLst/>
          </a:prstGeom>
          <a:noFill/>
        </p:spPr>
        <p:txBody>
          <a:bodyPr wrap="square" lIns="36576" rIns="36576" tIns="10972" bIns="10972"/>
          <a:lstStyle/>
          <a:p>
            <a:pPr algn="l">
              <a:lnSpc>
                <a:spcPct val="120000"/>
              </a:lnSpc>
              <a:defRPr sz="1100">
                <a:solidFill>
                  <a:srgbClr val="404040"/>
                </a:solidFill>
                <a:latin typeface="Arial"/>
              </a:defRPr>
            </a:pPr>
            <a:r>
              <a:t>• 12+ years of IT industry leadership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2075688"/>
            <a:ext cx="3657600" cy="329184"/>
          </a:xfrm>
          <a:prstGeom prst="rect">
            <a:avLst/>
          </a:prstGeom>
          <a:noFill/>
        </p:spPr>
        <p:txBody>
          <a:bodyPr wrap="square" lIns="36576" rIns="36576" tIns="10972" bIns="10972"/>
          <a:lstStyle/>
          <a:p>
            <a:pPr algn="l">
              <a:lnSpc>
                <a:spcPct val="120000"/>
              </a:lnSpc>
              <a:defRPr sz="1100">
                <a:solidFill>
                  <a:srgbClr val="404040"/>
                </a:solidFill>
                <a:latin typeface="Arial"/>
              </a:defRPr>
            </a:pPr>
            <a:r>
              <a:t>• Founded Core Techies in 2019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459736"/>
            <a:ext cx="3657600" cy="329184"/>
          </a:xfrm>
          <a:prstGeom prst="rect">
            <a:avLst/>
          </a:prstGeom>
          <a:noFill/>
        </p:spPr>
        <p:txBody>
          <a:bodyPr wrap="square" lIns="36576" rIns="36576" tIns="10972" bIns="10972"/>
          <a:lstStyle/>
          <a:p>
            <a:pPr algn="l">
              <a:lnSpc>
                <a:spcPct val="120000"/>
              </a:lnSpc>
              <a:defRPr sz="1100">
                <a:solidFill>
                  <a:srgbClr val="404040"/>
                </a:solidFill>
                <a:latin typeface="Arial"/>
              </a:defRPr>
            </a:pPr>
            <a:r>
              <a:t>• Expertise in strategic growth and market expansion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843784"/>
            <a:ext cx="3657600" cy="329184"/>
          </a:xfrm>
          <a:prstGeom prst="rect">
            <a:avLst/>
          </a:prstGeom>
          <a:noFill/>
        </p:spPr>
        <p:txBody>
          <a:bodyPr wrap="square" lIns="36576" rIns="36576" tIns="10972" bIns="10972"/>
          <a:lstStyle/>
          <a:p>
            <a:pPr algn="l">
              <a:lnSpc>
                <a:spcPct val="120000"/>
              </a:lnSpc>
              <a:defRPr sz="1100">
                <a:solidFill>
                  <a:srgbClr val="404040"/>
                </a:solidFill>
                <a:latin typeface="Arial"/>
              </a:defRPr>
            </a:pPr>
            <a:r>
              <a:t>• Strong track record in building client relationships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319272"/>
            <a:ext cx="3657600" cy="320040"/>
          </a:xfrm>
          <a:prstGeom prst="rect">
            <a:avLst/>
          </a:prstGeom>
          <a:noFill/>
        </p:spPr>
        <p:txBody>
          <a:bodyPr wrap="square" lIns="36576" rIns="36576" tIns="14630" bIns="14630">
            <a:spAutoFit/>
          </a:bodyPr>
          <a:lstStyle/>
          <a:p>
            <a:pPr algn="l">
              <a:defRPr sz="1400" b="1">
                <a:solidFill>
                  <a:srgbClr val="183A58"/>
                </a:solidFill>
                <a:latin typeface="Arial"/>
              </a:defRPr>
            </a:pPr>
            <a:r>
              <a:t>Chief Technology Officer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3685032"/>
            <a:ext cx="3657600" cy="329184"/>
          </a:xfrm>
          <a:prstGeom prst="rect">
            <a:avLst/>
          </a:prstGeom>
          <a:noFill/>
        </p:spPr>
        <p:txBody>
          <a:bodyPr wrap="square" lIns="36576" rIns="36576" tIns="10972" bIns="10972"/>
          <a:lstStyle/>
          <a:p>
            <a:pPr algn="l">
              <a:lnSpc>
                <a:spcPct val="120000"/>
              </a:lnSpc>
              <a:defRPr sz="1100">
                <a:solidFill>
                  <a:srgbClr val="404040"/>
                </a:solidFill>
                <a:latin typeface="Arial"/>
              </a:defRPr>
            </a:pPr>
            <a:r>
              <a:t>• 15+ years of software development expertise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069080"/>
            <a:ext cx="3657600" cy="329184"/>
          </a:xfrm>
          <a:prstGeom prst="rect">
            <a:avLst/>
          </a:prstGeom>
          <a:noFill/>
        </p:spPr>
        <p:txBody>
          <a:bodyPr wrap="square" lIns="36576" rIns="36576" tIns="10972" bIns="10972"/>
          <a:lstStyle/>
          <a:p>
            <a:pPr algn="l">
              <a:lnSpc>
                <a:spcPct val="120000"/>
              </a:lnSpc>
              <a:defRPr sz="1100">
                <a:solidFill>
                  <a:srgbClr val="404040"/>
                </a:solidFill>
                <a:latin typeface="Arial"/>
              </a:defRPr>
            </a:pPr>
            <a:r>
              <a:t>• Led multiple successful enterprise projects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4453128"/>
            <a:ext cx="3657600" cy="329184"/>
          </a:xfrm>
          <a:prstGeom prst="rect">
            <a:avLst/>
          </a:prstGeom>
          <a:noFill/>
        </p:spPr>
        <p:txBody>
          <a:bodyPr wrap="square" lIns="36576" rIns="36576" tIns="10972" bIns="10972"/>
          <a:lstStyle/>
          <a:p>
            <a:pPr algn="l">
              <a:lnSpc>
                <a:spcPct val="120000"/>
              </a:lnSpc>
              <a:defRPr sz="1100">
                <a:solidFill>
                  <a:srgbClr val="404040"/>
                </a:solidFill>
                <a:latin typeface="Arial"/>
              </a:defRPr>
            </a:pPr>
            <a:r>
              <a:t>• Specialization in emerging technologies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4837176"/>
            <a:ext cx="3657600" cy="329184"/>
          </a:xfrm>
          <a:prstGeom prst="rect">
            <a:avLst/>
          </a:prstGeom>
          <a:noFill/>
        </p:spPr>
        <p:txBody>
          <a:bodyPr wrap="square" lIns="36576" rIns="36576" tIns="10972" bIns="10972"/>
          <a:lstStyle/>
          <a:p>
            <a:pPr algn="l">
              <a:lnSpc>
                <a:spcPct val="120000"/>
              </a:lnSpc>
              <a:defRPr sz="1100">
                <a:solidFill>
                  <a:srgbClr val="404040"/>
                </a:solidFill>
                <a:latin typeface="Arial"/>
              </a:defRPr>
            </a:pPr>
            <a:r>
              <a:t>• Drives technical innovation and quality standards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1325880"/>
            <a:ext cx="3657600" cy="320040"/>
          </a:xfrm>
          <a:prstGeom prst="rect">
            <a:avLst/>
          </a:prstGeom>
          <a:noFill/>
        </p:spPr>
        <p:txBody>
          <a:bodyPr wrap="square" lIns="36576" rIns="36576" tIns="14630" bIns="14630">
            <a:spAutoFit/>
          </a:bodyPr>
          <a:lstStyle/>
          <a:p>
            <a:pPr algn="l">
              <a:defRPr sz="1400" b="1">
                <a:solidFill>
                  <a:srgbClr val="183A58"/>
                </a:solidFill>
                <a:latin typeface="Arial"/>
              </a:defRPr>
            </a:pPr>
            <a:r>
              <a:t>Head of Operations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69080" y="1691640"/>
            <a:ext cx="3657600" cy="329184"/>
          </a:xfrm>
          <a:prstGeom prst="rect">
            <a:avLst/>
          </a:prstGeom>
          <a:noFill/>
        </p:spPr>
        <p:txBody>
          <a:bodyPr wrap="square" lIns="36576" rIns="36576" tIns="10972" bIns="10972"/>
          <a:lstStyle/>
          <a:p>
            <a:pPr algn="l">
              <a:lnSpc>
                <a:spcPct val="120000"/>
              </a:lnSpc>
              <a:defRPr sz="1100">
                <a:solidFill>
                  <a:srgbClr val="404040"/>
                </a:solidFill>
                <a:latin typeface="Arial"/>
              </a:defRPr>
            </a:pPr>
            <a:r>
              <a:t>• 10+ years in IT operations management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69080" y="2075688"/>
            <a:ext cx="3657600" cy="329184"/>
          </a:xfrm>
          <a:prstGeom prst="rect">
            <a:avLst/>
          </a:prstGeom>
          <a:noFill/>
        </p:spPr>
        <p:txBody>
          <a:bodyPr wrap="square" lIns="36576" rIns="36576" tIns="10972" bIns="10972"/>
          <a:lstStyle/>
          <a:p>
            <a:pPr algn="l">
              <a:lnSpc>
                <a:spcPct val="120000"/>
              </a:lnSpc>
              <a:defRPr sz="1100">
                <a:solidFill>
                  <a:srgbClr val="404040"/>
                </a:solidFill>
                <a:latin typeface="Arial"/>
              </a:defRPr>
            </a:pPr>
            <a:r>
              <a:t>• Expertise in process optimization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69080" y="2459736"/>
            <a:ext cx="3657600" cy="329184"/>
          </a:xfrm>
          <a:prstGeom prst="rect">
            <a:avLst/>
          </a:prstGeom>
          <a:noFill/>
        </p:spPr>
        <p:txBody>
          <a:bodyPr wrap="square" lIns="36576" rIns="36576" tIns="10972" bIns="10972"/>
          <a:lstStyle/>
          <a:p>
            <a:pPr algn="l">
              <a:lnSpc>
                <a:spcPct val="120000"/>
              </a:lnSpc>
              <a:defRPr sz="1100">
                <a:solidFill>
                  <a:srgbClr val="404040"/>
                </a:solidFill>
                <a:latin typeface="Arial"/>
              </a:defRPr>
            </a:pPr>
            <a:r>
              <a:t>• Led team expansion from 10 to 75 employees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2843784"/>
            <a:ext cx="3657600" cy="329184"/>
          </a:xfrm>
          <a:prstGeom prst="rect">
            <a:avLst/>
          </a:prstGeom>
          <a:noFill/>
        </p:spPr>
        <p:txBody>
          <a:bodyPr wrap="square" lIns="36576" rIns="36576" tIns="10972" bIns="10972"/>
          <a:lstStyle/>
          <a:p>
            <a:pPr algn="l">
              <a:lnSpc>
                <a:spcPct val="120000"/>
              </a:lnSpc>
              <a:defRPr sz="1100">
                <a:solidFill>
                  <a:srgbClr val="404040"/>
                </a:solidFill>
                <a:latin typeface="Arial"/>
              </a:defRPr>
            </a:pPr>
            <a:r>
              <a:t>• Implemented agile methodologies across projects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69080" y="3319272"/>
            <a:ext cx="3657600" cy="320040"/>
          </a:xfrm>
          <a:prstGeom prst="rect">
            <a:avLst/>
          </a:prstGeom>
          <a:noFill/>
        </p:spPr>
        <p:txBody>
          <a:bodyPr wrap="square" lIns="36576" rIns="36576" tIns="14630" bIns="14630">
            <a:spAutoFit/>
          </a:bodyPr>
          <a:lstStyle/>
          <a:p>
            <a:pPr algn="l">
              <a:defRPr sz="1400" b="1">
                <a:solidFill>
                  <a:srgbClr val="183A58"/>
                </a:solidFill>
                <a:latin typeface="Arial"/>
              </a:defRPr>
            </a:pPr>
            <a:r>
              <a:t>Head of Business Development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69080" y="3685032"/>
            <a:ext cx="3657600" cy="329184"/>
          </a:xfrm>
          <a:prstGeom prst="rect">
            <a:avLst/>
          </a:prstGeom>
          <a:noFill/>
        </p:spPr>
        <p:txBody>
          <a:bodyPr wrap="square" lIns="36576" rIns="36576" tIns="10972" bIns="10972"/>
          <a:lstStyle/>
          <a:p>
            <a:pPr algn="l">
              <a:lnSpc>
                <a:spcPct val="120000"/>
              </a:lnSpc>
              <a:defRPr sz="1100">
                <a:solidFill>
                  <a:srgbClr val="404040"/>
                </a:solidFill>
                <a:latin typeface="Arial"/>
              </a:defRPr>
            </a:pPr>
            <a:r>
              <a:t>• 8+ years in technology sales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69080" y="4069080"/>
            <a:ext cx="3657600" cy="329184"/>
          </a:xfrm>
          <a:prstGeom prst="rect">
            <a:avLst/>
          </a:prstGeom>
          <a:noFill/>
        </p:spPr>
        <p:txBody>
          <a:bodyPr wrap="square" lIns="36576" rIns="36576" tIns="10972" bIns="10972"/>
          <a:lstStyle/>
          <a:p>
            <a:pPr algn="l">
              <a:lnSpc>
                <a:spcPct val="120000"/>
              </a:lnSpc>
              <a:defRPr sz="1100">
                <a:solidFill>
                  <a:srgbClr val="404040"/>
                </a:solidFill>
                <a:latin typeface="Arial"/>
              </a:defRPr>
            </a:pPr>
            <a:r>
              <a:t>• Established key regional partnerships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9080" y="4453128"/>
            <a:ext cx="3657600" cy="329184"/>
          </a:xfrm>
          <a:prstGeom prst="rect">
            <a:avLst/>
          </a:prstGeom>
          <a:noFill/>
        </p:spPr>
        <p:txBody>
          <a:bodyPr wrap="square" lIns="36576" rIns="36576" tIns="10972" bIns="10972"/>
          <a:lstStyle/>
          <a:p>
            <a:pPr algn="l">
              <a:lnSpc>
                <a:spcPct val="120000"/>
              </a:lnSpc>
              <a:defRPr sz="1100">
                <a:solidFill>
                  <a:srgbClr val="404040"/>
                </a:solidFill>
                <a:latin typeface="Arial"/>
              </a:defRPr>
            </a:pPr>
            <a:r>
              <a:t>• Drove 60% year-over-year revenue growth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9080" y="4837176"/>
            <a:ext cx="3657600" cy="329184"/>
          </a:xfrm>
          <a:prstGeom prst="rect">
            <a:avLst/>
          </a:prstGeom>
          <a:noFill/>
        </p:spPr>
        <p:txBody>
          <a:bodyPr wrap="square" lIns="36576" rIns="36576" tIns="10972" bIns="10972"/>
          <a:lstStyle/>
          <a:p>
            <a:pPr algn="l">
              <a:lnSpc>
                <a:spcPct val="120000"/>
              </a:lnSpc>
              <a:defRPr sz="1100">
                <a:solidFill>
                  <a:srgbClr val="404040"/>
                </a:solidFill>
                <a:latin typeface="Arial"/>
              </a:defRPr>
            </a:pPr>
            <a:r>
              <a:t>• Expertise in enterprise client acquisition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355080"/>
            <a:ext cx="5486400" cy="36576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>
              <a:defRPr sz="900">
                <a:solidFill>
                  <a:srgbClr val="808080"/>
                </a:solidFill>
                <a:latin typeface="Arial"/>
              </a:defRPr>
            </a:pPr>
            <a:r>
              <a:t>Confidential | September 01, 2025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355080"/>
            <a:ext cx="2926080" cy="36576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r">
              <a:defRPr sz="900">
                <a:solidFill>
                  <a:srgbClr val="808080"/>
                </a:solidFill>
                <a:latin typeface="Arial"/>
              </a:defRPr>
            </a:pPr>
            <a:r>
              <a:t>Moelis &amp; Company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400" b="1">
                <a:solidFill>
                  <a:srgbClr val="183A58"/>
                </a:solidFill>
                <a:latin typeface="Arial"/>
              </a:rPr>
              <a:t>Competitive Positioning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45720"/>
          </a:xfrm>
          <a:prstGeom prst="rect">
            <a:avLst/>
          </a:prstGeom>
          <a:solidFill>
            <a:srgbClr val="183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83A58"/>
                </a:solidFill>
                <a:latin typeface="Arial"/>
              </a:rPr>
              <a:t>Revenue Comparison vs. Competitors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554480"/>
          <a:ext cx="548640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0" y="1188720"/>
            <a:ext cx="5029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83A58"/>
                </a:solidFill>
                <a:latin typeface="Arial"/>
              </a:rPr>
              <a:t>Competitive Assessment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0" y="1554480"/>
          <a:ext cx="42976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731520"/>
                <a:gridCol w="640080"/>
                <a:gridCol w="822960"/>
                <a:gridCol w="731520"/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Provider</a:t>
                      </a:r>
                    </a:p>
                  </a:txBody>
                  <a:tcPr marL="45720" marR="45720" marT="45720" marB="45720">
                    <a:solidFill>
                      <a:srgbClr val="183A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Services</a:t>
                      </a:r>
                    </a:p>
                  </a:txBody>
                  <a:tcPr marL="45720" marR="45720" marT="45720" marB="45720">
                    <a:solidFill>
                      <a:srgbClr val="183A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Digital</a:t>
                      </a:r>
                    </a:p>
                  </a:txBody>
                  <a:tcPr marL="45720" marR="45720" marT="45720" marB="45720">
                    <a:solidFill>
                      <a:srgbClr val="183A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Intl. Focus</a:t>
                      </a:r>
                    </a:p>
                  </a:txBody>
                  <a:tcPr marL="45720" marR="45720" marT="45720" marB="45720">
                    <a:solidFill>
                      <a:srgbClr val="183A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Locations</a:t>
                      </a:r>
                    </a:p>
                  </a:txBody>
                  <a:tcPr marL="45720" marR="45720" marT="45720" marB="45720">
                    <a:solidFill>
                      <a:srgbClr val="183A5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83A58"/>
                          </a:solidFill>
                          <a:latin typeface="Arial"/>
                        </a:rPr>
                        <a:t>OT&amp;P Healthcare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83A58"/>
                          </a:solidFill>
                          <a:latin typeface="Arial"/>
                        </a:rPr>
                        <a:t>●●●●●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83A58"/>
                          </a:solidFill>
                          <a:latin typeface="Arial"/>
                        </a:rPr>
                        <a:t>●●●●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83A58"/>
                          </a:solidFill>
                          <a:latin typeface="Arial"/>
                        </a:rPr>
                        <a:t>●●●●●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83A58"/>
                          </a:solidFill>
                          <a:latin typeface="Arial"/>
                        </a:rPr>
                        <a:t>●●●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Central Health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●●●●●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●●●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●●●●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●●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HK Sanatorium</a:t>
                      </a:r>
                    </a:p>
                  </a:txBody>
                  <a:tcPr marL="45720" marR="4572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●●●●●</a:t>
                      </a:r>
                    </a:p>
                  </a:txBody>
                  <a:tcPr marL="45720" marR="4572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●●</a:t>
                      </a:r>
                    </a:p>
                  </a:txBody>
                  <a:tcPr marL="45720" marR="4572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●●●</a:t>
                      </a:r>
                    </a:p>
                  </a:txBody>
                  <a:tcPr marL="45720" marR="4572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45720" marR="45720" marT="45720" marB="45720"/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Matilda Intl.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●●●●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●●●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●●●●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0" y="3017520"/>
            <a:ext cx="5029200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Arial"/>
              </a:rPr>
              <a:t>Source: Management estimates, competitor websites, July 2024 [Medium Confidence]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83A58"/>
                </a:solidFill>
                <a:latin typeface="Arial"/>
              </a:rPr>
              <a:t>Barriers to Entry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480560"/>
            <a:ext cx="54864" cy="54864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434840"/>
            <a:ext cx="5029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Arial"/>
              </a:rPr>
              <a:t>Regulatory Compliance: Stringent healthcare licensing requirements and facility standards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4800600"/>
            <a:ext cx="54864" cy="54864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754880"/>
            <a:ext cx="5029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Arial"/>
              </a:rPr>
              <a:t>Specialist Recruitment: Challenging acquisition of multilingual medical talent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5120640"/>
            <a:ext cx="54864" cy="54864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074920"/>
            <a:ext cx="5029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Arial"/>
              </a:rPr>
              <a:t>Prime Real Estate: Limited availability and high cost of clinic locations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5440679"/>
            <a:ext cx="54864" cy="54864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394959"/>
            <a:ext cx="5029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Arial"/>
              </a:rPr>
              <a:t>Insurance Relationships: Established direct billing partnerships with 35+ insurers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474720"/>
            <a:ext cx="5029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83A58"/>
                </a:solidFill>
                <a:latin typeface="Arial"/>
              </a:rPr>
              <a:t>Company's Unique Advantages</a:t>
            </a:r>
          </a:p>
        </p:txBody>
      </p:sp>
      <p:sp>
        <p:nvSpPr>
          <p:cNvPr id="19" name="Oval 18"/>
          <p:cNvSpPr/>
          <p:nvPr/>
        </p:nvSpPr>
        <p:spPr>
          <a:xfrm>
            <a:off x="7040880" y="3840480"/>
            <a:ext cx="54864" cy="54864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400" b="1">
                <a:solidFill>
                  <a:srgbClr val="183A58"/>
                </a:solidFill>
                <a:latin typeface="Arial"/>
              </a:rPr>
              <a:t>Competitive Positioning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45720"/>
          </a:xfrm>
          <a:prstGeom prst="rect">
            <a:avLst/>
          </a:prstGeom>
          <a:solidFill>
            <a:srgbClr val="183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83A58"/>
                </a:solidFill>
                <a:latin typeface="Arial"/>
              </a:rPr>
              <a:t>Revenue Comparison vs. Competitors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554480"/>
          <a:ext cx="548640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0" y="1188720"/>
            <a:ext cx="5029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83A58"/>
                </a:solidFill>
                <a:latin typeface="Arial"/>
              </a:rPr>
              <a:t>Competitive Assessment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0" y="1554480"/>
          <a:ext cx="42976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731520"/>
                <a:gridCol w="640080"/>
                <a:gridCol w="822960"/>
                <a:gridCol w="731520"/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Provider</a:t>
                      </a:r>
                    </a:p>
                  </a:txBody>
                  <a:tcPr marL="45720" marR="45720" marT="45720" marB="45720">
                    <a:solidFill>
                      <a:srgbClr val="183A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Services</a:t>
                      </a:r>
                    </a:p>
                  </a:txBody>
                  <a:tcPr marL="45720" marR="45720" marT="45720" marB="45720">
                    <a:solidFill>
                      <a:srgbClr val="183A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Digital</a:t>
                      </a:r>
                    </a:p>
                  </a:txBody>
                  <a:tcPr marL="45720" marR="45720" marT="45720" marB="45720">
                    <a:solidFill>
                      <a:srgbClr val="183A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Intl. Focus</a:t>
                      </a:r>
                    </a:p>
                  </a:txBody>
                  <a:tcPr marL="45720" marR="45720" marT="45720" marB="45720">
                    <a:solidFill>
                      <a:srgbClr val="183A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Locations</a:t>
                      </a:r>
                    </a:p>
                  </a:txBody>
                  <a:tcPr marL="45720" marR="45720" marT="45720" marB="45720">
                    <a:solidFill>
                      <a:srgbClr val="183A5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83A58"/>
                          </a:solidFill>
                          <a:latin typeface="Arial"/>
                        </a:rPr>
                        <a:t>OT&amp;P Healthcare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83A58"/>
                          </a:solidFill>
                          <a:latin typeface="Arial"/>
                        </a:rPr>
                        <a:t>●●●●●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83A58"/>
                          </a:solidFill>
                          <a:latin typeface="Arial"/>
                        </a:rPr>
                        <a:t>●●●●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83A58"/>
                          </a:solidFill>
                          <a:latin typeface="Arial"/>
                        </a:rPr>
                        <a:t>●●●●●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83A58"/>
                          </a:solidFill>
                          <a:latin typeface="Arial"/>
                        </a:rPr>
                        <a:t>●●●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Central Health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●●●●●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●●●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●●●●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●●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HK Sanatorium</a:t>
                      </a:r>
                    </a:p>
                  </a:txBody>
                  <a:tcPr marL="45720" marR="4572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●●●●●</a:t>
                      </a:r>
                    </a:p>
                  </a:txBody>
                  <a:tcPr marL="45720" marR="4572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●●</a:t>
                      </a:r>
                    </a:p>
                  </a:txBody>
                  <a:tcPr marL="45720" marR="4572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●●●</a:t>
                      </a:r>
                    </a:p>
                  </a:txBody>
                  <a:tcPr marL="45720" marR="4572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45720" marR="45720" marT="45720" marB="45720"/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Matilda Intl.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●●●●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●●●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●●●●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0" y="3017520"/>
            <a:ext cx="5029200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Arial"/>
              </a:rPr>
              <a:t>Source: Management estimates, competitor websites, July 2024 [Medium Confidence]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83A58"/>
                </a:solidFill>
                <a:latin typeface="Arial"/>
              </a:rPr>
              <a:t>Barriers to Entry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480560"/>
            <a:ext cx="54864" cy="54864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434840"/>
            <a:ext cx="5029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Arial"/>
              </a:rPr>
              <a:t>Regulatory Compliance: Stringent healthcare licensing requirements and facility standards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4800600"/>
            <a:ext cx="54864" cy="54864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754880"/>
            <a:ext cx="5029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Arial"/>
              </a:rPr>
              <a:t>Specialist Recruitment: Challenging acquisition of multilingual medical talent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5120640"/>
            <a:ext cx="54864" cy="54864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074920"/>
            <a:ext cx="5029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Arial"/>
              </a:rPr>
              <a:t>Prime Real Estate: Limited availability and high cost of clinic locations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5440679"/>
            <a:ext cx="54864" cy="54864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394959"/>
            <a:ext cx="5029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Arial"/>
              </a:rPr>
              <a:t>Insurance Relationships: Established direct billing partnerships with 35+ insurers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474720"/>
            <a:ext cx="5029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83A58"/>
                </a:solidFill>
                <a:latin typeface="Arial"/>
              </a:rPr>
              <a:t>Company's Unique Advantages</a:t>
            </a:r>
          </a:p>
        </p:txBody>
      </p:sp>
      <p:sp>
        <p:nvSpPr>
          <p:cNvPr id="19" name="Oval 18"/>
          <p:cNvSpPr/>
          <p:nvPr/>
        </p:nvSpPr>
        <p:spPr>
          <a:xfrm>
            <a:off x="7040880" y="3840480"/>
            <a:ext cx="54864" cy="54864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400" b="1">
                <a:solidFill>
                  <a:srgbClr val="183A58"/>
                </a:solidFill>
                <a:latin typeface="Arial"/>
              </a:rPr>
              <a:t>Competitive Positioning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45720"/>
          </a:xfrm>
          <a:prstGeom prst="rect">
            <a:avLst/>
          </a:prstGeom>
          <a:solidFill>
            <a:srgbClr val="183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83A58"/>
                </a:solidFill>
                <a:latin typeface="Arial"/>
              </a:rPr>
              <a:t>Revenue Comparison vs. Competitors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554480"/>
          <a:ext cx="548640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0" y="1188720"/>
            <a:ext cx="5029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83A58"/>
                </a:solidFill>
                <a:latin typeface="Arial"/>
              </a:rPr>
              <a:t>Competitive Assessment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0" y="1554480"/>
          <a:ext cx="42976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731520"/>
                <a:gridCol w="640080"/>
                <a:gridCol w="822960"/>
                <a:gridCol w="731520"/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Provider</a:t>
                      </a:r>
                    </a:p>
                  </a:txBody>
                  <a:tcPr marL="45720" marR="45720" marT="45720" marB="45720">
                    <a:solidFill>
                      <a:srgbClr val="183A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Services</a:t>
                      </a:r>
                    </a:p>
                  </a:txBody>
                  <a:tcPr marL="45720" marR="45720" marT="45720" marB="45720">
                    <a:solidFill>
                      <a:srgbClr val="183A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Digital</a:t>
                      </a:r>
                    </a:p>
                  </a:txBody>
                  <a:tcPr marL="45720" marR="45720" marT="45720" marB="45720">
                    <a:solidFill>
                      <a:srgbClr val="183A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Intl. Focus</a:t>
                      </a:r>
                    </a:p>
                  </a:txBody>
                  <a:tcPr marL="45720" marR="45720" marT="45720" marB="45720">
                    <a:solidFill>
                      <a:srgbClr val="183A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Locations</a:t>
                      </a:r>
                    </a:p>
                  </a:txBody>
                  <a:tcPr marL="45720" marR="45720" marT="45720" marB="45720">
                    <a:solidFill>
                      <a:srgbClr val="183A5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83A58"/>
                          </a:solidFill>
                          <a:latin typeface="Arial"/>
                        </a:rPr>
                        <a:t>OT&amp;P Healthcare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83A58"/>
                          </a:solidFill>
                          <a:latin typeface="Arial"/>
                        </a:rPr>
                        <a:t>●●●●●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83A58"/>
                          </a:solidFill>
                          <a:latin typeface="Arial"/>
                        </a:rPr>
                        <a:t>●●●●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83A58"/>
                          </a:solidFill>
                          <a:latin typeface="Arial"/>
                        </a:rPr>
                        <a:t>●●●●●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83A58"/>
                          </a:solidFill>
                          <a:latin typeface="Arial"/>
                        </a:rPr>
                        <a:t>●●●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Central Health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●●●●●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●●●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●●●●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●●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HK Sanatorium</a:t>
                      </a:r>
                    </a:p>
                  </a:txBody>
                  <a:tcPr marL="45720" marR="4572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●●●●●</a:t>
                      </a:r>
                    </a:p>
                  </a:txBody>
                  <a:tcPr marL="45720" marR="4572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●●</a:t>
                      </a:r>
                    </a:p>
                  </a:txBody>
                  <a:tcPr marL="45720" marR="4572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●●●</a:t>
                      </a:r>
                    </a:p>
                  </a:txBody>
                  <a:tcPr marL="45720" marR="4572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45720" marR="45720" marT="45720" marB="45720"/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Matilda Intl.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●●●●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●●●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●●●●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0" y="3017520"/>
            <a:ext cx="5029200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Arial"/>
              </a:rPr>
              <a:t>Source: Management estimates, competitor websites, July 2024 [Medium Confidence]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83A58"/>
                </a:solidFill>
                <a:latin typeface="Arial"/>
              </a:rPr>
              <a:t>Barriers to Entry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480560"/>
            <a:ext cx="54864" cy="54864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434840"/>
            <a:ext cx="5029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Arial"/>
              </a:rPr>
              <a:t>Regulatory Compliance: Stringent healthcare licensing requirements and facility standards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4800600"/>
            <a:ext cx="54864" cy="54864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754880"/>
            <a:ext cx="5029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Arial"/>
              </a:rPr>
              <a:t>Specialist Recruitment: Challenging acquisition of multilingual medical talent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5120640"/>
            <a:ext cx="54864" cy="54864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074920"/>
            <a:ext cx="5029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Arial"/>
              </a:rPr>
              <a:t>Prime Real Estate: Limited availability and high cost of clinic locations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5440679"/>
            <a:ext cx="54864" cy="54864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394959"/>
            <a:ext cx="5029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Arial"/>
              </a:rPr>
              <a:t>Insurance Relationships: Established direct billing partnerships with 35+ insurers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474720"/>
            <a:ext cx="5029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83A58"/>
                </a:solidFill>
                <a:latin typeface="Arial"/>
              </a:rPr>
              <a:t>Company's Unique Advantages</a:t>
            </a:r>
          </a:p>
        </p:txBody>
      </p:sp>
      <p:sp>
        <p:nvSpPr>
          <p:cNvPr id="19" name="Oval 18"/>
          <p:cNvSpPr/>
          <p:nvPr/>
        </p:nvSpPr>
        <p:spPr>
          <a:xfrm>
            <a:off x="7040880" y="3840480"/>
            <a:ext cx="54864" cy="54864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3152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/>
              <a:t>Renderer error for render_competitive_positioning_slide: string indices must be integers, not 'str'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400" b="1">
                <a:solidFill>
                  <a:srgbClr val="183A58"/>
                </a:solidFill>
                <a:latin typeface="Arial"/>
              </a:rPr>
              <a:t>Growth Strategy &amp; Projections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45720"/>
          </a:xfrm>
          <a:prstGeom prst="rect">
            <a:avLst/>
          </a:prstGeom>
          <a:solidFill>
            <a:srgbClr val="183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83A58"/>
                </a:solidFill>
                <a:latin typeface="Arial"/>
              </a:rPr>
              <a:t>Multi-Pronged Growth Strategy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645920"/>
            <a:ext cx="54864" cy="54864"/>
          </a:xfrm>
          <a:prstGeom prst="ellipse">
            <a:avLst/>
          </a:prstGeom>
          <a:solidFill>
            <a:srgbClr val="B597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5029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Arial"/>
              </a:rPr>
              <a:t>Geographic expansion across North India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965960"/>
            <a:ext cx="54864" cy="54864"/>
          </a:xfrm>
          <a:prstGeom prst="ellipse">
            <a:avLst/>
          </a:prstGeom>
          <a:solidFill>
            <a:srgbClr val="B597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5029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Arial"/>
              </a:rPr>
              <a:t>New service line development in AI/ML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286000"/>
            <a:ext cx="54864" cy="54864"/>
          </a:xfrm>
          <a:prstGeom prst="ellipse">
            <a:avLst/>
          </a:prstGeom>
          <a:solidFill>
            <a:srgbClr val="B597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240280"/>
            <a:ext cx="5029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Arial"/>
              </a:rPr>
              <a:t>Strategic technology partnerships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2606039"/>
            <a:ext cx="54864" cy="54864"/>
          </a:xfrm>
          <a:prstGeom prst="ellipse">
            <a:avLst/>
          </a:prstGeom>
          <a:solidFill>
            <a:srgbClr val="B597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560319"/>
            <a:ext cx="5029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Arial"/>
              </a:rPr>
              <a:t>Vertical market penetration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>
                <a:solidFill>
                  <a:srgbClr val="808080"/>
                </a:solidFill>
                <a:latin typeface="Arial"/>
              </a:defRPr>
            </a:pPr>
            <a:r>
              <a:t>Confidential | September 01,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6400800"/>
            <a:ext cx="2743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>
                <a:solidFill>
                  <a:srgbClr val="808080"/>
                </a:solidFill>
                <a:latin typeface="Arial"/>
              </a:defRPr>
            </a:pPr>
            <a:r>
              <a:t>Moelis &amp; Company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400" b="1">
                <a:solidFill>
                  <a:srgbClr val="183A58"/>
                </a:solidFill>
                <a:latin typeface="Arial"/>
              </a:rPr>
              <a:t>Strategic Buyer Profiles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45720"/>
          </a:xfrm>
          <a:prstGeom prst="rect">
            <a:avLst/>
          </a:prstGeom>
          <a:solidFill>
            <a:srgbClr val="183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8229600" cy="91440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404040"/>
                </a:solidFill>
                <a:latin typeface="Arial"/>
              </a:rPr>
              <a:t>Buyer profiles data will be displayed here when available.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>
                <a:solidFill>
                  <a:srgbClr val="808080"/>
                </a:solidFill>
                <a:latin typeface="Arial"/>
              </a:defRPr>
            </a:pPr>
            <a:r>
              <a:t>Confidential | September 01,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400800"/>
            <a:ext cx="2743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>
                <a:solidFill>
                  <a:srgbClr val="808080"/>
                </a:solidFill>
                <a:latin typeface="Arial"/>
              </a:defRPr>
            </a:pPr>
            <a:r>
              <a:t>Moelis &amp; Company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400" b="1">
                <a:solidFill>
                  <a:srgbClr val="183A58"/>
                </a:solidFill>
                <a:latin typeface="Arial"/>
              </a:rPr>
              <a:t>Financial Buyer Profiles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45720"/>
          </a:xfrm>
          <a:prstGeom prst="rect">
            <a:avLst/>
          </a:prstGeom>
          <a:solidFill>
            <a:srgbClr val="183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8229600" cy="91440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404040"/>
                </a:solidFill>
                <a:latin typeface="Arial"/>
              </a:rPr>
              <a:t>Buyer profiles data will be displayed here when available.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>
                <a:solidFill>
                  <a:srgbClr val="808080"/>
                </a:solidFill>
                <a:latin typeface="Arial"/>
              </a:defRPr>
            </a:pPr>
            <a:r>
              <a:t>Confidential | September 01,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400800"/>
            <a:ext cx="2743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>
                <a:solidFill>
                  <a:srgbClr val="808080"/>
                </a:solidFill>
                <a:latin typeface="Arial"/>
              </a:defRPr>
            </a:pPr>
            <a:r>
              <a:t>Moelis &amp; Company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