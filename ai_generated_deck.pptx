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 millions)</c:v>
                </c:pt>
              </c:strCache>
            </c:strRef>
          </c:tx>
          <c:spPr>
            <a:solidFill>
              <a:srgbClr val="183A58"/>
            </a:solidFill>
          </c:spPr>
          <c:dPt>
            <c:idx val="0"/>
            <c:spPr>
              <a:solidFill>
                <a:srgbClr val="183A58"/>
              </a:solidFill>
            </c:spPr>
          </c:dPt>
          <c:dPt>
            <c:idx val="1"/>
            <c:spPr>
              <a:solidFill>
                <a:srgbClr val="183A58"/>
              </a:solidFill>
            </c:spPr>
          </c:dPt>
          <c:dPt>
            <c:idx val="2"/>
            <c:spPr>
              <a:solidFill>
                <a:srgbClr val="183A58"/>
              </a:solidFill>
            </c:spPr>
          </c:dPt>
          <c:dPt>
            <c:idx val="3"/>
            <c:spPr>
              <a:solidFill>
                <a:srgbClr val="183A58"/>
              </a:solidFill>
            </c:spPr>
          </c:dPt>
          <c:dPt>
            <c:idx val="4"/>
            <c:spPr>
              <a:solidFill>
                <a:srgbClr val="183A58"/>
              </a:solidFill>
            </c:spPr>
          </c:dPt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145</c:v>
                </c:pt>
                <c:pt idx="2">
                  <c:v>180</c:v>
                </c:pt>
                <c:pt idx="3">
                  <c:v>210</c:v>
                </c:pt>
                <c:pt idx="4">
                  <c:v>240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(USD millions)</c:v>
                </c:pt>
              </c:strCache>
            </c:strRef>
          </c:tx>
          <c:spPr>
            <a:solidFill>
              <a:srgbClr val="B5975B"/>
            </a:solidFill>
          </c:spPr>
          <c:dPt>
            <c:idx val="0"/>
            <c:spPr>
              <a:solidFill>
                <a:srgbClr val="B5975B"/>
              </a:solidFill>
            </c:spPr>
          </c:dPt>
          <c:dPt>
            <c:idx val="1"/>
            <c:spPr>
              <a:solidFill>
                <a:srgbClr val="B5975B"/>
              </a:solidFill>
            </c:spPr>
          </c:dPt>
          <c:dPt>
            <c:idx val="2"/>
            <c:spPr>
              <a:solidFill>
                <a:srgbClr val="B5975B"/>
              </a:solidFill>
            </c:spPr>
          </c:dPt>
          <c:dPt>
            <c:idx val="3"/>
            <c:spPr>
              <a:solidFill>
                <a:srgbClr val="B5975B"/>
              </a:solidFill>
            </c:spPr>
          </c:dPt>
          <c:dPt>
            <c:idx val="4"/>
            <c:spPr>
              <a:solidFill>
                <a:srgbClr val="B5975B"/>
              </a:solidFill>
            </c:spPr>
          </c:dPt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</c:v>
                </c:pt>
                <c:pt idx="1">
                  <c:v>24</c:v>
                </c:pt>
                <c:pt idx="2">
                  <c:v>31</c:v>
                </c:pt>
                <c:pt idx="3">
                  <c:v>40</c:v>
                </c:pt>
                <c:pt idx="4">
                  <c:v>47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5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t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 millions)</c:v>
                </c:pt>
              </c:strCache>
            </c:strRef>
          </c:tx>
          <c:spPr>
            <a:solidFill>
              <a:srgbClr val="183A58"/>
            </a:solidFill>
          </c:spPr>
          <c:cat>
            <c:strRef>
              <c:f>Sheet1!$A$2:$A$4</c:f>
              <c:strCache>
                <c:ptCount val="3"/>
                <c:pt idx="0">
                  <c:v>2024E</c:v>
                </c:pt>
                <c:pt idx="1">
                  <c:v>2025E</c:v>
                </c:pt>
                <c:pt idx="2">
                  <c:v>2026E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240</c:v>
                </c:pt>
                <c:pt idx="1">
                  <c:v>280</c:v>
                </c:pt>
                <c:pt idx="2">
                  <c:v>320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(USD millions)</c:v>
                </c:pt>
              </c:strCache>
            </c:strRef>
          </c:tx>
          <c:spPr>
            <a:solidFill>
              <a:srgbClr val="B5975B"/>
            </a:solidFill>
          </c:spPr>
          <c:cat>
            <c:strRef>
              <c:f>Sheet1!$A$2:$A$4</c:f>
              <c:strCache>
                <c:ptCount val="3"/>
                <c:pt idx="0">
                  <c:v>2024E</c:v>
                </c:pt>
                <c:pt idx="1">
                  <c:v>2025E</c:v>
                </c:pt>
                <c:pt idx="2">
                  <c:v>2026E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47</c:v>
                </c:pt>
                <c:pt idx="1">
                  <c:v>56</c:v>
                </c:pt>
                <c:pt idx="2">
                  <c:v>64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(HK$ M)</c:v>
                </c:pt>
              </c:strCache>
            </c:strRef>
          </c:tx>
          <c:dPt>
            <c:idx val="0"/>
            <c:spPr>
              <a:solidFill>
                <a:srgbClr val="183A58"/>
              </a:solidFill>
            </c:spPr>
          </c:dPt>
          <c:dPt>
            <c:idx val="1"/>
            <c:spPr>
              <a:solidFill>
                <a:srgbClr val="183A58"/>
              </a:solidFill>
            </c:spPr>
          </c:dPt>
          <c:dPt>
            <c:idx val="2"/>
            <c:spPr>
              <a:solidFill>
                <a:srgbClr val="183A58"/>
              </a:solidFill>
            </c:spPr>
          </c:dPt>
          <c:dPt>
            <c:idx val="3"/>
            <c:spPr>
              <a:solidFill>
                <a:srgbClr val="183A58"/>
              </a:solidFill>
            </c:spPr>
          </c:dPt>
          <c:dPt>
            <c:idx val="4"/>
            <c:spPr>
              <a:solidFill>
                <a:srgbClr val="183A58"/>
              </a:solidFill>
            </c:spPr>
          </c:dPt>
          <c:cat>
            <c:strRef>
              <c:f>Sheet1!$A$2:$A$6</c:f>
              <c:strCache>
                <c:ptCount val="5"/>
                <c:pt idx="0">
                  <c:v>Nippon Indosari (Sari Roti)</c:v>
                </c:pt>
                <c:pt idx="1">
                  <c:v>Holland Bakery</c:v>
                </c:pt>
                <c:pt idx="2">
                  <c:v>Tous les Jours Indonesia</c:v>
                </c:pt>
                <c:pt idx="3">
                  <c:v>BreadTalk Indonesia</c:v>
                </c:pt>
                <c:pt idx="4">
                  <c:v>Breadlife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290</c:v>
                </c:pt>
                <c:pt idx="1">
                  <c:v>120</c:v>
                </c:pt>
                <c:pt idx="2">
                  <c:v>90</c:v>
                </c:pt>
                <c:pt idx="3">
                  <c:v>85</c:v>
                </c:pt>
                <c:pt idx="4">
                  <c:v>210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 Margin %</c:v>
                </c:pt>
              </c:strCache>
            </c:strRef>
          </c:tx>
          <c:spPr>
            <a:ln w="38100">
              <a:solidFill>
                <a:srgbClr val="B5975B"/>
              </a:solidFill>
            </a:ln>
          </c:spPr>
          <c:dPt>
            <c:idx val="0"/>
            <c:spPr>
              <a:solidFill>
                <a:srgbClr val="B5975B"/>
              </a:solidFill>
              <a:ln>
                <a:solidFill>
                  <a:srgbClr val="B5975B"/>
                </a:solidFill>
              </a:ln>
            </c:spPr>
          </c:dPt>
          <c:dPt>
            <c:idx val="1"/>
            <c:spPr>
              <a:solidFill>
                <a:srgbClr val="B5975B"/>
              </a:solidFill>
              <a:ln>
                <a:solidFill>
                  <a:srgbClr val="B5975B"/>
                </a:solidFill>
              </a:ln>
            </c:spPr>
          </c:dPt>
          <c:dPt>
            <c:idx val="2"/>
            <c:spPr>
              <a:solidFill>
                <a:srgbClr val="B5975B"/>
              </a:solidFill>
              <a:ln>
                <a:solidFill>
                  <a:srgbClr val="B5975B"/>
                </a:solidFill>
              </a:ln>
            </c:spPr>
          </c:dPt>
          <c:dPt>
            <c:idx val="3"/>
            <c:spPr>
              <a:solidFill>
                <a:srgbClr val="B5975B"/>
              </a:solidFill>
              <a:ln>
                <a:solidFill>
                  <a:srgbClr val="B5975B"/>
                </a:solidFill>
              </a:ln>
            </c:spPr>
          </c:dPt>
          <c:dPt>
            <c:idx val="4"/>
            <c:spPr>
              <a:solidFill>
                <a:srgbClr val="B5975B"/>
              </a:solidFill>
              <a:ln>
                <a:solidFill>
                  <a:srgbClr val="B5975B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15.0</c:v>
                </c:pt>
                <c:pt idx="1">
                  <c:v>16.6</c:v>
                </c:pt>
                <c:pt idx="2">
                  <c:v>17.2</c:v>
                </c:pt>
                <c:pt idx="3">
                  <c:v>19.0</c:v>
                </c:pt>
                <c:pt idx="4">
                  <c:v>19.6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0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3A58"/>
                </a:solidFill>
                <a:latin typeface="Arial"/>
              </a:rPr>
              <a:t>Business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45720"/>
          </a:xfrm>
          <a:prstGeom prst="rect">
            <a:avLst/>
          </a:prstGeom>
          <a:solidFill>
            <a:srgbClr val="1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10972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Arial"/>
              </a:rPr>
              <a:t>Breadlife is a leading Indonesian bakery chain, founded in 2010 and owned by The Daily Company (DailyCo) since 2021. It is known for fresh, preservative-free products and rapid expansion in Greater Jakarta and beyond.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560320"/>
            <a:ext cx="109728" cy="109728"/>
          </a:xfrm>
          <a:prstGeom prst="ellipse">
            <a:avLst/>
          </a:prstGeom>
          <a:solidFill>
            <a:srgbClr val="B59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4128" y="2606040"/>
            <a:ext cx="3657600" cy="18288"/>
          </a:xfrm>
          <a:prstGeom prst="rect">
            <a:avLst/>
          </a:prstGeom>
          <a:solidFill>
            <a:srgbClr val="B59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560320"/>
            <a:ext cx="109728" cy="109728"/>
          </a:xfrm>
          <a:prstGeom prst="ellipse">
            <a:avLst/>
          </a:prstGeom>
          <a:solidFill>
            <a:srgbClr val="B59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</p:txBody>
      </p:sp>
      <p:sp>
        <p:nvSpPr>
          <p:cNvPr id="9" name="Rectangle 8"/>
          <p:cNvSpPr/>
          <p:nvPr/>
        </p:nvSpPr>
        <p:spPr>
          <a:xfrm>
            <a:off x="7498079" y="2560320"/>
            <a:ext cx="4114800" cy="32004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2651760"/>
            <a:ext cx="3749039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83A58"/>
                </a:solidFill>
                <a:latin typeface="Arial"/>
              </a:rPr>
              <a:t>Key Operational Highlights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3063240"/>
            <a:ext cx="54864" cy="54864"/>
          </a:xfrm>
          <a:prstGeom prst="ellipse">
            <a:avLst/>
          </a:prstGeom>
          <a:solidFill>
            <a:srgbClr val="B59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017520"/>
            <a:ext cx="347472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Arial"/>
              </a:rPr>
              <a:t>Over 100 new outlets opened since 2021, especially in MRT stations, malls, and bus stops.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0" y="3428999"/>
            <a:ext cx="54864" cy="54864"/>
          </a:xfrm>
          <a:prstGeom prst="ellipse">
            <a:avLst/>
          </a:prstGeom>
          <a:solidFill>
            <a:srgbClr val="B59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383279"/>
            <a:ext cx="347472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Arial"/>
              </a:rPr>
              <a:t>150% revenue growth from 2022 to 2024.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0" y="3794759"/>
            <a:ext cx="54864" cy="54864"/>
          </a:xfrm>
          <a:prstGeom prst="ellipse">
            <a:avLst/>
          </a:prstGeom>
          <a:solidFill>
            <a:srgbClr val="B59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3749039"/>
            <a:ext cx="347472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Arial"/>
              </a:rPr>
              <a:t>Stable and rising EBITDA margins (17% consolidated; B2C ~25%, B2B 10-12%).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08960"/>
            <a:ext cx="45720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3A58"/>
                </a:solidFill>
                <a:latin typeface="Arial"/>
              </a:rPr>
              <a:t>Core Service Lines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3520440"/>
            <a:ext cx="45720" cy="45720"/>
          </a:xfrm>
          <a:prstGeom prst="ellipse">
            <a:avLst/>
          </a:prstGeom>
          <a:solidFill>
            <a:srgbClr val="B59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474720"/>
            <a:ext cx="256032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Arial"/>
              </a:rPr>
              <a:t>Fresh bread and cakes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023359"/>
            <a:ext cx="45720" cy="45720"/>
          </a:xfrm>
          <a:prstGeom prst="ellipse">
            <a:avLst/>
          </a:prstGeom>
          <a:solidFill>
            <a:srgbClr val="B59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977639"/>
            <a:ext cx="256032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Arial"/>
              </a:rPr>
              <a:t>B2C retail</a:t>
            </a:r>
          </a:p>
        </p:txBody>
      </p:sp>
      <p:sp>
        <p:nvSpPr>
          <p:cNvPr id="22" name="Oval 21"/>
          <p:cNvSpPr/>
          <p:nvPr/>
        </p:nvSpPr>
        <p:spPr>
          <a:xfrm>
            <a:off x="3840480" y="3520440"/>
            <a:ext cx="45720" cy="45720"/>
          </a:xfrm>
          <a:prstGeom prst="ellipse">
            <a:avLst/>
          </a:prstGeom>
          <a:solidFill>
            <a:srgbClr val="B59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40" y="3474720"/>
            <a:ext cx="256032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Arial"/>
              </a:rPr>
              <a:t>B2B institutional contracts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64008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3A58"/>
                </a:solidFill>
                <a:latin typeface="Arial"/>
              </a:rPr>
              <a:t>Strategic Market Positioning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Arial"/>
              </a:rPr>
              <a:t>Breadlife is Indonesia’s leading provider of fresh, preservative-free, affordable baked goods, serving millions of customers through both retail and institutional channels.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0080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808080"/>
                </a:solidFill>
                <a:latin typeface="Arial"/>
              </a:rPr>
              <a:t>Confidential | September 06,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40080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08080"/>
                </a:solidFill>
                <a:latin typeface="Arial"/>
              </a:rPr>
              <a:t>Moelis &amp;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3A58"/>
                </a:solidFill>
                <a:latin typeface="Arial"/>
              </a:rPr>
              <a:t>Investor Considerations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45720"/>
          </a:xfrm>
          <a:prstGeom prst="rect">
            <a:avLst/>
          </a:prstGeom>
          <a:solidFill>
            <a:srgbClr val="1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A58"/>
                </a:solidFill>
                <a:latin typeface="Arial"/>
              </a:defRPr>
            </a:pPr>
            <a:r>
              <a:t>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3A58"/>
                </a:solidFill>
                <a:latin typeface="Arial"/>
              </a:defRPr>
            </a:pPr>
            <a:r>
              <a:t>Mitigants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645920"/>
            <a:ext cx="274320" cy="274320"/>
          </a:xfrm>
          <a:prstGeom prst="ellipse">
            <a:avLst/>
          </a:prstGeom>
          <a:solidFill>
            <a:srgbClr val="1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85900"/>
            <a:ext cx="4754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404040"/>
                </a:solidFill>
                <a:latin typeface="Arial"/>
              </a:defRPr>
            </a:pPr>
            <a:r>
              <a:t>Raw material price volatility (wheat/dairy)</a:t>
            </a:r>
          </a:p>
        </p:txBody>
      </p:sp>
      <p:sp>
        <p:nvSpPr>
          <p:cNvPr id="9" name="Oval 8"/>
          <p:cNvSpPr/>
          <p:nvPr/>
        </p:nvSpPr>
        <p:spPr>
          <a:xfrm>
            <a:off x="6126480" y="1645920"/>
            <a:ext cx="274320" cy="274320"/>
          </a:xfrm>
          <a:prstGeom prst="ellipse">
            <a:avLst/>
          </a:prstGeom>
          <a:solidFill>
            <a:srgbClr val="B59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645920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485900"/>
            <a:ext cx="5212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404040"/>
                </a:solidFill>
                <a:latin typeface="Arial"/>
              </a:defRPr>
            </a:pPr>
            <a:r>
              <a:t>Localize ingredient sourcing to reduce import/currency exposure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331720"/>
            <a:ext cx="274320" cy="274320"/>
          </a:xfrm>
          <a:prstGeom prst="ellipse">
            <a:avLst/>
          </a:prstGeom>
          <a:solidFill>
            <a:srgbClr val="1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31720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71700"/>
            <a:ext cx="4754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404040"/>
                </a:solidFill>
                <a:latin typeface="Arial"/>
              </a:defRPr>
            </a:pPr>
            <a:r>
              <a:t>Supply chain disruption risk</a:t>
            </a:r>
          </a:p>
        </p:txBody>
      </p:sp>
      <p:sp>
        <p:nvSpPr>
          <p:cNvPr id="15" name="Oval 14"/>
          <p:cNvSpPr/>
          <p:nvPr/>
        </p:nvSpPr>
        <p:spPr>
          <a:xfrm>
            <a:off x="6126480" y="2331720"/>
            <a:ext cx="274320" cy="274320"/>
          </a:xfrm>
          <a:prstGeom prst="ellipse">
            <a:avLst/>
          </a:prstGeom>
          <a:solidFill>
            <a:srgbClr val="B59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331720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71700"/>
            <a:ext cx="5212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404040"/>
                </a:solidFill>
                <a:latin typeface="Arial"/>
              </a:defRPr>
            </a:pPr>
            <a:r>
              <a:t>Dynamic pricing and product innovation for margin protection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017520"/>
            <a:ext cx="274320" cy="274320"/>
          </a:xfrm>
          <a:prstGeom prst="ellipse">
            <a:avLst/>
          </a:prstGeom>
          <a:solidFill>
            <a:srgbClr val="1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17520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857500"/>
            <a:ext cx="4754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404040"/>
                </a:solidFill>
                <a:latin typeface="Arial"/>
              </a:defRPr>
            </a:pPr>
            <a:r>
              <a:t>Intense competitive pressure</a:t>
            </a:r>
          </a:p>
        </p:txBody>
      </p:sp>
      <p:sp>
        <p:nvSpPr>
          <p:cNvPr id="21" name="Oval 20"/>
          <p:cNvSpPr/>
          <p:nvPr/>
        </p:nvSpPr>
        <p:spPr>
          <a:xfrm>
            <a:off x="6126480" y="3017520"/>
            <a:ext cx="274320" cy="274320"/>
          </a:xfrm>
          <a:prstGeom prst="ellipse">
            <a:avLst/>
          </a:prstGeom>
          <a:solidFill>
            <a:srgbClr val="B59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3017520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857500"/>
            <a:ext cx="5212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404040"/>
                </a:solidFill>
                <a:latin typeface="Arial"/>
              </a:defRPr>
            </a:pPr>
            <a:r>
              <a:t>Multi-brand operational synergy via DailyCo shared platforms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3703320"/>
            <a:ext cx="274320" cy="274320"/>
          </a:xfrm>
          <a:prstGeom prst="ellipse">
            <a:avLst/>
          </a:prstGeom>
          <a:solidFill>
            <a:srgbClr val="1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703320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543300"/>
            <a:ext cx="4754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404040"/>
                </a:solidFill>
                <a:latin typeface="Arial"/>
              </a:defRPr>
            </a:pPr>
            <a:r>
              <a:t>Shifting consumer health preferences</a:t>
            </a:r>
          </a:p>
        </p:txBody>
      </p:sp>
      <p:sp>
        <p:nvSpPr>
          <p:cNvPr id="27" name="Oval 26"/>
          <p:cNvSpPr/>
          <p:nvPr/>
        </p:nvSpPr>
        <p:spPr>
          <a:xfrm>
            <a:off x="6126480" y="3703320"/>
            <a:ext cx="274320" cy="274320"/>
          </a:xfrm>
          <a:prstGeom prst="ellipse">
            <a:avLst/>
          </a:prstGeom>
          <a:solidFill>
            <a:srgbClr val="B59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3703320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543300"/>
            <a:ext cx="5212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404040"/>
                </a:solidFill>
                <a:latin typeface="Arial"/>
              </a:defRPr>
            </a:pPr>
            <a:r>
              <a:t>B2B diversification for stable revenue streams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4389120"/>
            <a:ext cx="274320" cy="274320"/>
          </a:xfrm>
          <a:prstGeom prst="ellipse">
            <a:avLst/>
          </a:prstGeom>
          <a:solidFill>
            <a:srgbClr val="1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389120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229100"/>
            <a:ext cx="4754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404040"/>
                </a:solidFill>
                <a:latin typeface="Arial"/>
              </a:defRPr>
            </a:pPr>
            <a:r>
              <a:t>Operational complexity and execution risk</a:t>
            </a:r>
          </a:p>
        </p:txBody>
      </p:sp>
      <p:sp>
        <p:nvSpPr>
          <p:cNvPr id="33" name="Oval 32"/>
          <p:cNvSpPr/>
          <p:nvPr/>
        </p:nvSpPr>
        <p:spPr>
          <a:xfrm>
            <a:off x="6126480" y="4389120"/>
            <a:ext cx="274320" cy="274320"/>
          </a:xfrm>
          <a:prstGeom prst="ellipse">
            <a:avLst/>
          </a:prstGeom>
          <a:solidFill>
            <a:srgbClr val="B59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4389120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229100"/>
            <a:ext cx="5212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404040"/>
                </a:solidFill>
                <a:latin typeface="Arial"/>
              </a:defRPr>
            </a:pPr>
            <a:r>
              <a:t>Tech-enabled inventory and supply chain management</a:t>
            </a:r>
          </a:p>
        </p:txBody>
      </p:sp>
      <p:sp>
        <p:nvSpPr>
          <p:cNvPr id="36" name="Oval 35"/>
          <p:cNvSpPr/>
          <p:nvPr/>
        </p:nvSpPr>
        <p:spPr>
          <a:xfrm>
            <a:off x="640080" y="5074920"/>
            <a:ext cx="274320" cy="274320"/>
          </a:xfrm>
          <a:prstGeom prst="ellipse">
            <a:avLst/>
          </a:prstGeom>
          <a:solidFill>
            <a:srgbClr val="1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074920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4914900"/>
            <a:ext cx="4754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404040"/>
                </a:solidFill>
                <a:latin typeface="Arial"/>
              </a:defRPr>
            </a:pPr>
            <a:r>
              <a:t>Labor and regulatory compliance challenges</a:t>
            </a:r>
          </a:p>
        </p:txBody>
      </p:sp>
      <p:sp>
        <p:nvSpPr>
          <p:cNvPr id="39" name="Oval 38"/>
          <p:cNvSpPr/>
          <p:nvPr/>
        </p:nvSpPr>
        <p:spPr>
          <a:xfrm>
            <a:off x="6126480" y="5074920"/>
            <a:ext cx="274320" cy="274320"/>
          </a:xfrm>
          <a:prstGeom prst="ellipse">
            <a:avLst/>
          </a:prstGeom>
          <a:solidFill>
            <a:srgbClr val="B59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5074920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914900"/>
            <a:ext cx="5212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404040"/>
                </a:solidFill>
                <a:latin typeface="Arial"/>
              </a:defRPr>
            </a:pPr>
            <a:r>
              <a:t>Robust HR systems for scaling and compliance</a:t>
            </a:r>
          </a:p>
        </p:txBody>
      </p:sp>
      <p:sp>
        <p:nvSpPr>
          <p:cNvPr id="42" name="Oval 41"/>
          <p:cNvSpPr/>
          <p:nvPr/>
        </p:nvSpPr>
        <p:spPr>
          <a:xfrm>
            <a:off x="640080" y="5760720"/>
            <a:ext cx="274320" cy="274320"/>
          </a:xfrm>
          <a:prstGeom prst="ellipse">
            <a:avLst/>
          </a:prstGeom>
          <a:solidFill>
            <a:srgbClr val="1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760720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5600700"/>
            <a:ext cx="4754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404040"/>
                </a:solidFill>
                <a:latin typeface="Arial"/>
              </a:defRPr>
            </a:pPr>
            <a:r>
              <a:t>Urban market saturation risk</a:t>
            </a:r>
          </a:p>
        </p:txBody>
      </p:sp>
      <p:sp>
        <p:nvSpPr>
          <p:cNvPr id="45" name="Oval 44"/>
          <p:cNvSpPr/>
          <p:nvPr/>
        </p:nvSpPr>
        <p:spPr>
          <a:xfrm>
            <a:off x="6126480" y="5760720"/>
            <a:ext cx="274320" cy="274320"/>
          </a:xfrm>
          <a:prstGeom prst="ellipse">
            <a:avLst/>
          </a:prstGeom>
          <a:solidFill>
            <a:srgbClr val="B59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5760720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5600700"/>
            <a:ext cx="5212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404040"/>
                </a:solidFill>
                <a:latin typeface="Arial"/>
              </a:defRPr>
            </a:pPr>
            <a:r>
              <a:t>Geographic expansion outside Jakarta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>
                <a:solidFill>
                  <a:srgbClr val="808080"/>
                </a:solidFill>
                <a:latin typeface="Arial"/>
              </a:defRPr>
            </a:pPr>
            <a:r>
              <a:t>Confidential | September 06, 2025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6400800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Arial"/>
              </a:defRPr>
            </a:pPr>
            <a:r>
              <a:t>Moelis &amp; Company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3A58"/>
                </a:solidFill>
                <a:latin typeface="Arial"/>
              </a:rPr>
              <a:t>Product &amp; Service Footprint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45720"/>
          </a:xfrm>
          <a:prstGeom prst="rect">
            <a:avLst/>
          </a:prstGeom>
          <a:solidFill>
            <a:srgbClr val="1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280160"/>
            <a:ext cx="274320" cy="274320"/>
          </a:xfrm>
          <a:prstGeom prst="ellipse">
            <a:avLst/>
          </a:prstGeom>
          <a:solidFill>
            <a:srgbClr val="B59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50292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3A58"/>
                </a:solidFill>
                <a:latin typeface="Arial"/>
              </a:rPr>
              <a:t>Fresh Bread &amp; Sweet Buns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502920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Arial"/>
              </a:rPr>
              <a:t>Soft, preservative-free Japanese-style breads, sweet buns, danishes, and daily classics.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057400"/>
            <a:ext cx="274320" cy="274320"/>
          </a:xfrm>
          <a:prstGeom prst="ellipse">
            <a:avLst/>
          </a:prstGeom>
          <a:solidFill>
            <a:srgbClr val="B59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50292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3A58"/>
                </a:solidFill>
                <a:latin typeface="Arial"/>
              </a:rPr>
              <a:t>Whole Cakes &amp; Pastries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502920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Arial"/>
              </a:rPr>
              <a:t>Whole cakes, tarts, croissants, and seasonal flavors for celebrations and takeout.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834640"/>
            <a:ext cx="274320" cy="274320"/>
          </a:xfrm>
          <a:prstGeom prst="ellipse">
            <a:avLst/>
          </a:prstGeom>
          <a:solidFill>
            <a:srgbClr val="B59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50292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3A58"/>
                </a:solidFill>
                <a:latin typeface="Arial"/>
              </a:rPr>
              <a:t>Savoury Breads &amp; Snacks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63240"/>
            <a:ext cx="502920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Arial"/>
              </a:rPr>
              <a:t>Pizza bread, cheese bread, chicken rolls, and snack boxes for catering.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611880"/>
            <a:ext cx="274320" cy="274320"/>
          </a:xfrm>
          <a:prstGeom prst="ellipse">
            <a:avLst/>
          </a:prstGeom>
          <a:solidFill>
            <a:srgbClr val="B59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50292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3A58"/>
                </a:solidFill>
                <a:latin typeface="Arial"/>
              </a:rPr>
              <a:t>Corporate Snack Boxes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840480"/>
            <a:ext cx="502920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Arial"/>
              </a:rPr>
              <a:t>Snack boxes and bread bundles for B2B/corporate catering, events, and holidays.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280160"/>
            <a:ext cx="50292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83A58"/>
                </a:solidFill>
                <a:latin typeface="Arial"/>
              </a:rPr>
              <a:t>Product &amp; Service Market Coverage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583680" y="1645920"/>
          <a:ext cx="25603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31520"/>
                <a:gridCol w="73152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City</a:t>
                      </a:r>
                    </a:p>
                  </a:txBody>
                  <a:tcPr marL="45720" marR="45720" marT="45720" marB="45720">
                    <a:solidFill>
                      <a:srgbClr val="183A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Number of Stores</a:t>
                      </a:r>
                    </a:p>
                  </a:txBody>
                  <a:tcPr marL="45720" marR="45720" marT="45720" marB="45720">
                    <a:solidFill>
                      <a:srgbClr val="183A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Key Locations</a:t>
                      </a:r>
                    </a:p>
                  </a:txBody>
                  <a:tcPr marL="45720" marR="45720" marT="45720" marB="45720">
                    <a:solidFill>
                      <a:srgbClr val="183A5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04040"/>
                          </a:solidFill>
                          <a:latin typeface="Arial"/>
                        </a:rPr>
                        <a:t>City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04040"/>
                          </a:solidFill>
                          <a:latin typeface="Arial"/>
                        </a:rPr>
                        <a:t>Number of Stores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04040"/>
                          </a:solidFill>
                          <a:latin typeface="Arial"/>
                        </a:rPr>
                        <a:t>Key Locations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04040"/>
                          </a:solidFill>
                          <a:latin typeface="Arial"/>
                        </a:rPr>
                        <a:t>City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04040"/>
                          </a:solidFill>
                          <a:latin typeface="Arial"/>
                        </a:rPr>
                        <a:t>Number of Stores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04040"/>
                          </a:solidFill>
                          <a:latin typeface="Arial"/>
                        </a:rPr>
                        <a:t>Key Locations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04040"/>
                          </a:solidFill>
                          <a:latin typeface="Arial"/>
                        </a:rPr>
                        <a:t>City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04040"/>
                          </a:solidFill>
                          <a:latin typeface="Arial"/>
                        </a:rPr>
                        <a:t>Number of Stores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404040"/>
                          </a:solidFill>
                          <a:latin typeface="Arial"/>
                        </a:rPr>
                        <a:t>Key Locations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583680" y="4389120"/>
            <a:ext cx="50292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83A58"/>
                </a:solidFill>
                <a:latin typeface="Arial"/>
              </a:rPr>
              <a:t>Key Operational Metrics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4663440"/>
            <a:ext cx="5029200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/>
              <a:t>Renderer error: 'str' object has no attribute 'get'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3A58"/>
                </a:solidFill>
                <a:latin typeface="Arial"/>
              </a:rPr>
              <a:t>Historical Financial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45720"/>
          </a:xfrm>
          <a:prstGeom prst="rect">
            <a:avLst/>
          </a:prstGeom>
          <a:solidFill>
            <a:srgbClr val="1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83A58"/>
                </a:solidFill>
                <a:latin typeface="Arial"/>
              </a:rPr>
              <a:t>Revenue &amp; EBITDA Growth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828800" y="1554480"/>
          <a:ext cx="8229600" cy="2103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828800" y="3749039"/>
            <a:ext cx="822960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04040"/>
                </a:solidFill>
                <a:latin typeface="Arial"/>
              </a:rPr>
              <a:t>*Historical figures represent estimated performance based on market trends.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4023360"/>
            <a:ext cx="2560320" cy="10058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/>
              <a:t>Renderer error: 'str' object has no attribute 'get'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3A58"/>
                </a:solidFill>
                <a:latin typeface="Arial"/>
              </a:rPr>
              <a:t>Management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45720"/>
          </a:xfrm>
          <a:prstGeom prst="rect">
            <a:avLst/>
          </a:prstGeom>
          <a:solidFill>
            <a:srgbClr val="1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25880"/>
            <a:ext cx="3657600" cy="320040"/>
          </a:xfrm>
          <a:prstGeom prst="rect">
            <a:avLst/>
          </a:prstGeom>
          <a:noFill/>
        </p:spPr>
        <p:txBody>
          <a:bodyPr wrap="square" lIns="36576" rIns="36576" tIns="14630" bIns="14630">
            <a:spAutoFit/>
          </a:bodyPr>
          <a:lstStyle/>
          <a:p>
            <a:pPr algn="l">
              <a:defRPr sz="1400" b="1">
                <a:solidFill>
                  <a:srgbClr val="183A58"/>
                </a:solidFill>
                <a:latin typeface="Arial"/>
              </a:defRPr>
            </a:pPr>
            <a:r>
              <a:t>Co-Founder &amp; CEO, DailyCo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91640"/>
            <a:ext cx="3657600" cy="493776"/>
          </a:xfrm>
          <a:prstGeom prst="rect">
            <a:avLst/>
          </a:prstGeom>
          <a:noFill/>
        </p:spPr>
        <p:txBody>
          <a:bodyPr wrap="square" lIns="36576" rIns="36576" tIns="10972" bIns="10972"/>
          <a:lstStyle/>
          <a:p>
            <a:pPr algn="l">
              <a:lnSpc>
                <a:spcPct val="120000"/>
              </a:lnSpc>
              <a:defRPr sz="1100">
                <a:solidFill>
                  <a:srgbClr val="404040"/>
                </a:solidFill>
                <a:latin typeface="Arial"/>
              </a:defRPr>
            </a:pPr>
            <a:r>
              <a:t>• Founded Dailybox (now DailyCo) in 2018; led transformation into Indonesia’s fastest-growing multi-brand F&amp;B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240280"/>
            <a:ext cx="3657600" cy="329184"/>
          </a:xfrm>
          <a:prstGeom prst="rect">
            <a:avLst/>
          </a:prstGeom>
          <a:noFill/>
        </p:spPr>
        <p:txBody>
          <a:bodyPr wrap="square" lIns="36576" rIns="36576" tIns="10972" bIns="10972"/>
          <a:lstStyle/>
          <a:p>
            <a:pPr algn="l">
              <a:lnSpc>
                <a:spcPct val="120000"/>
              </a:lnSpc>
              <a:defRPr sz="1100">
                <a:solidFill>
                  <a:srgbClr val="404040"/>
                </a:solidFill>
                <a:latin typeface="Arial"/>
              </a:defRPr>
            </a:pPr>
            <a:r>
              <a:t>• Spearheaded acquisition and integration of Breadlife and other brands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624328"/>
            <a:ext cx="3657600" cy="329184"/>
          </a:xfrm>
          <a:prstGeom prst="rect">
            <a:avLst/>
          </a:prstGeom>
          <a:noFill/>
        </p:spPr>
        <p:txBody>
          <a:bodyPr wrap="square" lIns="36576" rIns="36576" tIns="10972" bIns="10972"/>
          <a:lstStyle/>
          <a:p>
            <a:pPr algn="l">
              <a:lnSpc>
                <a:spcPct val="120000"/>
              </a:lnSpc>
              <a:defRPr sz="1100">
                <a:solidFill>
                  <a:srgbClr val="404040"/>
                </a:solidFill>
                <a:latin typeface="Arial"/>
              </a:defRPr>
            </a:pPr>
            <a:r>
              <a:t>• Degree from Universitas Tarumanagara (Untar), 2011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008376"/>
            <a:ext cx="3657600" cy="493776"/>
          </a:xfrm>
          <a:prstGeom prst="rect">
            <a:avLst/>
          </a:prstGeom>
          <a:noFill/>
        </p:spPr>
        <p:txBody>
          <a:bodyPr wrap="square" lIns="36576" rIns="36576" tIns="10972" bIns="10972"/>
          <a:lstStyle/>
          <a:p>
            <a:pPr algn="l">
              <a:lnSpc>
                <a:spcPct val="120000"/>
              </a:lnSpc>
              <a:defRPr sz="1100">
                <a:solidFill>
                  <a:srgbClr val="404040"/>
                </a:solidFill>
                <a:latin typeface="Arial"/>
              </a:defRPr>
            </a:pPr>
            <a:r>
              <a:t>• Founder-first, growth-oriented acquisition strategy with talent retention and operational excellence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557016"/>
            <a:ext cx="3657600" cy="329184"/>
          </a:xfrm>
          <a:prstGeom prst="rect">
            <a:avLst/>
          </a:prstGeom>
          <a:noFill/>
        </p:spPr>
        <p:txBody>
          <a:bodyPr wrap="square" lIns="36576" rIns="36576" tIns="10972" bIns="10972"/>
          <a:lstStyle/>
          <a:p>
            <a:pPr algn="l">
              <a:lnSpc>
                <a:spcPct val="120000"/>
              </a:lnSpc>
              <a:defRPr sz="1100">
                <a:solidFill>
                  <a:srgbClr val="404040"/>
                </a:solidFill>
                <a:latin typeface="Arial"/>
              </a:defRPr>
            </a:pPr>
            <a:r>
              <a:t>• Manages 100,000+ meals daily across national brands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032504"/>
            <a:ext cx="3657600" cy="320040"/>
          </a:xfrm>
          <a:prstGeom prst="rect">
            <a:avLst/>
          </a:prstGeom>
          <a:noFill/>
        </p:spPr>
        <p:txBody>
          <a:bodyPr wrap="square" lIns="36576" rIns="36576" tIns="14630" bIns="14630">
            <a:spAutoFit/>
          </a:bodyPr>
          <a:lstStyle/>
          <a:p>
            <a:pPr algn="l">
              <a:defRPr sz="1400" b="1">
                <a:solidFill>
                  <a:srgbClr val="183A58"/>
                </a:solidFill>
                <a:latin typeface="Arial"/>
              </a:defRPr>
            </a:pPr>
            <a:r>
              <a:t>Chief Human Resources Officer (CHRO), DailyCo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398264"/>
            <a:ext cx="3657600" cy="329184"/>
          </a:xfrm>
          <a:prstGeom prst="rect">
            <a:avLst/>
          </a:prstGeom>
          <a:noFill/>
        </p:spPr>
        <p:txBody>
          <a:bodyPr wrap="square" lIns="36576" rIns="36576" tIns="10972" bIns="10972"/>
          <a:lstStyle/>
          <a:p>
            <a:pPr algn="l">
              <a:lnSpc>
                <a:spcPct val="120000"/>
              </a:lnSpc>
              <a:defRPr sz="1100">
                <a:solidFill>
                  <a:srgbClr val="404040"/>
                </a:solidFill>
                <a:latin typeface="Arial"/>
              </a:defRPr>
            </a:pPr>
            <a:r>
              <a:t>• Joined DailyCo following Waku acquisition, built high-performance culture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782312"/>
            <a:ext cx="3657600" cy="493776"/>
          </a:xfrm>
          <a:prstGeom prst="rect">
            <a:avLst/>
          </a:prstGeom>
          <a:noFill/>
        </p:spPr>
        <p:txBody>
          <a:bodyPr wrap="square" lIns="36576" rIns="36576" tIns="10972" bIns="10972"/>
          <a:lstStyle/>
          <a:p>
            <a:pPr algn="l">
              <a:lnSpc>
                <a:spcPct val="120000"/>
              </a:lnSpc>
              <a:defRPr sz="1100">
                <a:solidFill>
                  <a:srgbClr val="404040"/>
                </a:solidFill>
                <a:latin typeface="Arial"/>
              </a:defRPr>
            </a:pPr>
            <a:r>
              <a:t>• Expert in organizational development, talent retention, HR best practices for F&amp;B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5330952"/>
            <a:ext cx="3657600" cy="329184"/>
          </a:xfrm>
          <a:prstGeom prst="rect">
            <a:avLst/>
          </a:prstGeom>
          <a:noFill/>
        </p:spPr>
        <p:txBody>
          <a:bodyPr wrap="square" lIns="36576" rIns="36576" tIns="10972" bIns="10972"/>
          <a:lstStyle/>
          <a:p>
            <a:pPr algn="l">
              <a:lnSpc>
                <a:spcPct val="120000"/>
              </a:lnSpc>
              <a:defRPr sz="1100">
                <a:solidFill>
                  <a:srgbClr val="404040"/>
                </a:solidFill>
                <a:latin typeface="Arial"/>
              </a:defRPr>
            </a:pPr>
            <a:r>
              <a:t>• Leads cross-brand HR integration and cultural 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715000"/>
            <a:ext cx="3657600" cy="329184"/>
          </a:xfrm>
          <a:prstGeom prst="rect">
            <a:avLst/>
          </a:prstGeom>
          <a:noFill/>
        </p:spPr>
        <p:txBody>
          <a:bodyPr wrap="square" lIns="36576" rIns="36576" tIns="10972" bIns="10972"/>
          <a:lstStyle/>
          <a:p>
            <a:pPr algn="l">
              <a:lnSpc>
                <a:spcPct val="120000"/>
              </a:lnSpc>
              <a:defRPr sz="1100">
                <a:solidFill>
                  <a:srgbClr val="404040"/>
                </a:solidFill>
                <a:latin typeface="Arial"/>
              </a:defRPr>
            </a:pPr>
            <a:r>
              <a:t>• Scaled DailyCo’s team for rapid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099048"/>
            <a:ext cx="3657600" cy="329184"/>
          </a:xfrm>
          <a:prstGeom prst="rect">
            <a:avLst/>
          </a:prstGeom>
          <a:noFill/>
        </p:spPr>
        <p:txBody>
          <a:bodyPr wrap="square" lIns="36576" rIns="36576" tIns="10972" bIns="10972"/>
          <a:lstStyle/>
          <a:p>
            <a:pPr algn="l">
              <a:lnSpc>
                <a:spcPct val="120000"/>
              </a:lnSpc>
              <a:defRPr sz="1100">
                <a:solidFill>
                  <a:srgbClr val="404040"/>
                </a:solidFill>
                <a:latin typeface="Arial"/>
              </a:defRPr>
            </a:pPr>
            <a:r>
              <a:t>• Advocates for purpose-driven, people-first practices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1325880"/>
            <a:ext cx="3657600" cy="320040"/>
          </a:xfrm>
          <a:prstGeom prst="rect">
            <a:avLst/>
          </a:prstGeom>
          <a:noFill/>
        </p:spPr>
        <p:txBody>
          <a:bodyPr wrap="square" lIns="36576" rIns="36576" tIns="14630" bIns="14630">
            <a:spAutoFit/>
          </a:bodyPr>
          <a:lstStyle/>
          <a:p>
            <a:pPr algn="l">
              <a:defRPr sz="1400" b="1">
                <a:solidFill>
                  <a:srgbClr val="183A58"/>
                </a:solidFill>
                <a:latin typeface="Arial"/>
              </a:defRPr>
            </a:pPr>
            <a:r>
              <a:t>Head of Breadlife Expansion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1691640"/>
            <a:ext cx="3657600" cy="329184"/>
          </a:xfrm>
          <a:prstGeom prst="rect">
            <a:avLst/>
          </a:prstGeom>
          <a:noFill/>
        </p:spPr>
        <p:txBody>
          <a:bodyPr wrap="square" lIns="36576" rIns="36576" tIns="10972" bIns="10972"/>
          <a:lstStyle/>
          <a:p>
            <a:pPr algn="l">
              <a:lnSpc>
                <a:spcPct val="120000"/>
              </a:lnSpc>
              <a:defRPr sz="1100">
                <a:solidFill>
                  <a:srgbClr val="404040"/>
                </a:solidFill>
                <a:latin typeface="Arial"/>
              </a:defRPr>
            </a:pPr>
            <a:r>
              <a:t>• Oversaw rollout of 100+ new Breadlife outlets across Greater Jakarta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2075688"/>
            <a:ext cx="3657600" cy="329184"/>
          </a:xfrm>
          <a:prstGeom prst="rect">
            <a:avLst/>
          </a:prstGeom>
          <a:noFill/>
        </p:spPr>
        <p:txBody>
          <a:bodyPr wrap="square" lIns="36576" rIns="36576" tIns="10972" bIns="10972"/>
          <a:lstStyle/>
          <a:p>
            <a:pPr algn="l">
              <a:lnSpc>
                <a:spcPct val="120000"/>
              </a:lnSpc>
              <a:defRPr sz="1100">
                <a:solidFill>
                  <a:srgbClr val="404040"/>
                </a:solidFill>
                <a:latin typeface="Arial"/>
              </a:defRPr>
            </a:pPr>
            <a:r>
              <a:t>• Specialist in site selection, retail operations, and location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2459736"/>
            <a:ext cx="3657600" cy="329184"/>
          </a:xfrm>
          <a:prstGeom prst="rect">
            <a:avLst/>
          </a:prstGeom>
          <a:noFill/>
        </p:spPr>
        <p:txBody>
          <a:bodyPr wrap="square" lIns="36576" rIns="36576" tIns="10972" bIns="10972"/>
          <a:lstStyle/>
          <a:p>
            <a:pPr algn="l">
              <a:lnSpc>
                <a:spcPct val="120000"/>
              </a:lnSpc>
              <a:defRPr sz="1100">
                <a:solidFill>
                  <a:srgbClr val="404040"/>
                </a:solidFill>
                <a:latin typeface="Arial"/>
              </a:defRPr>
            </a:pPr>
            <a:r>
              <a:t>• Project management for rapid F&amp;B/retail expansion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2843784"/>
            <a:ext cx="3657600" cy="329184"/>
          </a:xfrm>
          <a:prstGeom prst="rect">
            <a:avLst/>
          </a:prstGeom>
          <a:noFill/>
        </p:spPr>
        <p:txBody>
          <a:bodyPr wrap="square" lIns="36576" rIns="36576" tIns="10972" bIns="10972"/>
          <a:lstStyle/>
          <a:p>
            <a:pPr algn="l">
              <a:lnSpc>
                <a:spcPct val="120000"/>
              </a:lnSpc>
              <a:defRPr sz="1100">
                <a:solidFill>
                  <a:srgbClr val="404040"/>
                </a:solidFill>
                <a:latin typeface="Arial"/>
              </a:defRPr>
            </a:pPr>
            <a:r>
              <a:t>• Led penetration of MRT stations and bus stops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3227832"/>
            <a:ext cx="3657600" cy="329184"/>
          </a:xfrm>
          <a:prstGeom prst="rect">
            <a:avLst/>
          </a:prstGeom>
          <a:noFill/>
        </p:spPr>
        <p:txBody>
          <a:bodyPr wrap="square" lIns="36576" rIns="36576" tIns="10972" bIns="10972"/>
          <a:lstStyle/>
          <a:p>
            <a:pPr algn="l">
              <a:lnSpc>
                <a:spcPct val="120000"/>
              </a:lnSpc>
              <a:defRPr sz="1100">
                <a:solidFill>
                  <a:srgbClr val="404040"/>
                </a:solidFill>
                <a:latin typeface="Arial"/>
              </a:defRPr>
            </a:pPr>
            <a:r>
              <a:t>• Drives innovative customer experience and operational standards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3703320"/>
            <a:ext cx="3657600" cy="320040"/>
          </a:xfrm>
          <a:prstGeom prst="rect">
            <a:avLst/>
          </a:prstGeom>
          <a:noFill/>
        </p:spPr>
        <p:txBody>
          <a:bodyPr wrap="square" lIns="36576" rIns="36576" tIns="14630" bIns="14630">
            <a:spAutoFit/>
          </a:bodyPr>
          <a:lstStyle/>
          <a:p>
            <a:pPr algn="l">
              <a:defRPr sz="1400" b="1">
                <a:solidFill>
                  <a:srgbClr val="183A58"/>
                </a:solidFill>
                <a:latin typeface="Arial"/>
              </a:defRPr>
            </a:pPr>
            <a:r>
              <a:t>Senior Operations Manager, Breadlife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4069080"/>
            <a:ext cx="3657600" cy="329184"/>
          </a:xfrm>
          <a:prstGeom prst="rect">
            <a:avLst/>
          </a:prstGeom>
          <a:noFill/>
        </p:spPr>
        <p:txBody>
          <a:bodyPr wrap="square" lIns="36576" rIns="36576" tIns="10972" bIns="10972"/>
          <a:lstStyle/>
          <a:p>
            <a:pPr algn="l">
              <a:lnSpc>
                <a:spcPct val="120000"/>
              </a:lnSpc>
              <a:defRPr sz="1100">
                <a:solidFill>
                  <a:srgbClr val="404040"/>
                </a:solidFill>
                <a:latin typeface="Arial"/>
              </a:defRPr>
            </a:pPr>
            <a:r>
              <a:t>• Manages day-to-day operations for 100+ outlets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453128"/>
            <a:ext cx="3657600" cy="329184"/>
          </a:xfrm>
          <a:prstGeom prst="rect">
            <a:avLst/>
          </a:prstGeom>
          <a:noFill/>
        </p:spPr>
        <p:txBody>
          <a:bodyPr wrap="square" lIns="36576" rIns="36576" tIns="10972" bIns="10972"/>
          <a:lstStyle/>
          <a:p>
            <a:pPr algn="l">
              <a:lnSpc>
                <a:spcPct val="120000"/>
              </a:lnSpc>
              <a:defRPr sz="1100">
                <a:solidFill>
                  <a:srgbClr val="404040"/>
                </a:solidFill>
                <a:latin typeface="Arial"/>
              </a:defRPr>
            </a:pPr>
            <a:r>
              <a:t>• Background in bakery operations, multi-site management, quality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4837176"/>
            <a:ext cx="3657600" cy="329184"/>
          </a:xfrm>
          <a:prstGeom prst="rect">
            <a:avLst/>
          </a:prstGeom>
          <a:noFill/>
        </p:spPr>
        <p:txBody>
          <a:bodyPr wrap="square" lIns="36576" rIns="36576" tIns="10972" bIns="10972"/>
          <a:lstStyle/>
          <a:p>
            <a:pPr algn="l">
              <a:lnSpc>
                <a:spcPct val="120000"/>
              </a:lnSpc>
              <a:defRPr sz="1100">
                <a:solidFill>
                  <a:srgbClr val="404040"/>
                </a:solidFill>
                <a:latin typeface="Arial"/>
              </a:defRPr>
            </a:pPr>
            <a:r>
              <a:t>• Oversees staff training, product consistency, food safety compliance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5221224"/>
            <a:ext cx="3657600" cy="329184"/>
          </a:xfrm>
          <a:prstGeom prst="rect">
            <a:avLst/>
          </a:prstGeom>
          <a:noFill/>
        </p:spPr>
        <p:txBody>
          <a:bodyPr wrap="square" lIns="36576" rIns="36576" tIns="10972" bIns="10972"/>
          <a:lstStyle/>
          <a:p>
            <a:pPr algn="l">
              <a:lnSpc>
                <a:spcPct val="120000"/>
              </a:lnSpc>
              <a:defRPr sz="1100">
                <a:solidFill>
                  <a:srgbClr val="404040"/>
                </a:solidFill>
                <a:latin typeface="Arial"/>
              </a:defRPr>
            </a:pPr>
            <a:r>
              <a:t>• Implements cost control and supply chain optimization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5605272"/>
            <a:ext cx="3657600" cy="329184"/>
          </a:xfrm>
          <a:prstGeom prst="rect">
            <a:avLst/>
          </a:prstGeom>
          <a:noFill/>
        </p:spPr>
        <p:txBody>
          <a:bodyPr wrap="square" lIns="36576" rIns="36576" tIns="10972" bIns="10972"/>
          <a:lstStyle/>
          <a:p>
            <a:pPr algn="l">
              <a:lnSpc>
                <a:spcPct val="120000"/>
              </a:lnSpc>
              <a:defRPr sz="1100">
                <a:solidFill>
                  <a:srgbClr val="404040"/>
                </a:solidFill>
                <a:latin typeface="Arial"/>
              </a:defRPr>
            </a:pPr>
            <a:r>
              <a:t>• Supports integration with DailyCo’s F&amp;B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355080"/>
            <a:ext cx="548640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defRPr sz="900">
                <a:solidFill>
                  <a:srgbClr val="808080"/>
                </a:solidFill>
                <a:latin typeface="Arial"/>
              </a:defRPr>
            </a:pPr>
            <a:r>
              <a:t>Confidential | September 06,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355080"/>
            <a:ext cx="292608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Arial"/>
              </a:defRPr>
            </a:pPr>
            <a:r>
              <a:t>Moelis &amp; Company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3A58"/>
                </a:solidFill>
                <a:latin typeface="Arial"/>
              </a:rPr>
              <a:t>Growth Strategy &amp; Projections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45720"/>
          </a:xfrm>
          <a:prstGeom prst="rect">
            <a:avLst/>
          </a:prstGeom>
          <a:solidFill>
            <a:srgbClr val="1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3A58"/>
                </a:solidFill>
                <a:latin typeface="Arial"/>
              </a:rPr>
              <a:t>Multi-Pronged Growth Strategy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45920"/>
            <a:ext cx="54864" cy="54864"/>
          </a:xfrm>
          <a:prstGeom prst="ellipse">
            <a:avLst/>
          </a:prstGeom>
          <a:solidFill>
            <a:srgbClr val="B59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50292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Arial"/>
              </a:rPr>
              <a:t>Accelerate new store rollout in high-traffic areas and new regions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54864" cy="54864"/>
          </a:xfrm>
          <a:prstGeom prst="ellipse">
            <a:avLst/>
          </a:prstGeom>
          <a:solidFill>
            <a:srgbClr val="B59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50292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Arial"/>
              </a:rPr>
              <a:t>Launch healthier bread options and seasonal flavors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286000"/>
            <a:ext cx="54864" cy="54864"/>
          </a:xfrm>
          <a:prstGeom prst="ellipse">
            <a:avLst/>
          </a:prstGeom>
          <a:solidFill>
            <a:srgbClr val="B59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50292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Arial"/>
              </a:rPr>
              <a:t>Expand digital ordering and loyalty programs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606039"/>
            <a:ext cx="54864" cy="54864"/>
          </a:xfrm>
          <a:prstGeom prst="ellipse">
            <a:avLst/>
          </a:prstGeom>
          <a:solidFill>
            <a:srgbClr val="B59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60319"/>
            <a:ext cx="50292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Arial"/>
              </a:rPr>
              <a:t>Scale B2B catering and snack box offerings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926080"/>
            <a:ext cx="54864" cy="54864"/>
          </a:xfrm>
          <a:prstGeom prst="ellipse">
            <a:avLst/>
          </a:prstGeom>
          <a:solidFill>
            <a:srgbClr val="B59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50292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Arial"/>
              </a:rPr>
              <a:t>Localize key ingredient sourcing to mitigate price volatility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246120"/>
            <a:ext cx="54864" cy="54864"/>
          </a:xfrm>
          <a:prstGeom prst="ellipse">
            <a:avLst/>
          </a:prstGeom>
          <a:solidFill>
            <a:srgbClr val="B59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00400"/>
            <a:ext cx="50292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Arial"/>
              </a:rPr>
              <a:t>Diversify geographic footprint outside Greater Jakarta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858000" y="1280160"/>
          <a:ext cx="502920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858000" y="3291840"/>
            <a:ext cx="502920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3A58"/>
                </a:solidFill>
                <a:latin typeface="Arial"/>
              </a:rPr>
              <a:t>Revenue &amp; EBITDA Projections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566160"/>
            <a:ext cx="502920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Arial"/>
              </a:rPr>
              <a:t>■ Revenue (USD millions)  ■ EBITDA (USD millions)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>
                <a:solidFill>
                  <a:srgbClr val="808080"/>
                </a:solidFill>
                <a:latin typeface="Arial"/>
              </a:defRPr>
            </a:pPr>
            <a:r>
              <a:t>Confidential | September 06,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6400800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Arial"/>
              </a:defRPr>
            </a:pPr>
            <a:r>
              <a:t>Moelis &amp; Company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3A58"/>
                </a:solidFill>
                <a:latin typeface="Arial"/>
              </a:rPr>
              <a:t>Competitive Positioning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45720"/>
          </a:xfrm>
          <a:prstGeom prst="rect">
            <a:avLst/>
          </a:prstGeom>
          <a:solidFill>
            <a:srgbClr val="1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3A58"/>
                </a:solidFill>
                <a:latin typeface="Arial"/>
              </a:rPr>
              <a:t>Revenue Comparison vs. Competitors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554480"/>
          <a:ext cx="54864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1188720"/>
            <a:ext cx="50292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3A58"/>
                </a:solidFill>
                <a:latin typeface="Arial"/>
              </a:rPr>
              <a:t>Competitive Assessment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0" y="1554480"/>
          <a:ext cx="35661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731520"/>
                <a:gridCol w="64008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45720" marR="45720" marT="45720" marB="45720">
                    <a:solidFill>
                      <a:srgbClr val="183A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our_company</a:t>
                      </a:r>
                    </a:p>
                  </a:txBody>
                  <a:tcPr marL="45720" marR="45720" marT="45720" marB="45720">
                    <a:solidFill>
                      <a:srgbClr val="183A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competitor_a</a:t>
                      </a:r>
                    </a:p>
                  </a:txBody>
                  <a:tcPr marL="45720" marR="45720" marT="45720" marB="45720">
                    <a:solidFill>
                      <a:srgbClr val="183A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competitor_b</a:t>
                      </a:r>
                    </a:p>
                  </a:txBody>
                  <a:tcPr marL="45720" marR="45720" marT="45720" marB="45720">
                    <a:solidFill>
                      <a:srgbClr val="183A5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83A58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83A58"/>
                          </a:solidFill>
                          <a:latin typeface="Arial"/>
                        </a:rPr>
                        <a:t>our_company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83A58"/>
                          </a:solidFill>
                          <a:latin typeface="Arial"/>
                        </a:rPr>
                        <a:t>competitor_a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83A58"/>
                          </a:solidFill>
                          <a:latin typeface="Arial"/>
                        </a:rPr>
                        <a:t>competitor_b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04040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04040"/>
                          </a:solidFill>
                          <a:latin typeface="Arial"/>
                        </a:rPr>
                        <a:t>our_company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04040"/>
                          </a:solidFill>
                          <a:latin typeface="Arial"/>
                        </a:rPr>
                        <a:t>competitor_a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04040"/>
                          </a:solidFill>
                          <a:latin typeface="Arial"/>
                        </a:rPr>
                        <a:t>competitor_b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04040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45720" marR="4572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04040"/>
                          </a:solidFill>
                          <a:latin typeface="Arial"/>
                        </a:rPr>
                        <a:t>our_company</a:t>
                      </a:r>
                    </a:p>
                  </a:txBody>
                  <a:tcPr marL="45720" marR="4572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04040"/>
                          </a:solidFill>
                          <a:latin typeface="Arial"/>
                        </a:rPr>
                        <a:t>competitor_a</a:t>
                      </a:r>
                    </a:p>
                  </a:txBody>
                  <a:tcPr marL="45720" marR="4572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04040"/>
                          </a:solidFill>
                          <a:latin typeface="Arial"/>
                        </a:rPr>
                        <a:t>competitor_b</a:t>
                      </a:r>
                    </a:p>
                  </a:txBody>
                  <a:tcPr marL="45720" marR="45720" marT="45720" marB="45720"/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04040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04040"/>
                          </a:solidFill>
                          <a:latin typeface="Arial"/>
                        </a:rPr>
                        <a:t>our_company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04040"/>
                          </a:solidFill>
                          <a:latin typeface="Arial"/>
                        </a:rPr>
                        <a:t>competitor_a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04040"/>
                          </a:solidFill>
                          <a:latin typeface="Arial"/>
                        </a:rPr>
                        <a:t>competitor_b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/>
              <a:t>Renderer error: column index [4] out of range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3A58"/>
                </a:solidFill>
                <a:latin typeface="Arial"/>
              </a:rPr>
              <a:t>Valuation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45720"/>
          </a:xfrm>
          <a:prstGeom prst="rect">
            <a:avLst/>
          </a:prstGeom>
          <a:solidFill>
            <a:srgbClr val="1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241280" cy="2286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defRPr sz="1100" b="1">
                <a:solidFill>
                  <a:srgbClr val="183A58"/>
                </a:solidFill>
                <a:latin typeface="Arial"/>
              </a:defRPr>
            </a:pPr>
            <a:r>
              <a:t>Implied EV/Post IRFS-16 EBITDA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280160"/>
            <a:ext cx="2011680" cy="457200"/>
          </a:xfrm>
          <a:prstGeom prst="rect">
            <a:avLst/>
          </a:prstGeom>
          <a:solidFill>
            <a:srgbClr val="183A58"/>
          </a:solidFill>
          <a:ln>
            <a:solidFill>
              <a:srgbClr val="1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2011680" cy="457200"/>
          </a:xfrm>
          <a:prstGeom prst="rect">
            <a:avLst/>
          </a:prstGeom>
          <a:noFill/>
        </p:spPr>
        <p:txBody>
          <a:bodyPr wrap="none" anchor="ctr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Methodology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280160"/>
            <a:ext cx="3291840" cy="457200"/>
          </a:xfrm>
          <a:prstGeom prst="rect">
            <a:avLst/>
          </a:prstGeom>
          <a:solidFill>
            <a:srgbClr val="183A58"/>
          </a:solidFill>
          <a:ln>
            <a:solidFill>
              <a:srgbClr val="1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280160"/>
            <a:ext cx="3291840" cy="457200"/>
          </a:xfrm>
          <a:prstGeom prst="rect">
            <a:avLst/>
          </a:prstGeom>
          <a:noFill/>
        </p:spPr>
        <p:txBody>
          <a:bodyPr wrap="none" anchor="ctr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Commentary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280160"/>
            <a:ext cx="1645920" cy="457200"/>
          </a:xfrm>
          <a:prstGeom prst="rect">
            <a:avLst/>
          </a:prstGeom>
          <a:solidFill>
            <a:srgbClr val="183A58"/>
          </a:solidFill>
          <a:ln>
            <a:solidFill>
              <a:srgbClr val="1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1645920" cy="457200"/>
          </a:xfrm>
          <a:prstGeom prst="rect">
            <a:avLst/>
          </a:prstGeom>
          <a:noFill/>
        </p:spPr>
        <p:txBody>
          <a:bodyPr wrap="none" anchor="ctr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Enterprise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280160"/>
            <a:ext cx="1463040" cy="457200"/>
          </a:xfrm>
          <a:prstGeom prst="rect">
            <a:avLst/>
          </a:prstGeom>
          <a:solidFill>
            <a:srgbClr val="183A58"/>
          </a:solidFill>
          <a:ln>
            <a:solidFill>
              <a:srgbClr val="1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280160"/>
            <a:ext cx="1463040" cy="457200"/>
          </a:xfrm>
          <a:prstGeom prst="rect">
            <a:avLst/>
          </a:prstGeom>
          <a:noFill/>
        </p:spPr>
        <p:txBody>
          <a:bodyPr wrap="none" anchor="ctr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Metric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1280160"/>
            <a:ext cx="914400" cy="457200"/>
          </a:xfrm>
          <a:prstGeom prst="rect">
            <a:avLst/>
          </a:prstGeom>
          <a:solidFill>
            <a:srgbClr val="183A58"/>
          </a:solidFill>
          <a:ln>
            <a:solidFill>
              <a:srgbClr val="1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1280160"/>
            <a:ext cx="914400" cy="457200"/>
          </a:xfrm>
          <a:prstGeom prst="rect">
            <a:avLst/>
          </a:prstGeom>
          <a:noFill/>
        </p:spPr>
        <p:txBody>
          <a:bodyPr wrap="none" anchor="ctr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22A'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24160" y="1280160"/>
            <a:ext cx="914400" cy="457200"/>
          </a:xfrm>
          <a:prstGeom prst="rect">
            <a:avLst/>
          </a:prstGeom>
          <a:solidFill>
            <a:srgbClr val="183A58"/>
          </a:solidFill>
          <a:ln>
            <a:solidFill>
              <a:srgbClr val="1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0" y="1280160"/>
            <a:ext cx="914400" cy="457200"/>
          </a:xfrm>
          <a:prstGeom prst="rect">
            <a:avLst/>
          </a:prstGeom>
          <a:noFill/>
        </p:spPr>
        <p:txBody>
          <a:bodyPr wrap="none" anchor="ctr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23E (Rev)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1737360"/>
            <a:ext cx="2011680" cy="1097280"/>
          </a:xfrm>
          <a:prstGeom prst="rect">
            <a:avLst/>
          </a:prstGeom>
          <a:solidFill>
            <a:srgbClr val="183A58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1737360"/>
            <a:ext cx="201168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1">
                <a:solidFill>
                  <a:srgbClr val="FFFFFF"/>
                </a:solidFill>
                <a:latin typeface="Arial"/>
              </a:defRPr>
            </a:pPr>
            <a:r>
              <a:t>Public Comps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1737360"/>
            <a:ext cx="3291840" cy="1097280"/>
          </a:xfrm>
          <a:prstGeom prst="rect">
            <a:avLst/>
          </a:prstGeom>
          <a:solidFill>
            <a:srgbClr val="F0F0F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737360"/>
            <a:ext cx="329184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l">
              <a:lnSpc>
                <a:spcPct val="110000"/>
              </a:lnSpc>
              <a:defRPr sz="800" b="0">
                <a:solidFill>
                  <a:srgbClr val="404040"/>
                </a:solidFill>
                <a:latin typeface="Arial"/>
              </a:defRPr>
            </a:pPr>
            <a:r>
              <a:t>In-line with Nippon Indosari, adjusted for</a:t>
            </a:r>
            <a:br/>
            <a:r>
              <a:t>Breadlife’s growth, channel mix, and B2B</a:t>
            </a:r>
            <a:br/>
            <a:r>
              <a:t>scale.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737360"/>
            <a:ext cx="1645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737360"/>
            <a:ext cx="164592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$470M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1737360"/>
            <a:ext cx="14630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1737360"/>
            <a:ext cx="146304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2024E EBITDA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737360"/>
            <a:ext cx="914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1737360"/>
            <a:ext cx="91440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10.0x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24160" y="1737360"/>
            <a:ext cx="914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60" y="1737360"/>
            <a:ext cx="91440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9.5x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2834640"/>
            <a:ext cx="2011680" cy="1097280"/>
          </a:xfrm>
          <a:prstGeom prst="rect">
            <a:avLst/>
          </a:prstGeom>
          <a:solidFill>
            <a:srgbClr val="183A58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2834640"/>
            <a:ext cx="201168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900" b="1">
                <a:solidFill>
                  <a:srgbClr val="FFFFFF"/>
                </a:solidFill>
                <a:latin typeface="Arial"/>
              </a:defRPr>
            </a:pPr>
            <a:r>
              <a:t>Precedent</a:t>
            </a:r>
            <a:br/>
            <a:r>
              <a:t>Transactions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2834640"/>
            <a:ext cx="3291840" cy="1097280"/>
          </a:xfrm>
          <a:prstGeom prst="rect">
            <a:avLst/>
          </a:prstGeom>
          <a:solidFill>
            <a:srgbClr val="F0F0F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2834640"/>
            <a:ext cx="329184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l">
              <a:lnSpc>
                <a:spcPct val="110000"/>
              </a:lnSpc>
              <a:defRPr sz="900" b="0">
                <a:solidFill>
                  <a:srgbClr val="404040"/>
                </a:solidFill>
                <a:latin typeface="Arial"/>
              </a:defRPr>
            </a:pPr>
            <a:r>
              <a:t>Reflects recent bakery sector deals and</a:t>
            </a:r>
            <a:br/>
            <a:r>
              <a:t>strong investor appetite.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834640"/>
            <a:ext cx="1645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2834640"/>
            <a:ext cx="164592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$460M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2834640"/>
            <a:ext cx="14630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2834640"/>
            <a:ext cx="146304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2024E EBITDA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60" y="2834640"/>
            <a:ext cx="914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2834640"/>
            <a:ext cx="91440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9.8x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24160" y="2834640"/>
            <a:ext cx="914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24160" y="2834640"/>
            <a:ext cx="91440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9.2x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7280" y="3931920"/>
            <a:ext cx="2011680" cy="1097280"/>
          </a:xfrm>
          <a:prstGeom prst="rect">
            <a:avLst/>
          </a:prstGeom>
          <a:solidFill>
            <a:srgbClr val="325032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3931920"/>
            <a:ext cx="201168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1">
                <a:solidFill>
                  <a:srgbClr val="FFFFFF"/>
                </a:solidFill>
                <a:latin typeface="Arial"/>
              </a:defRPr>
            </a:pPr>
            <a:r>
              <a:t>DCF (Base Case)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08960" y="3931920"/>
            <a:ext cx="3291840" cy="1097280"/>
          </a:xfrm>
          <a:prstGeom prst="rect">
            <a:avLst/>
          </a:prstGeom>
          <a:solidFill>
            <a:srgbClr val="F0F0F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3931920"/>
            <a:ext cx="329184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l">
              <a:lnSpc>
                <a:spcPct val="110000"/>
              </a:lnSpc>
              <a:defRPr sz="900" b="0">
                <a:solidFill>
                  <a:srgbClr val="404040"/>
                </a:solidFill>
                <a:latin typeface="Arial"/>
              </a:defRPr>
            </a:pPr>
            <a:r>
              <a:t>Assumes 15% revenue CAGR, stable 19–20%</a:t>
            </a:r>
            <a:br/>
            <a:r>
              <a:t>EBITDA margins, 12% discount rate.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3931920"/>
            <a:ext cx="1645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3931920"/>
            <a:ext cx="164592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$480M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46720" y="3931920"/>
            <a:ext cx="14630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3931920"/>
            <a:ext cx="146304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2024E EBITDA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09760" y="3931920"/>
            <a:ext cx="914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0" y="3931920"/>
            <a:ext cx="91440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3A58"/>
                </a:solidFill>
                <a:latin typeface="Arial"/>
              </a:rPr>
              <a:t>Valuation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45720"/>
          </a:xfrm>
          <a:prstGeom prst="rect">
            <a:avLst/>
          </a:prstGeom>
          <a:solidFill>
            <a:srgbClr val="1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241280" cy="2286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defRPr sz="1100" b="1">
                <a:solidFill>
                  <a:srgbClr val="183A58"/>
                </a:solidFill>
                <a:latin typeface="Arial"/>
              </a:defRPr>
            </a:pPr>
            <a:r>
              <a:t>Implied EV/Post IRFS-16 EBITDA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280160"/>
            <a:ext cx="2011680" cy="457200"/>
          </a:xfrm>
          <a:prstGeom prst="rect">
            <a:avLst/>
          </a:prstGeom>
          <a:solidFill>
            <a:srgbClr val="183A58"/>
          </a:solidFill>
          <a:ln>
            <a:solidFill>
              <a:srgbClr val="1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2011680" cy="457200"/>
          </a:xfrm>
          <a:prstGeom prst="rect">
            <a:avLst/>
          </a:prstGeom>
          <a:noFill/>
        </p:spPr>
        <p:txBody>
          <a:bodyPr wrap="none" anchor="ctr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Methodology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280160"/>
            <a:ext cx="3291840" cy="457200"/>
          </a:xfrm>
          <a:prstGeom prst="rect">
            <a:avLst/>
          </a:prstGeom>
          <a:solidFill>
            <a:srgbClr val="183A58"/>
          </a:solidFill>
          <a:ln>
            <a:solidFill>
              <a:srgbClr val="1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280160"/>
            <a:ext cx="3291840" cy="457200"/>
          </a:xfrm>
          <a:prstGeom prst="rect">
            <a:avLst/>
          </a:prstGeom>
          <a:noFill/>
        </p:spPr>
        <p:txBody>
          <a:bodyPr wrap="none" anchor="ctr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Commentary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280160"/>
            <a:ext cx="1645920" cy="457200"/>
          </a:xfrm>
          <a:prstGeom prst="rect">
            <a:avLst/>
          </a:prstGeom>
          <a:solidFill>
            <a:srgbClr val="183A58"/>
          </a:solidFill>
          <a:ln>
            <a:solidFill>
              <a:srgbClr val="1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1645920" cy="457200"/>
          </a:xfrm>
          <a:prstGeom prst="rect">
            <a:avLst/>
          </a:prstGeom>
          <a:noFill/>
        </p:spPr>
        <p:txBody>
          <a:bodyPr wrap="none" anchor="ctr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Enterprise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280160"/>
            <a:ext cx="1463040" cy="457200"/>
          </a:xfrm>
          <a:prstGeom prst="rect">
            <a:avLst/>
          </a:prstGeom>
          <a:solidFill>
            <a:srgbClr val="183A58"/>
          </a:solidFill>
          <a:ln>
            <a:solidFill>
              <a:srgbClr val="1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280160"/>
            <a:ext cx="1463040" cy="457200"/>
          </a:xfrm>
          <a:prstGeom prst="rect">
            <a:avLst/>
          </a:prstGeom>
          <a:noFill/>
        </p:spPr>
        <p:txBody>
          <a:bodyPr wrap="none" anchor="ctr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Metric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1280160"/>
            <a:ext cx="914400" cy="457200"/>
          </a:xfrm>
          <a:prstGeom prst="rect">
            <a:avLst/>
          </a:prstGeom>
          <a:solidFill>
            <a:srgbClr val="183A58"/>
          </a:solidFill>
          <a:ln>
            <a:solidFill>
              <a:srgbClr val="1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1280160"/>
            <a:ext cx="914400" cy="457200"/>
          </a:xfrm>
          <a:prstGeom prst="rect">
            <a:avLst/>
          </a:prstGeom>
          <a:noFill/>
        </p:spPr>
        <p:txBody>
          <a:bodyPr wrap="none" anchor="ctr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22A'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24160" y="1280160"/>
            <a:ext cx="914400" cy="457200"/>
          </a:xfrm>
          <a:prstGeom prst="rect">
            <a:avLst/>
          </a:prstGeom>
          <a:solidFill>
            <a:srgbClr val="183A58"/>
          </a:solidFill>
          <a:ln>
            <a:solidFill>
              <a:srgbClr val="1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0" y="1280160"/>
            <a:ext cx="914400" cy="457200"/>
          </a:xfrm>
          <a:prstGeom prst="rect">
            <a:avLst/>
          </a:prstGeom>
          <a:noFill/>
        </p:spPr>
        <p:txBody>
          <a:bodyPr wrap="none" anchor="ctr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23E (Rev)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1737360"/>
            <a:ext cx="2011680" cy="1097280"/>
          </a:xfrm>
          <a:prstGeom prst="rect">
            <a:avLst/>
          </a:prstGeom>
          <a:solidFill>
            <a:srgbClr val="183A58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1737360"/>
            <a:ext cx="201168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1">
                <a:solidFill>
                  <a:srgbClr val="FFFFFF"/>
                </a:solidFill>
                <a:latin typeface="Arial"/>
              </a:defRPr>
            </a:pPr>
            <a:r>
              <a:t>Public Comps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1737360"/>
            <a:ext cx="3291840" cy="1097280"/>
          </a:xfrm>
          <a:prstGeom prst="rect">
            <a:avLst/>
          </a:prstGeom>
          <a:solidFill>
            <a:srgbClr val="F0F0F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737360"/>
            <a:ext cx="329184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l">
              <a:lnSpc>
                <a:spcPct val="110000"/>
              </a:lnSpc>
              <a:defRPr sz="800" b="0">
                <a:solidFill>
                  <a:srgbClr val="404040"/>
                </a:solidFill>
                <a:latin typeface="Arial"/>
              </a:defRPr>
            </a:pPr>
            <a:r>
              <a:t>In-line with Nippon Indosari, adjusted for</a:t>
            </a:r>
            <a:br/>
            <a:r>
              <a:t>Breadlife’s growth, channel mix, and B2B</a:t>
            </a:r>
            <a:br/>
            <a:r>
              <a:t>scale.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737360"/>
            <a:ext cx="1645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737360"/>
            <a:ext cx="164592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$470M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1737360"/>
            <a:ext cx="14630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1737360"/>
            <a:ext cx="146304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2024E EBITDA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737360"/>
            <a:ext cx="914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1737360"/>
            <a:ext cx="91440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10.0x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24160" y="1737360"/>
            <a:ext cx="914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60" y="1737360"/>
            <a:ext cx="91440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9.5x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2834640"/>
            <a:ext cx="2011680" cy="1097280"/>
          </a:xfrm>
          <a:prstGeom prst="rect">
            <a:avLst/>
          </a:prstGeom>
          <a:solidFill>
            <a:srgbClr val="183A58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2834640"/>
            <a:ext cx="201168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900" b="1">
                <a:solidFill>
                  <a:srgbClr val="FFFFFF"/>
                </a:solidFill>
                <a:latin typeface="Arial"/>
              </a:defRPr>
            </a:pPr>
            <a:r>
              <a:t>Precedent</a:t>
            </a:r>
            <a:br/>
            <a:r>
              <a:t>Transactions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2834640"/>
            <a:ext cx="3291840" cy="1097280"/>
          </a:xfrm>
          <a:prstGeom prst="rect">
            <a:avLst/>
          </a:prstGeom>
          <a:solidFill>
            <a:srgbClr val="F0F0F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2834640"/>
            <a:ext cx="329184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l">
              <a:lnSpc>
                <a:spcPct val="110000"/>
              </a:lnSpc>
              <a:defRPr sz="900" b="0">
                <a:solidFill>
                  <a:srgbClr val="404040"/>
                </a:solidFill>
                <a:latin typeface="Arial"/>
              </a:defRPr>
            </a:pPr>
            <a:r>
              <a:t>Reflects recent bakery sector deals and</a:t>
            </a:r>
            <a:br/>
            <a:r>
              <a:t>strong investor appetite.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834640"/>
            <a:ext cx="1645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2834640"/>
            <a:ext cx="164592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$460M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2834640"/>
            <a:ext cx="14630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2834640"/>
            <a:ext cx="146304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2024E EBITDA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60" y="2834640"/>
            <a:ext cx="914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2834640"/>
            <a:ext cx="91440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9.8x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24160" y="2834640"/>
            <a:ext cx="914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24160" y="2834640"/>
            <a:ext cx="91440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9.2x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7280" y="3931920"/>
            <a:ext cx="2011680" cy="1097280"/>
          </a:xfrm>
          <a:prstGeom prst="rect">
            <a:avLst/>
          </a:prstGeom>
          <a:solidFill>
            <a:srgbClr val="325032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3931920"/>
            <a:ext cx="201168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1">
                <a:solidFill>
                  <a:srgbClr val="FFFFFF"/>
                </a:solidFill>
                <a:latin typeface="Arial"/>
              </a:defRPr>
            </a:pPr>
            <a:r>
              <a:t>DCF (Base Case)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08960" y="3931920"/>
            <a:ext cx="3291840" cy="1097280"/>
          </a:xfrm>
          <a:prstGeom prst="rect">
            <a:avLst/>
          </a:prstGeom>
          <a:solidFill>
            <a:srgbClr val="F0F0F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3931920"/>
            <a:ext cx="329184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l">
              <a:lnSpc>
                <a:spcPct val="110000"/>
              </a:lnSpc>
              <a:defRPr sz="900" b="0">
                <a:solidFill>
                  <a:srgbClr val="404040"/>
                </a:solidFill>
                <a:latin typeface="Arial"/>
              </a:defRPr>
            </a:pPr>
            <a:r>
              <a:t>Assumes 15% revenue CAGR, stable 19–20%</a:t>
            </a:r>
            <a:br/>
            <a:r>
              <a:t>EBITDA margins, 12% discount rate.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3931920"/>
            <a:ext cx="1645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3931920"/>
            <a:ext cx="164592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$480M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46720" y="3931920"/>
            <a:ext cx="14630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3931920"/>
            <a:ext cx="146304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2024E EBITDA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09760" y="3931920"/>
            <a:ext cx="914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0" y="3931920"/>
            <a:ext cx="91440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3A58"/>
                </a:solidFill>
                <a:latin typeface="Arial"/>
              </a:rPr>
              <a:t>Valuation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45720"/>
          </a:xfrm>
          <a:prstGeom prst="rect">
            <a:avLst/>
          </a:prstGeom>
          <a:solidFill>
            <a:srgbClr val="1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241280" cy="2286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defRPr sz="1100" b="1">
                <a:solidFill>
                  <a:srgbClr val="183A58"/>
                </a:solidFill>
                <a:latin typeface="Arial"/>
              </a:defRPr>
            </a:pPr>
            <a:r>
              <a:t>Implied EV/Post IRFS-16 EBITDA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280160"/>
            <a:ext cx="2011680" cy="457200"/>
          </a:xfrm>
          <a:prstGeom prst="rect">
            <a:avLst/>
          </a:prstGeom>
          <a:solidFill>
            <a:srgbClr val="183A58"/>
          </a:solidFill>
          <a:ln>
            <a:solidFill>
              <a:srgbClr val="1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2011680" cy="457200"/>
          </a:xfrm>
          <a:prstGeom prst="rect">
            <a:avLst/>
          </a:prstGeom>
          <a:noFill/>
        </p:spPr>
        <p:txBody>
          <a:bodyPr wrap="none" anchor="ctr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Methodology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280160"/>
            <a:ext cx="3291840" cy="457200"/>
          </a:xfrm>
          <a:prstGeom prst="rect">
            <a:avLst/>
          </a:prstGeom>
          <a:solidFill>
            <a:srgbClr val="183A58"/>
          </a:solidFill>
          <a:ln>
            <a:solidFill>
              <a:srgbClr val="1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280160"/>
            <a:ext cx="3291840" cy="457200"/>
          </a:xfrm>
          <a:prstGeom prst="rect">
            <a:avLst/>
          </a:prstGeom>
          <a:noFill/>
        </p:spPr>
        <p:txBody>
          <a:bodyPr wrap="none" anchor="ctr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Commentary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280160"/>
            <a:ext cx="1645920" cy="457200"/>
          </a:xfrm>
          <a:prstGeom prst="rect">
            <a:avLst/>
          </a:prstGeom>
          <a:solidFill>
            <a:srgbClr val="183A58"/>
          </a:solidFill>
          <a:ln>
            <a:solidFill>
              <a:srgbClr val="1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1645920" cy="457200"/>
          </a:xfrm>
          <a:prstGeom prst="rect">
            <a:avLst/>
          </a:prstGeom>
          <a:noFill/>
        </p:spPr>
        <p:txBody>
          <a:bodyPr wrap="none" anchor="ctr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Enterprise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280160"/>
            <a:ext cx="1463040" cy="457200"/>
          </a:xfrm>
          <a:prstGeom prst="rect">
            <a:avLst/>
          </a:prstGeom>
          <a:solidFill>
            <a:srgbClr val="183A58"/>
          </a:solidFill>
          <a:ln>
            <a:solidFill>
              <a:srgbClr val="1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280160"/>
            <a:ext cx="1463040" cy="457200"/>
          </a:xfrm>
          <a:prstGeom prst="rect">
            <a:avLst/>
          </a:prstGeom>
          <a:noFill/>
        </p:spPr>
        <p:txBody>
          <a:bodyPr wrap="none" anchor="ctr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Metric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1280160"/>
            <a:ext cx="914400" cy="457200"/>
          </a:xfrm>
          <a:prstGeom prst="rect">
            <a:avLst/>
          </a:prstGeom>
          <a:solidFill>
            <a:srgbClr val="183A58"/>
          </a:solidFill>
          <a:ln>
            <a:solidFill>
              <a:srgbClr val="1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1280160"/>
            <a:ext cx="914400" cy="457200"/>
          </a:xfrm>
          <a:prstGeom prst="rect">
            <a:avLst/>
          </a:prstGeom>
          <a:noFill/>
        </p:spPr>
        <p:txBody>
          <a:bodyPr wrap="none" anchor="ctr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22A'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24160" y="1280160"/>
            <a:ext cx="914400" cy="457200"/>
          </a:xfrm>
          <a:prstGeom prst="rect">
            <a:avLst/>
          </a:prstGeom>
          <a:solidFill>
            <a:srgbClr val="183A58"/>
          </a:solidFill>
          <a:ln>
            <a:solidFill>
              <a:srgbClr val="1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0" y="1280160"/>
            <a:ext cx="914400" cy="457200"/>
          </a:xfrm>
          <a:prstGeom prst="rect">
            <a:avLst/>
          </a:prstGeom>
          <a:noFill/>
        </p:spPr>
        <p:txBody>
          <a:bodyPr wrap="none" anchor="ctr" lIns="73152" rIns="7315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23E (Rev)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1737360"/>
            <a:ext cx="2011680" cy="1097280"/>
          </a:xfrm>
          <a:prstGeom prst="rect">
            <a:avLst/>
          </a:prstGeom>
          <a:solidFill>
            <a:srgbClr val="183A58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1737360"/>
            <a:ext cx="201168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1">
                <a:solidFill>
                  <a:srgbClr val="FFFFFF"/>
                </a:solidFill>
                <a:latin typeface="Arial"/>
              </a:defRPr>
            </a:pPr>
            <a:r>
              <a:t>Public Comps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1737360"/>
            <a:ext cx="3291840" cy="1097280"/>
          </a:xfrm>
          <a:prstGeom prst="rect">
            <a:avLst/>
          </a:prstGeom>
          <a:solidFill>
            <a:srgbClr val="F0F0F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737360"/>
            <a:ext cx="329184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l">
              <a:lnSpc>
                <a:spcPct val="110000"/>
              </a:lnSpc>
              <a:defRPr sz="800" b="0">
                <a:solidFill>
                  <a:srgbClr val="404040"/>
                </a:solidFill>
                <a:latin typeface="Arial"/>
              </a:defRPr>
            </a:pPr>
            <a:r>
              <a:t>In-line with Nippon Indosari, adjusted for</a:t>
            </a:r>
            <a:br/>
            <a:r>
              <a:t>Breadlife’s growth, channel mix, and B2B</a:t>
            </a:r>
            <a:br/>
            <a:r>
              <a:t>scale.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737360"/>
            <a:ext cx="1645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737360"/>
            <a:ext cx="164592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$470M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1737360"/>
            <a:ext cx="14630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1737360"/>
            <a:ext cx="146304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2024E EBITDA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737360"/>
            <a:ext cx="914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1737360"/>
            <a:ext cx="91440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10.0x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24160" y="1737360"/>
            <a:ext cx="914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60" y="1737360"/>
            <a:ext cx="91440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9.5x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2834640"/>
            <a:ext cx="2011680" cy="1097280"/>
          </a:xfrm>
          <a:prstGeom prst="rect">
            <a:avLst/>
          </a:prstGeom>
          <a:solidFill>
            <a:srgbClr val="183A58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2834640"/>
            <a:ext cx="201168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900" b="1">
                <a:solidFill>
                  <a:srgbClr val="FFFFFF"/>
                </a:solidFill>
                <a:latin typeface="Arial"/>
              </a:defRPr>
            </a:pPr>
            <a:r>
              <a:t>Precedent</a:t>
            </a:r>
            <a:br/>
            <a:r>
              <a:t>Transactions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2834640"/>
            <a:ext cx="3291840" cy="1097280"/>
          </a:xfrm>
          <a:prstGeom prst="rect">
            <a:avLst/>
          </a:prstGeom>
          <a:solidFill>
            <a:srgbClr val="F0F0F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2834640"/>
            <a:ext cx="329184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l">
              <a:lnSpc>
                <a:spcPct val="110000"/>
              </a:lnSpc>
              <a:defRPr sz="900" b="0">
                <a:solidFill>
                  <a:srgbClr val="404040"/>
                </a:solidFill>
                <a:latin typeface="Arial"/>
              </a:defRPr>
            </a:pPr>
            <a:r>
              <a:t>Reflects recent bakery sector deals and</a:t>
            </a:r>
            <a:br/>
            <a:r>
              <a:t>strong investor appetite.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834640"/>
            <a:ext cx="1645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2834640"/>
            <a:ext cx="164592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$460M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2834640"/>
            <a:ext cx="14630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2834640"/>
            <a:ext cx="146304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2024E EBITDA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60" y="2834640"/>
            <a:ext cx="914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2834640"/>
            <a:ext cx="91440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9.8x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24160" y="2834640"/>
            <a:ext cx="914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24160" y="2834640"/>
            <a:ext cx="91440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9.2x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7280" y="3931920"/>
            <a:ext cx="2011680" cy="1097280"/>
          </a:xfrm>
          <a:prstGeom prst="rect">
            <a:avLst/>
          </a:prstGeom>
          <a:solidFill>
            <a:srgbClr val="325032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3931920"/>
            <a:ext cx="201168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1">
                <a:solidFill>
                  <a:srgbClr val="FFFFFF"/>
                </a:solidFill>
                <a:latin typeface="Arial"/>
              </a:defRPr>
            </a:pPr>
            <a:r>
              <a:t>DCF (Base Case)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08960" y="3931920"/>
            <a:ext cx="3291840" cy="1097280"/>
          </a:xfrm>
          <a:prstGeom prst="rect">
            <a:avLst/>
          </a:prstGeom>
          <a:solidFill>
            <a:srgbClr val="F0F0F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3931920"/>
            <a:ext cx="329184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l">
              <a:lnSpc>
                <a:spcPct val="110000"/>
              </a:lnSpc>
              <a:defRPr sz="900" b="0">
                <a:solidFill>
                  <a:srgbClr val="404040"/>
                </a:solidFill>
                <a:latin typeface="Arial"/>
              </a:defRPr>
            </a:pPr>
            <a:r>
              <a:t>Assumes 15% revenue CAGR, stable 19–20%</a:t>
            </a:r>
            <a:br/>
            <a:r>
              <a:t>EBITDA margins, 12% discount rate.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3931920"/>
            <a:ext cx="1645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3931920"/>
            <a:ext cx="164592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$480M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46720" y="3931920"/>
            <a:ext cx="14630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3931920"/>
            <a:ext cx="146304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>
            <a:pPr algn="ctr">
              <a:lnSpc>
                <a:spcPct val="110000"/>
              </a:lnSpc>
              <a:defRPr sz="1100" b="0">
                <a:solidFill>
                  <a:srgbClr val="404040"/>
                </a:solidFill>
                <a:latin typeface="Arial"/>
              </a:defRPr>
            </a:pPr>
            <a:r>
              <a:t>2024E EBITDA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09760" y="3931920"/>
            <a:ext cx="914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0" y="3931920"/>
            <a:ext cx="914400" cy="1097280"/>
          </a:xfrm>
          <a:prstGeom prst="rect">
            <a:avLst/>
          </a:prstGeom>
          <a:noFill/>
        </p:spPr>
        <p:txBody>
          <a:bodyPr wrap="square" anchor="ctr" tIns="73152" bIns="73152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/>
              <a:t>Renderer error for render_valuation_overview_slide: expected string or bytes-like object, got 'NoneType'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3A58"/>
                </a:solidFill>
                <a:latin typeface="Arial"/>
              </a:rPr>
              <a:t>Precedent Transactions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45720"/>
          </a:xfrm>
          <a:prstGeom prst="rect">
            <a:avLst/>
          </a:prstGeom>
          <a:solidFill>
            <a:srgbClr val="1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3A58"/>
                </a:solidFill>
                <a:latin typeface="Arial"/>
              </a:defRPr>
            </a:pPr>
            <a:r>
              <a:t>EV/Revenue Multiples by Transaction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2651760"/>
            <a:ext cx="2080260" cy="822960"/>
          </a:xfrm>
          <a:prstGeom prst="rect">
            <a:avLst/>
          </a:prstGeom>
          <a:solidFill>
            <a:srgbClr val="1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423160"/>
            <a:ext cx="20802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2.0x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566160"/>
            <a:ext cx="20802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T1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7620" y="2651760"/>
            <a:ext cx="2080260" cy="822960"/>
          </a:xfrm>
          <a:prstGeom prst="rect">
            <a:avLst/>
          </a:prstGeom>
          <a:solidFill>
            <a:srgbClr val="1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7620" y="2423160"/>
            <a:ext cx="20802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2.0x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7620" y="3566160"/>
            <a:ext cx="20802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T2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3063240"/>
            <a:ext cx="2080260" cy="411480"/>
          </a:xfrm>
          <a:prstGeom prst="rect">
            <a:avLst/>
          </a:prstGeom>
          <a:solidFill>
            <a:srgbClr val="1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2834640"/>
            <a:ext cx="20802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1.0x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566160"/>
            <a:ext cx="20802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T3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61020" y="2857500"/>
            <a:ext cx="2080260" cy="617220"/>
          </a:xfrm>
          <a:prstGeom prst="rect">
            <a:avLst/>
          </a:prstGeom>
          <a:solidFill>
            <a:srgbClr val="1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1020" y="2628900"/>
            <a:ext cx="20802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latin typeface="Arial"/>
              </a:defRPr>
            </a:pPr>
            <a:r>
              <a:t>1.5x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1020" y="3566160"/>
            <a:ext cx="20802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T4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" y="4389120"/>
          <a:ext cx="11887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</a:tblGrid>
              <a:tr h="274320"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Acquirer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Country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EV ($M)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Revenue ($M)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EV/Revenue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600200" y="4389120"/>
          <a:ext cx="8686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700"/>
                <a:gridCol w="2171700"/>
                <a:gridCol w="2171700"/>
                <a:gridCol w="21717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Jul 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Aug 2023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Jun 2022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Dec 2023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Aoka (PT Indone...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BreadTalk Indon...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Nippon Indosari...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Capital Bakery 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Private equity/...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BreadTalk Group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Institutional i...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Local strategic...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Indonesia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Indonesia/Singapore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Indonesia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Indonesia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$50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$85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$290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$9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$25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$42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$290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$6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2.0x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2.0x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1.0x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1.5x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Confidential | September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295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Arial"/>
              </a:defRPr>
            </a:pPr>
            <a:r>
              <a:t>Moelis &amp; Company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3A58"/>
                </a:solidFill>
                <a:latin typeface="Arial"/>
              </a:rPr>
              <a:t>Margin &amp; Cost Resilience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45720"/>
          </a:xfrm>
          <a:prstGeom prst="rect">
            <a:avLst/>
          </a:prstGeom>
          <a:solidFill>
            <a:srgbClr val="1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3A58"/>
                </a:solidFill>
                <a:latin typeface="Arial"/>
              </a:rPr>
              <a:t>EBITDA Margin Trend (2020–2024E)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645920"/>
          <a:ext cx="548640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0" y="3749039"/>
            <a:ext cx="2286000" cy="1371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Arial"/>
              </a:rPr>
              <a:t>Source: Company financials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3A58"/>
                </a:solidFill>
                <a:latin typeface="Arial"/>
              </a:rPr>
              <a:t>Cost Management &amp; Efficiency Initiatives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4389120"/>
            <a:ext cx="54864" cy="54864"/>
          </a:xfrm>
          <a:prstGeom prst="ellipse">
            <a:avLst/>
          </a:prstGeom>
          <a:solidFill>
            <a:srgbClr val="B59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343400"/>
            <a:ext cx="5029200" cy="1371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83A58"/>
                </a:solidFill>
                <a:latin typeface="Arial"/>
              </a:rPr>
              <a:t>Local Sourcing of 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480560"/>
            <a:ext cx="502920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Arial"/>
              </a:rPr>
              <a:t>Increase procurement of local wheat and dairy to reduce price volatility and currency risk.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4800600"/>
            <a:ext cx="54864" cy="54864"/>
          </a:xfrm>
          <a:prstGeom prst="ellipse">
            <a:avLst/>
          </a:prstGeom>
          <a:solidFill>
            <a:srgbClr val="B59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754880"/>
            <a:ext cx="5029200" cy="1371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83A58"/>
                </a:solidFill>
                <a:latin typeface="Arial"/>
              </a:rPr>
              <a:t>Centralized Procurement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892040"/>
            <a:ext cx="502920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Arial"/>
              </a:rPr>
              <a:t>Leverage group-wide purchasing for better pricing and supply stability.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5212080"/>
            <a:ext cx="54864" cy="54864"/>
          </a:xfrm>
          <a:prstGeom prst="ellipse">
            <a:avLst/>
          </a:prstGeom>
          <a:solidFill>
            <a:srgbClr val="B59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5166360"/>
            <a:ext cx="5029200" cy="1371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83A58"/>
                </a:solidFill>
                <a:latin typeface="Arial"/>
              </a:rPr>
              <a:t>Menu Engineering &amp; Dynamic 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03520"/>
            <a:ext cx="502920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Arial"/>
              </a:rPr>
              <a:t>Focus product mix and pricing on higher-margin SKUs, adjust prices as needed.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1280160"/>
            <a:ext cx="45720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83A58"/>
                </a:solidFill>
                <a:latin typeface="Arial"/>
              </a:rPr>
              <a:t>Risk Mitigation Strategies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645920"/>
            <a:ext cx="4572000" cy="16459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1645920"/>
            <a:ext cx="91440" cy="1645920"/>
          </a:xfrm>
          <a:prstGeom prst="rect">
            <a:avLst/>
          </a:prstGeom>
          <a:solidFill>
            <a:srgbClr val="B59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/>
              <a:t>Renderer error: 'str' object has no attribute 'get'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3A58"/>
                </a:solidFill>
                <a:latin typeface="Arial"/>
              </a:rPr>
              <a:t>SEA Conglomerate Strategic Buyers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45720"/>
          </a:xfrm>
          <a:prstGeom prst="rect">
            <a:avLst/>
          </a:prstGeom>
          <a:solidFill>
            <a:srgbClr val="1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3840480"/>
                <a:gridCol w="2011680"/>
                <a:gridCol w="1645920"/>
                <a:gridCol w="1218895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183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Country</a:t>
                      </a:r>
                    </a:p>
                  </a:txBody>
                  <a:tcPr>
                    <a:solidFill>
                      <a:srgbClr val="183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83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shareholders</a:t>
                      </a:r>
                    </a:p>
                  </a:txBody>
                  <a:tcPr>
                    <a:solidFill>
                      <a:srgbClr val="183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financials (US$m)</a:t>
                      </a:r>
                    </a:p>
                  </a:txBody>
                  <a:tcPr>
                    <a:solidFill>
                      <a:srgbClr val="183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Moelis contact</a:t>
                      </a:r>
                    </a:p>
                  </a:txBody>
                  <a:tcPr>
                    <a:solidFill>
                      <a:srgbClr val="183A58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CT Corp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Indonesia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Largest consumer/media conglomerate, retail/F&amp;B verticals.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Chairul Tanjung, family trusts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Group revenue US$7B+, strong cash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Jakarta office, Senior 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Emtek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Indonesia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Diversified holding, media, tech, health, consumer digital.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Sariaatmadja family, institutional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Revenue US$2B+, strong balance sheet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Singapore office, SEA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Bakrie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Indonesia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Historic conglomerate, media, resources, infra, F&amp;B JV.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Bakrie family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Revenue US$3B+, diversified assets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Jakarta office, Special Situations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Kompas Gramedia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Indonesia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Media, hospitality, publishing, urban consumer platform.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Oetama family, foundation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Revenue US$800M+, low leverage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Jakarta office, Consumer &amp; Media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>
                <a:solidFill>
                  <a:srgbClr val="808080"/>
                </a:solidFill>
                <a:latin typeface="Arial"/>
              </a:defRPr>
            </a:pPr>
            <a:r>
              <a:t>Confidential | September 06,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00800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Arial"/>
              </a:defRPr>
            </a:pPr>
            <a:r>
              <a:t>Moelis &amp; Company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3A58"/>
                </a:solidFill>
                <a:latin typeface="Arial"/>
              </a:rPr>
              <a:t>SEA Conglomerate Strategic Buyers (cont'd)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45720"/>
          </a:xfrm>
          <a:prstGeom prst="rect">
            <a:avLst/>
          </a:prstGeom>
          <a:solidFill>
            <a:srgbClr val="1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3840480"/>
                <a:gridCol w="2011680"/>
                <a:gridCol w="1645920"/>
                <a:gridCol w="1218895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183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Country</a:t>
                      </a:r>
                    </a:p>
                  </a:txBody>
                  <a:tcPr>
                    <a:solidFill>
                      <a:srgbClr val="183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83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shareholders</a:t>
                      </a:r>
                    </a:p>
                  </a:txBody>
                  <a:tcPr>
                    <a:solidFill>
                      <a:srgbClr val="183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financials (US$m)</a:t>
                      </a:r>
                    </a:p>
                  </a:txBody>
                  <a:tcPr>
                    <a:solidFill>
                      <a:srgbClr val="183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Moelis contact</a:t>
                      </a:r>
                    </a:p>
                  </a:txBody>
                  <a:tcPr>
                    <a:solidFill>
                      <a:srgbClr val="183A58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MNC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Indonesia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Media, entertainment, property, F&amp;B, digital/broadcast leader.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Hary Tanoesoedibjo, family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Revenue US$1.5B+, strong digital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404040"/>
                          </a:solidFill>
                          <a:latin typeface="Arial"/>
                        </a:defRPr>
                      </a:pPr>
                      <a:r>
                        <a:t>Singapore office, TMT &amp; Consumer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>
                <a:solidFill>
                  <a:srgbClr val="808080"/>
                </a:solidFill>
                <a:latin typeface="Arial"/>
              </a:defRPr>
            </a:pPr>
            <a:r>
              <a:t>Confidential | September 06,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00800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Arial"/>
              </a:defRPr>
            </a:pPr>
            <a:r>
              <a:t>Moelis &amp; Company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3A58"/>
                </a:solidFill>
                <a:latin typeface="Arial"/>
              </a:rPr>
              <a:t>Strategic Buyer Profiles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45720"/>
          </a:xfrm>
          <a:prstGeom prst="rect">
            <a:avLst/>
          </a:prstGeom>
          <a:solidFill>
            <a:srgbClr val="1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2286000"/>
                <a:gridCol w="201168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Buyer Name</a:t>
                      </a:r>
                    </a:p>
                  </a:txBody>
                  <a:tcPr marL="45720" marR="45720" marT="45720" marB="45720">
                    <a:solidFill>
                      <a:srgbClr val="183A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</a:p>
                  </a:txBody>
                  <a:tcPr marL="45720" marR="45720" marT="45720" marB="45720">
                    <a:solidFill>
                      <a:srgbClr val="183A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Strategic Rationale</a:t>
                      </a:r>
                    </a:p>
                  </a:txBody>
                  <a:tcPr marL="45720" marR="45720" marT="45720" marB="45720">
                    <a:solidFill>
                      <a:srgbClr val="183A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Key Synergies</a:t>
                      </a:r>
                    </a:p>
                  </a:txBody>
                  <a:tcPr marL="45720" marR="45720" marT="45720" marB="45720">
                    <a:solidFill>
                      <a:srgbClr val="183A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Concerns</a:t>
                      </a:r>
                    </a:p>
                  </a:txBody>
                  <a:tcPr marL="45720" marR="45720" marT="45720" marB="45720">
                    <a:solidFill>
                      <a:srgbClr val="183A5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Arial"/>
                        </a:rPr>
                        <a:t>Nippon Indosari Corpindo (Sari Roti)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Consolidate market leadership, acquire urban/transit and B2B footprint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Outlet integration, supply chain, cross-brand innovation, digital/loyalty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Channel overlap, antitrust, integration complexity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9/10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Arial"/>
                        </a:rPr>
                        <a:t>CT Corp (Transmart/Trans Food)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Expand F&amp;B vertical, leverage Breadlife in retail and cross-promotion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Retail footprint, private label, consumer data, cross-promotion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Organizational complexity, brand integration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8/10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Arial"/>
                        </a:rPr>
                        <a:t>BreadTalk Group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Boost Indonesian scale, add B2B/digital sales channels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Brand, innovation, procurement, regional expansion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Brand overlap, premium/mass positioning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8/10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Arial"/>
                        </a:rPr>
                        <a:t>Emtek Group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Omni-channel growth, digital integration, urban consumer reach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Digital sales, cross-platform marketing, logistics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F&amp;B expertise, execution risk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7/10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>
                <a:solidFill>
                  <a:srgbClr val="808080"/>
                </a:solidFill>
                <a:latin typeface="Arial"/>
              </a:defRPr>
            </a:pPr>
            <a:r>
              <a:t>Confidential | September 06,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00800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Arial"/>
              </a:defRPr>
            </a:pPr>
            <a:r>
              <a:t>Moelis &amp; Company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83A58"/>
                </a:solidFill>
                <a:latin typeface="Arial"/>
              </a:rPr>
              <a:t>Financial Buyer Profiles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45720"/>
          </a:xfrm>
          <a:prstGeom prst="rect">
            <a:avLst/>
          </a:prstGeom>
          <a:solidFill>
            <a:srgbClr val="1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2286000"/>
                <a:gridCol w="201168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Buyer Name</a:t>
                      </a:r>
                    </a:p>
                  </a:txBody>
                  <a:tcPr marL="45720" marR="45720" marT="45720" marB="45720">
                    <a:solidFill>
                      <a:srgbClr val="183A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</a:p>
                  </a:txBody>
                  <a:tcPr marL="45720" marR="45720" marT="45720" marB="45720">
                    <a:solidFill>
                      <a:srgbClr val="183A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Strategic Rationale</a:t>
                      </a:r>
                    </a:p>
                  </a:txBody>
                  <a:tcPr marL="45720" marR="45720" marT="45720" marB="45720">
                    <a:solidFill>
                      <a:srgbClr val="183A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Key Synergies</a:t>
                      </a:r>
                    </a:p>
                  </a:txBody>
                  <a:tcPr marL="45720" marR="45720" marT="45720" marB="45720">
                    <a:solidFill>
                      <a:srgbClr val="183A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Concerns</a:t>
                      </a:r>
                    </a:p>
                  </a:txBody>
                  <a:tcPr marL="45720" marR="45720" marT="45720" marB="45720">
                    <a:solidFill>
                      <a:srgbClr val="183A5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Arial"/>
                        </a:rPr>
                        <a:t>Northstar Group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Bakery/F&amp;B platform roll-up, regional expansion leverage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Capital for M&amp;A, upgrades, digital transformation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Valuation, exit strategy, competition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9/10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Arial"/>
                        </a:rPr>
                        <a:t>Creador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Accelerate digital/B2B growth, new market entry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Growth capital, governance, expertise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Saturation, macro risk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8/10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Arial"/>
                        </a:rPr>
                        <a:t>Quadria Capital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Health trend leverage, regionalize healthy bread SKUs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Innovation, distribution, ESG position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Mass-market execution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8/10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04040"/>
                          </a:solidFill>
                          <a:latin typeface="Arial"/>
                        </a:rPr>
                        <a:t>Warburg Pincus (SEA team)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Regional F&amp;B platform, digital/B2B scale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M&amp;A, expansion, tech enablement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Deal size, valuation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Arial"/>
                        </a:rPr>
                        <a:t>8/10</a:t>
                      </a:r>
                    </a:p>
                  </a:txBody>
                  <a:tcPr marL="45720" marR="45720" marT="45720" marB="45720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>
                <a:solidFill>
                  <a:srgbClr val="808080"/>
                </a:solidFill>
                <a:latin typeface="Arial"/>
              </a:defRPr>
            </a:pPr>
            <a:r>
              <a:t>Confidential | September 06,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00800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Arial"/>
              </a:defRPr>
            </a:pPr>
            <a:r>
              <a:t>Moelis &amp; Company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