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 (USD millions)</c:v>
                </c:pt>
              </c:strCache>
            </c:strRef>
          </c:tx>
          <c:spPr>
            <a:solidFill>
              <a:srgbClr val="183A58"/>
            </a:solidFill>
          </c:spPr>
          <c:dPt>
            <c:idx val="0"/>
            <c:spPr>
              <a:solidFill>
                <a:srgbClr val="183A58"/>
              </a:solidFill>
            </c:spPr>
          </c:dPt>
          <c:dPt>
            <c:idx val="1"/>
            <c:spPr>
              <a:solidFill>
                <a:srgbClr val="183A58"/>
              </a:solidFill>
            </c:spPr>
          </c:dPt>
          <c:dPt>
            <c:idx val="2"/>
            <c:spPr>
              <a:solidFill>
                <a:srgbClr val="183A58"/>
              </a:solidFill>
            </c:spPr>
          </c:dPt>
          <c:dPt>
            <c:idx val="3"/>
            <c:spPr>
              <a:solidFill>
                <a:srgbClr val="183A58"/>
              </a:solidFill>
            </c:spPr>
          </c:dPt>
          <c:dPt>
            <c:idx val="4"/>
            <c:spPr>
              <a:solidFill>
                <a:srgbClr val="183A58"/>
              </a:solidFill>
            </c:spPr>
          </c:dPt>
          <c:cat>
            <c:strRef>
              <c:f>Sheet1!$A$2:$A$6</c:f>
              <c:strCache>
                <c:ptCount val="5"/>
                <c:pt idx="0">
                  <c:v>2020</c:v>
                </c:pt>
                <c:pt idx="1">
                  <c:v>2021</c:v>
                </c:pt>
                <c:pt idx="2">
                  <c:v>2022</c:v>
                </c:pt>
                <c:pt idx="3">
                  <c:v>2023</c:v>
                </c:pt>
                <c:pt idx="4">
                  <c:v>2024E</c:v>
                </c:pt>
              </c:strCache>
            </c:strRef>
          </c:cat>
          <c:val>
            <c:numRef>
              <c:f>Sheet1!$B$2:$B$6</c:f>
              <c:numCache>
                <c:formatCode>General</c:formatCode>
                <c:ptCount val="5"/>
                <c:pt idx="0">
                  <c:v>120</c:v>
                </c:pt>
                <c:pt idx="1">
                  <c:v>145</c:v>
                </c:pt>
                <c:pt idx="2">
                  <c:v>180</c:v>
                </c:pt>
                <c:pt idx="3">
                  <c:v>210</c:v>
                </c:pt>
                <c:pt idx="4">
                  <c:v>240</c:v>
                </c:pt>
              </c:numCache>
            </c:numRef>
          </c:val>
        </c:ser>
        <c:ser>
          <c:idx val="1"/>
          <c:order val="1"/>
          <c:tx>
            <c:strRef>
              <c:f>Sheet1!$C$1</c:f>
              <c:strCache>
                <c:ptCount val="1"/>
                <c:pt idx="0">
                  <c:v>EBITDA (USD millions)</c:v>
                </c:pt>
              </c:strCache>
            </c:strRef>
          </c:tx>
          <c:spPr>
            <a:solidFill>
              <a:srgbClr val="B5975B"/>
            </a:solidFill>
          </c:spPr>
          <c:dPt>
            <c:idx val="0"/>
            <c:spPr>
              <a:solidFill>
                <a:srgbClr val="B5975B"/>
              </a:solidFill>
            </c:spPr>
          </c:dPt>
          <c:dPt>
            <c:idx val="1"/>
            <c:spPr>
              <a:solidFill>
                <a:srgbClr val="B5975B"/>
              </a:solidFill>
            </c:spPr>
          </c:dPt>
          <c:dPt>
            <c:idx val="2"/>
            <c:spPr>
              <a:solidFill>
                <a:srgbClr val="B5975B"/>
              </a:solidFill>
            </c:spPr>
          </c:dPt>
          <c:dPt>
            <c:idx val="3"/>
            <c:spPr>
              <a:solidFill>
                <a:srgbClr val="B5975B"/>
              </a:solidFill>
            </c:spPr>
          </c:dPt>
          <c:dPt>
            <c:idx val="4"/>
            <c:spPr>
              <a:solidFill>
                <a:srgbClr val="B5975B"/>
              </a:solidFill>
            </c:spPr>
          </c:dPt>
          <c:cat>
            <c:strRef>
              <c:f>Sheet1!$A$2:$A$6</c:f>
              <c:strCache>
                <c:ptCount val="5"/>
                <c:pt idx="0">
                  <c:v>2020</c:v>
                </c:pt>
                <c:pt idx="1">
                  <c:v>2021</c:v>
                </c:pt>
                <c:pt idx="2">
                  <c:v>2022</c:v>
                </c:pt>
                <c:pt idx="3">
                  <c:v>2023</c:v>
                </c:pt>
                <c:pt idx="4">
                  <c:v>2024E</c:v>
                </c:pt>
              </c:strCache>
            </c:strRef>
          </c:cat>
          <c:val>
            <c:numRef>
              <c:f>Sheet1!$C$2:$C$6</c:f>
              <c:numCache>
                <c:formatCode>General</c:formatCode>
                <c:ptCount val="5"/>
                <c:pt idx="0">
                  <c:v>18</c:v>
                </c:pt>
                <c:pt idx="1">
                  <c:v>24</c:v>
                </c:pt>
                <c:pt idx="2">
                  <c:v>31</c:v>
                </c:pt>
                <c:pt idx="3">
                  <c:v>40</c:v>
                </c:pt>
                <c:pt idx="4">
                  <c:v>47</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latin typeface="Arial"/>
              </a:defRPr>
            </a:pPr>
          </a:p>
        </c:txPr>
        <c:crossAx val="-2113994440"/>
        <c:crosses val="autoZero"/>
        <c:auto val="1"/>
        <c:lblAlgn val="ctr"/>
        <c:lblOffset val="100"/>
        <c:noMultiLvlLbl val="0"/>
      </c:catAx>
      <c:valAx>
        <c:axId val="-2113994440"/>
        <c:scaling>
          <c:max val="45.0"/>
        </c:scaling>
        <c:delete val="0"/>
        <c:axPos val="l"/>
        <c:majorGridlines/>
        <c:majorTickMark val="out"/>
        <c:minorTickMark val="none"/>
        <c:tickLblPos val="nextTo"/>
        <c:txPr>
          <a:bodyPr/>
          <a:lstStyle/>
          <a:p>
            <a:pPr>
              <a:defRPr sz="1000">
                <a:latin typeface="Arial"/>
              </a:defRPr>
            </a:pPr>
          </a:p>
        </c:txPr>
        <c:crossAx val="-2068027336"/>
        <c:crosses val="autoZero"/>
      </c:valAx>
    </c:plotArea>
    <c:legend>
      <c:legendPos val="t"/>
      <c:txPr>
        <a:bodyPr/>
        <a:lstStyle/>
        <a:p>
          <a:pPr>
            <a:defRPr sz="10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 (USD millions)</c:v>
                </c:pt>
              </c:strCache>
            </c:strRef>
          </c:tx>
          <c:spPr>
            <a:solidFill>
              <a:srgbClr val="183A58"/>
            </a:solidFill>
          </c:spPr>
          <c:cat>
            <c:strRef>
              <c:f>Sheet1!$A$2:$A$4</c:f>
              <c:strCache>
                <c:ptCount val="3"/>
                <c:pt idx="0">
                  <c:v>2024E</c:v>
                </c:pt>
                <c:pt idx="1">
                  <c:v>2025E</c:v>
                </c:pt>
                <c:pt idx="2">
                  <c:v>2026E</c:v>
                </c:pt>
              </c:strCache>
            </c:strRef>
          </c:cat>
          <c:val>
            <c:numRef>
              <c:f>Sheet1!$B$2:$B$4</c:f>
              <c:numCache>
                <c:formatCode>General</c:formatCode>
                <c:ptCount val="3"/>
                <c:pt idx="0">
                  <c:v>240</c:v>
                </c:pt>
                <c:pt idx="1">
                  <c:v>280</c:v>
                </c:pt>
                <c:pt idx="2">
                  <c:v>320</c:v>
                </c:pt>
              </c:numCache>
            </c:numRef>
          </c:val>
        </c:ser>
        <c:ser>
          <c:idx val="1"/>
          <c:order val="1"/>
          <c:tx>
            <c:strRef>
              <c:f>Sheet1!$C$1</c:f>
              <c:strCache>
                <c:ptCount val="1"/>
                <c:pt idx="0">
                  <c:v>EBITDA (USD millions)</c:v>
                </c:pt>
              </c:strCache>
            </c:strRef>
          </c:tx>
          <c:spPr>
            <a:solidFill>
              <a:srgbClr val="B5975B"/>
            </a:solidFill>
          </c:spPr>
          <c:cat>
            <c:strRef>
              <c:f>Sheet1!$A$2:$A$4</c:f>
              <c:strCache>
                <c:ptCount val="3"/>
                <c:pt idx="0">
                  <c:v>2024E</c:v>
                </c:pt>
                <c:pt idx="1">
                  <c:v>2025E</c:v>
                </c:pt>
                <c:pt idx="2">
                  <c:v>2026E</c:v>
                </c:pt>
              </c:strCache>
            </c:strRef>
          </c:cat>
          <c:val>
            <c:numRef>
              <c:f>Sheet1!$C$2:$C$4</c:f>
              <c:numCache>
                <c:formatCode>General</c:formatCode>
                <c:ptCount val="3"/>
                <c:pt idx="0">
                  <c:v>47</c:v>
                </c:pt>
                <c:pt idx="1">
                  <c:v>56</c:v>
                </c:pt>
                <c:pt idx="2">
                  <c:v>64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a:pPr>
          </a:p>
        </c:rich>
      </c:tx>
      <c:layout/>
      <c:overlay val="0"/>
    </c:title>
    <c:autoTitleDeleted val="0"/>
    <c:plotArea>
      <c:barChart>
        <c:barDir val="col"/>
        <c:grouping val="clustered"/>
        <c:ser>
          <c:idx val="0"/>
          <c:order val="0"/>
          <c:tx>
            <c:strRef>
              <c:f>Sheet1!$B$1</c:f>
              <c:strCache>
                <c:ptCount val="1"/>
                <c:pt idx="0">
                  <c:v>Revenue (HK$ M)</c:v>
                </c:pt>
              </c:strCache>
            </c:strRef>
          </c:tx>
          <c:dPt>
            <c:idx val="0"/>
            <c:spPr>
              <a:solidFill>
                <a:srgbClr val="183A58"/>
              </a:solidFill>
            </c:spPr>
          </c:dPt>
          <c:dPt>
            <c:idx val="1"/>
            <c:spPr>
              <a:solidFill>
                <a:srgbClr val="183A58"/>
              </a:solidFill>
            </c:spPr>
          </c:dPt>
          <c:dPt>
            <c:idx val="2"/>
            <c:spPr>
              <a:solidFill>
                <a:srgbClr val="183A58"/>
              </a:solidFill>
            </c:spPr>
          </c:dPt>
          <c:dPt>
            <c:idx val="3"/>
            <c:spPr>
              <a:solidFill>
                <a:srgbClr val="183A58"/>
              </a:solidFill>
            </c:spPr>
          </c:dPt>
          <c:dPt>
            <c:idx val="4"/>
            <c:spPr>
              <a:solidFill>
                <a:srgbClr val="183A58"/>
              </a:solidFill>
            </c:spPr>
          </c:dPt>
          <c:cat>
            <c:strRef>
              <c:f>Sheet1!$A$2:$A$6</c:f>
              <c:strCache>
                <c:ptCount val="5"/>
                <c:pt idx="0">
                  <c:v>PT Nippon Indosari Corpindo (Sari Roti)</c:v>
                </c:pt>
                <c:pt idx="1">
                  <c:v>Holland Bakery</c:v>
                </c:pt>
                <c:pt idx="2">
                  <c:v>BreadTalk Indonesia</c:v>
                </c:pt>
                <c:pt idx="3">
                  <c:v>Mayora Indah</c:v>
                </c:pt>
                <c:pt idx="4">
                  <c:v>QAF Ltd (Gardenia)</c:v>
                </c:pt>
              </c:strCache>
            </c:strRef>
          </c:cat>
          <c:val>
            <c:numRef>
              <c:f>Sheet1!$B$2:$B$6</c:f>
              <c:numCache>
                <c:formatCode>General</c:formatCode>
                <c:ptCount val="5"/>
                <c:pt idx="0">
                  <c:v>300</c:v>
                </c:pt>
                <c:pt idx="1">
                  <c:v>100</c:v>
                </c:pt>
                <c:pt idx="2">
                  <c:v>90</c:v>
                </c:pt>
                <c:pt idx="3">
                  <c:v>2000</c:v>
                </c:pt>
                <c:pt idx="4">
                  <c:v>200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00">
                <a:latin typeface="Arial"/>
              </a:defRPr>
            </a:pPr>
          </a:p>
        </c:txPr>
        <c:crossAx val="-2113994440"/>
        <c:crosses val="autoZero"/>
        <c:auto val="1"/>
        <c:lblAlgn val="ctr"/>
        <c:lblOffset val="100"/>
        <c:noMultiLvlLbl val="0"/>
      </c:catAx>
      <c:valAx>
        <c:axId val="-2113994440"/>
        <c:scaling>
          <c:max val="500.0"/>
        </c:scaling>
        <c:delete val="0"/>
        <c:axPos val="l"/>
        <c:majorGridlines/>
        <c:majorTickMark val="out"/>
        <c:minorTickMark val="none"/>
        <c:tickLblPos val="nextTo"/>
        <c:txPr>
          <a:bodyPr/>
          <a:lstStyle/>
          <a:p>
            <a:pPr>
              <a:defRPr sz="9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a:pPr>
          </a:p>
        </c:rich>
      </c:tx>
      <c:layout/>
      <c:overlay val="0"/>
    </c:title>
    <c:autoTitleDeleted val="0"/>
    <c:plotArea>
      <c:lineChart>
        <c:grouping val="standard"/>
        <c:varyColors val="0"/>
        <c:ser>
          <c:idx val="0"/>
          <c:order val="0"/>
          <c:tx>
            <c:strRef>
              <c:f>Sheet1!$B$1</c:f>
              <c:strCache>
                <c:ptCount val="1"/>
                <c:pt idx="0">
                  <c:v>EBITDA Margin %</c:v>
                </c:pt>
              </c:strCache>
            </c:strRef>
          </c:tx>
          <c:spPr>
            <a:ln w="38100">
              <a:solidFill>
                <a:srgbClr val="B5975B"/>
              </a:solidFill>
            </a:ln>
          </c:spPr>
          <c:dPt>
            <c:idx val="0"/>
            <c:spPr>
              <a:solidFill>
                <a:srgbClr val="B5975B"/>
              </a:solidFill>
              <a:ln>
                <a:solidFill>
                  <a:srgbClr val="B5975B"/>
                </a:solidFill>
              </a:ln>
            </c:spPr>
          </c:dPt>
          <c:dPt>
            <c:idx val="1"/>
            <c:spPr>
              <a:solidFill>
                <a:srgbClr val="B5975B"/>
              </a:solidFill>
              <a:ln>
                <a:solidFill>
                  <a:srgbClr val="B5975B"/>
                </a:solidFill>
              </a:ln>
            </c:spPr>
          </c:dPt>
          <c:dPt>
            <c:idx val="2"/>
            <c:spPr>
              <a:solidFill>
                <a:srgbClr val="B5975B"/>
              </a:solidFill>
              <a:ln>
                <a:solidFill>
                  <a:srgbClr val="B5975B"/>
                </a:solidFill>
              </a:ln>
            </c:spPr>
          </c:dPt>
          <c:dPt>
            <c:idx val="3"/>
            <c:spPr>
              <a:solidFill>
                <a:srgbClr val="B5975B"/>
              </a:solidFill>
              <a:ln>
                <a:solidFill>
                  <a:srgbClr val="B5975B"/>
                </a:solidFill>
              </a:ln>
            </c:spPr>
          </c:dPt>
          <c:dPt>
            <c:idx val="4"/>
            <c:spPr>
              <a:solidFill>
                <a:srgbClr val="B5975B"/>
              </a:solidFill>
              <a:ln>
                <a:solidFill>
                  <a:srgbClr val="B5975B"/>
                </a:solidFill>
              </a:ln>
            </c:spPr>
          </c:dPt>
          <c:cat>
            <c:strRef>
              <c:f>Sheet1!$A$2:$A$6</c:f>
              <c:strCache>
                <c:ptCount val="5"/>
                <c:pt idx="0">
                  <c:v>2020</c:v>
                </c:pt>
                <c:pt idx="1">
                  <c:v>2021</c:v>
                </c:pt>
                <c:pt idx="2">
                  <c:v>2022</c:v>
                </c:pt>
                <c:pt idx="3">
                  <c:v>2023</c:v>
                </c:pt>
                <c:pt idx="4">
                  <c:v>2024E</c:v>
                </c:pt>
              </c:strCache>
            </c:strRef>
          </c:cat>
          <c:val>
            <c:numRef>
              <c:f>Sheet1!$B$2:$B$6</c:f>
              <c:numCache>
                <c:formatCode>General</c:formatCode>
                <c:ptCount val="5"/>
                <c:pt idx="0">
                  <c:v>18</c:v>
                </c:pt>
                <c:pt idx="1">
                  <c:v>24</c:v>
                </c:pt>
                <c:pt idx="2">
                  <c:v>31</c:v>
                </c:pt>
                <c:pt idx="3">
                  <c:v>40</c:v>
                </c:pt>
                <c:pt idx="4">
                  <c:v>47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000">
                <a:latin typeface="Arial"/>
              </a:defRPr>
            </a:pPr>
          </a:p>
        </c:txPr>
        <c:crossAx val="2140495176"/>
        <c:crosses val="autoZero"/>
        <c:auto val="1"/>
        <c:lblAlgn val="ctr"/>
        <c:lblOffset val="100"/>
        <c:noMultiLvlLbl val="0"/>
      </c:catAx>
      <c:valAx>
        <c:axId val="2140495176"/>
        <c:scaling>
          <c:max val="500.0"/>
        </c:scaling>
        <c:delete val="0"/>
        <c:axPos val="l"/>
        <c:majorGridlines/>
        <c:majorTickMark val="out"/>
        <c:minorTickMark val="none"/>
        <c:tickLblPos val="nextTo"/>
        <c:txPr>
          <a:bodyPr/>
          <a:lstStyle/>
          <a:p>
            <a:pPr>
              <a:defRPr sz="1000">
                <a:latin typeface="Arial"/>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Business Overview</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972800" cy="1097280"/>
          </a:xfrm>
          <a:prstGeom prst="rect">
            <a:avLst/>
          </a:prstGeom>
          <a:noFill/>
          <a:ln>
            <a:noFill/>
          </a:ln>
          <a:effectLst/>
        </p:spPr>
        <p:txBody>
          <a:bodyPr wrap="square">
            <a:spAutoFit/>
          </a:bodyPr>
          <a:lstStyle/>
          <a:p>
            <a:pPr algn="l"/>
            <a:r>
              <a:rPr sz="1400" b="0">
                <a:solidFill>
                  <a:srgbClr val="404040"/>
                </a:solidFill>
                <a:latin typeface="Arial"/>
              </a:rPr>
              <a:t>Breadlife is a leading Indonesian bakery chain, founded in 2010, specializing in fresh, preservative-free breads and cakes using high-quality ingredients and Japanese artisan techniques. It is recognized for its open kitchen concept and rapid expansion into high-traffic urban locations across Jakarta, Surabaya, Balikpapan, Banjarmasin, Samarinda, Pontianak, Medan, and soon Padang and Solok. Owned by The Daily Company (DailyCo) since 2021, Breadlife has rapidly expanded its outlet base, leading to 150% revenue growth from 2022 to 2024.</a:t>
            </a:r>
          </a:p>
        </p:txBody>
      </p:sp>
      <p:sp>
        <p:nvSpPr>
          <p:cNvPr id="5" name="Oval 4"/>
          <p:cNvSpPr/>
          <p:nvPr/>
        </p:nvSpPr>
        <p:spPr>
          <a:xfrm>
            <a:off x="914400" y="2560320"/>
            <a:ext cx="109728" cy="109728"/>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24128" y="2606040"/>
            <a:ext cx="3657600" cy="18288"/>
          </a:xfrm>
          <a:prstGeom prst="rect">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572000" y="2560320"/>
            <a:ext cx="109728" cy="109728"/>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457200" cy="182880"/>
          </a:xfrm>
          <a:prstGeom prst="rect">
            <a:avLst/>
          </a:prstGeom>
          <a:noFill/>
        </p:spPr>
        <p:txBody>
          <a:bodyPr wrap="none">
            <a:spAutoFit/>
          </a:bodyPr>
          <a:lstStyle/>
        </p:txBody>
      </p:sp>
      <p:sp>
        <p:nvSpPr>
          <p:cNvPr id="9" name="Rectangle 8"/>
          <p:cNvSpPr/>
          <p:nvPr/>
        </p:nvSpPr>
        <p:spPr>
          <a:xfrm>
            <a:off x="7498079" y="2560320"/>
            <a:ext cx="4114800" cy="320040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2651760"/>
            <a:ext cx="3749039" cy="274320"/>
          </a:xfrm>
          <a:prstGeom prst="rect">
            <a:avLst/>
          </a:prstGeom>
          <a:noFill/>
          <a:ln>
            <a:noFill/>
          </a:ln>
          <a:effectLst/>
        </p:spPr>
        <p:txBody>
          <a:bodyPr wrap="square">
            <a:spAutoFit/>
          </a:bodyPr>
          <a:lstStyle/>
          <a:p>
            <a:pPr algn="ctr"/>
            <a:r>
              <a:rPr sz="1400" b="1">
                <a:solidFill>
                  <a:srgbClr val="183A58"/>
                </a:solidFill>
                <a:latin typeface="Arial"/>
              </a:rPr>
              <a:t>Key Operational Highlights</a:t>
            </a:r>
          </a:p>
        </p:txBody>
      </p:sp>
      <p:sp>
        <p:nvSpPr>
          <p:cNvPr id="11" name="Oval 10"/>
          <p:cNvSpPr/>
          <p:nvPr/>
        </p:nvSpPr>
        <p:spPr>
          <a:xfrm>
            <a:off x="7772400" y="3063240"/>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9560" y="3017520"/>
            <a:ext cx="3474720" cy="320040"/>
          </a:xfrm>
          <a:prstGeom prst="rect">
            <a:avLst/>
          </a:prstGeom>
          <a:noFill/>
          <a:ln>
            <a:noFill/>
          </a:ln>
          <a:effectLst/>
        </p:spPr>
        <p:txBody>
          <a:bodyPr wrap="square">
            <a:spAutoFit/>
          </a:bodyPr>
          <a:lstStyle/>
          <a:p>
            <a:pPr algn="l"/>
            <a:r>
              <a:rPr sz="1000" b="0">
                <a:solidFill>
                  <a:srgbClr val="404040"/>
                </a:solidFill>
                <a:latin typeface="Arial"/>
              </a:rPr>
              <a:t>Opened 100+ new outlets since 2021, reaching millions of consumers in high-foot-traffic locations.</a:t>
            </a:r>
          </a:p>
        </p:txBody>
      </p:sp>
      <p:sp>
        <p:nvSpPr>
          <p:cNvPr id="13" name="Oval 12"/>
          <p:cNvSpPr/>
          <p:nvPr/>
        </p:nvSpPr>
        <p:spPr>
          <a:xfrm>
            <a:off x="7772400" y="3428999"/>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60" y="3383279"/>
            <a:ext cx="3474720" cy="320040"/>
          </a:xfrm>
          <a:prstGeom prst="rect">
            <a:avLst/>
          </a:prstGeom>
          <a:noFill/>
          <a:ln>
            <a:noFill/>
          </a:ln>
          <a:effectLst/>
        </p:spPr>
        <p:txBody>
          <a:bodyPr wrap="square">
            <a:spAutoFit/>
          </a:bodyPr>
          <a:lstStyle/>
          <a:p>
            <a:pPr algn="l"/>
            <a:r>
              <a:rPr sz="1000" b="0">
                <a:solidFill>
                  <a:srgbClr val="404040"/>
                </a:solidFill>
                <a:latin typeface="Arial"/>
              </a:rPr>
              <a:t>Achieved 150% revenue growth from 2022 to 2024.</a:t>
            </a:r>
          </a:p>
        </p:txBody>
      </p:sp>
      <p:sp>
        <p:nvSpPr>
          <p:cNvPr id="15" name="Oval 14"/>
          <p:cNvSpPr/>
          <p:nvPr/>
        </p:nvSpPr>
        <p:spPr>
          <a:xfrm>
            <a:off x="7772400" y="3794759"/>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3749039"/>
            <a:ext cx="3474720" cy="320040"/>
          </a:xfrm>
          <a:prstGeom prst="rect">
            <a:avLst/>
          </a:prstGeom>
          <a:noFill/>
          <a:ln>
            <a:noFill/>
          </a:ln>
          <a:effectLst/>
        </p:spPr>
        <p:txBody>
          <a:bodyPr wrap="square">
            <a:spAutoFit/>
          </a:bodyPr>
          <a:lstStyle/>
          <a:p>
            <a:pPr algn="l"/>
            <a:r>
              <a:rPr sz="1000" b="0">
                <a:solidFill>
                  <a:srgbClr val="404040"/>
                </a:solidFill>
                <a:latin typeface="Arial"/>
              </a:rPr>
              <a:t>Consolidated EBITDA margins at group level around 17%, with B2C margins up to 25%.</a:t>
            </a:r>
          </a:p>
        </p:txBody>
      </p:sp>
      <p:sp>
        <p:nvSpPr>
          <p:cNvPr id="17" name="Oval 16"/>
          <p:cNvSpPr/>
          <p:nvPr/>
        </p:nvSpPr>
        <p:spPr>
          <a:xfrm>
            <a:off x="7772400" y="4160520"/>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114800"/>
            <a:ext cx="3474720" cy="320040"/>
          </a:xfrm>
          <a:prstGeom prst="rect">
            <a:avLst/>
          </a:prstGeom>
          <a:noFill/>
          <a:ln>
            <a:noFill/>
          </a:ln>
          <a:effectLst/>
        </p:spPr>
        <p:txBody>
          <a:bodyPr wrap="square">
            <a:spAutoFit/>
          </a:bodyPr>
          <a:lstStyle/>
          <a:p>
            <a:pPr algn="l"/>
            <a:r>
              <a:rPr sz="1000" b="0">
                <a:solidFill>
                  <a:srgbClr val="404040"/>
                </a:solidFill>
                <a:latin typeface="Arial"/>
              </a:rPr>
              <a:t>Delivers fresh, preservative-free, affordable baked goods to millions of Indonesian consumers.</a:t>
            </a:r>
          </a:p>
        </p:txBody>
      </p:sp>
      <p:sp>
        <p:nvSpPr>
          <p:cNvPr id="19" name="Oval 18"/>
          <p:cNvSpPr/>
          <p:nvPr/>
        </p:nvSpPr>
        <p:spPr>
          <a:xfrm>
            <a:off x="7772400" y="4526280"/>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4480560"/>
            <a:ext cx="3474720" cy="320040"/>
          </a:xfrm>
          <a:prstGeom prst="rect">
            <a:avLst/>
          </a:prstGeom>
          <a:noFill/>
          <a:ln>
            <a:noFill/>
          </a:ln>
          <a:effectLst/>
        </p:spPr>
        <p:txBody>
          <a:bodyPr wrap="square">
            <a:spAutoFit/>
          </a:bodyPr>
          <a:lstStyle/>
          <a:p>
            <a:pPr algn="l"/>
            <a:r>
              <a:rPr sz="1000" b="0">
                <a:solidFill>
                  <a:srgbClr val="404040"/>
                </a:solidFill>
                <a:latin typeface="Arial"/>
              </a:rPr>
              <a:t>Successfully balanced both B2C and B2B channels for volume and margin stability.</a:t>
            </a:r>
          </a:p>
        </p:txBody>
      </p:sp>
      <p:sp>
        <p:nvSpPr>
          <p:cNvPr id="21" name="TextBox 20"/>
          <p:cNvSpPr txBox="1"/>
          <p:nvPr/>
        </p:nvSpPr>
        <p:spPr>
          <a:xfrm>
            <a:off x="731520" y="3108960"/>
            <a:ext cx="4572000" cy="274320"/>
          </a:xfrm>
          <a:prstGeom prst="rect">
            <a:avLst/>
          </a:prstGeom>
          <a:noFill/>
          <a:ln>
            <a:noFill/>
          </a:ln>
          <a:effectLst/>
        </p:spPr>
        <p:txBody>
          <a:bodyPr wrap="square">
            <a:spAutoFit/>
          </a:bodyPr>
          <a:lstStyle/>
          <a:p>
            <a:pPr algn="l"/>
            <a:r>
              <a:rPr sz="1400" b="1">
                <a:solidFill>
                  <a:srgbClr val="183A58"/>
                </a:solidFill>
                <a:latin typeface="Arial"/>
              </a:rPr>
              <a:t>Core Service Lines</a:t>
            </a:r>
          </a:p>
        </p:txBody>
      </p:sp>
      <p:sp>
        <p:nvSpPr>
          <p:cNvPr id="22" name="Oval 21"/>
          <p:cNvSpPr/>
          <p:nvPr/>
        </p:nvSpPr>
        <p:spPr>
          <a:xfrm>
            <a:off x="914400" y="3520440"/>
            <a:ext cx="45720" cy="457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474720"/>
            <a:ext cx="2560320" cy="411480"/>
          </a:xfrm>
          <a:prstGeom prst="rect">
            <a:avLst/>
          </a:prstGeom>
          <a:noFill/>
          <a:ln>
            <a:noFill/>
          </a:ln>
          <a:effectLst/>
        </p:spPr>
        <p:txBody>
          <a:bodyPr wrap="square">
            <a:spAutoFit/>
          </a:bodyPr>
          <a:lstStyle/>
          <a:p>
            <a:pPr algn="l"/>
            <a:r>
              <a:rPr sz="1000" b="0">
                <a:solidFill>
                  <a:srgbClr val="404040"/>
                </a:solidFill>
                <a:latin typeface="Arial"/>
              </a:rPr>
              <a:t>Japanese-style Breads</a:t>
            </a:r>
          </a:p>
        </p:txBody>
      </p:sp>
      <p:sp>
        <p:nvSpPr>
          <p:cNvPr id="24" name="Oval 23"/>
          <p:cNvSpPr/>
          <p:nvPr/>
        </p:nvSpPr>
        <p:spPr>
          <a:xfrm>
            <a:off x="914400" y="4023359"/>
            <a:ext cx="45720" cy="457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3977639"/>
            <a:ext cx="2560320" cy="411480"/>
          </a:xfrm>
          <a:prstGeom prst="rect">
            <a:avLst/>
          </a:prstGeom>
          <a:noFill/>
          <a:ln>
            <a:noFill/>
          </a:ln>
          <a:effectLst/>
        </p:spPr>
        <p:txBody>
          <a:bodyPr wrap="square">
            <a:spAutoFit/>
          </a:bodyPr>
          <a:lstStyle/>
          <a:p>
            <a:pPr algn="l"/>
            <a:r>
              <a:rPr sz="1000" b="0">
                <a:solidFill>
                  <a:srgbClr val="404040"/>
                </a:solidFill>
                <a:latin typeface="Arial"/>
              </a:rPr>
              <a:t>Cakes &amp; Pastries</a:t>
            </a:r>
          </a:p>
        </p:txBody>
      </p:sp>
      <p:sp>
        <p:nvSpPr>
          <p:cNvPr id="26" name="Oval 25"/>
          <p:cNvSpPr/>
          <p:nvPr/>
        </p:nvSpPr>
        <p:spPr>
          <a:xfrm>
            <a:off x="3840480" y="3520440"/>
            <a:ext cx="45720" cy="457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77640" y="3474720"/>
            <a:ext cx="2560320" cy="411480"/>
          </a:xfrm>
          <a:prstGeom prst="rect">
            <a:avLst/>
          </a:prstGeom>
          <a:noFill/>
          <a:ln>
            <a:noFill/>
          </a:ln>
          <a:effectLst/>
        </p:spPr>
        <p:txBody>
          <a:bodyPr wrap="square">
            <a:spAutoFit/>
          </a:bodyPr>
          <a:lstStyle/>
          <a:p>
            <a:pPr algn="l"/>
            <a:r>
              <a:rPr sz="1000" b="0">
                <a:solidFill>
                  <a:srgbClr val="404040"/>
                </a:solidFill>
                <a:latin typeface="Arial"/>
              </a:rPr>
              <a:t>Retail Outlets</a:t>
            </a:r>
          </a:p>
        </p:txBody>
      </p:sp>
      <p:sp>
        <p:nvSpPr>
          <p:cNvPr id="28" name="Oval 27"/>
          <p:cNvSpPr/>
          <p:nvPr/>
        </p:nvSpPr>
        <p:spPr>
          <a:xfrm>
            <a:off x="3840480" y="4023359"/>
            <a:ext cx="45720" cy="457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40" y="3977639"/>
            <a:ext cx="2560320" cy="411480"/>
          </a:xfrm>
          <a:prstGeom prst="rect">
            <a:avLst/>
          </a:prstGeom>
          <a:noFill/>
          <a:ln>
            <a:noFill/>
          </a:ln>
          <a:effectLst/>
        </p:spPr>
        <p:txBody>
          <a:bodyPr wrap="square">
            <a:spAutoFit/>
          </a:bodyPr>
          <a:lstStyle/>
          <a:p>
            <a:pPr algn="l"/>
            <a:r>
              <a:rPr sz="1000" b="0">
                <a:solidFill>
                  <a:srgbClr val="404040"/>
                </a:solidFill>
                <a:latin typeface="Arial"/>
              </a:rPr>
              <a:t>B2B Food Supply</a:t>
            </a:r>
          </a:p>
        </p:txBody>
      </p:sp>
      <p:sp>
        <p:nvSpPr>
          <p:cNvPr id="30" name="TextBox 29"/>
          <p:cNvSpPr txBox="1"/>
          <p:nvPr/>
        </p:nvSpPr>
        <p:spPr>
          <a:xfrm>
            <a:off x="731520" y="5669280"/>
            <a:ext cx="6400800" cy="274320"/>
          </a:xfrm>
          <a:prstGeom prst="rect">
            <a:avLst/>
          </a:prstGeom>
          <a:noFill/>
          <a:ln>
            <a:noFill/>
          </a:ln>
          <a:effectLst/>
        </p:spPr>
        <p:txBody>
          <a:bodyPr wrap="square">
            <a:spAutoFit/>
          </a:bodyPr>
          <a:lstStyle/>
          <a:p>
            <a:pPr algn="l"/>
            <a:r>
              <a:rPr sz="1400" b="1">
                <a:solidFill>
                  <a:srgbClr val="183A58"/>
                </a:solidFill>
                <a:latin typeface="Arial"/>
              </a:rPr>
              <a:t>Strategic Market Positioning</a:t>
            </a:r>
          </a:p>
        </p:txBody>
      </p:sp>
      <p:sp>
        <p:nvSpPr>
          <p:cNvPr id="31" name="TextBox 30"/>
          <p:cNvSpPr txBox="1"/>
          <p:nvPr/>
        </p:nvSpPr>
        <p:spPr>
          <a:xfrm>
            <a:off x="731520" y="6035040"/>
            <a:ext cx="10515600" cy="548640"/>
          </a:xfrm>
          <a:prstGeom prst="rect">
            <a:avLst/>
          </a:prstGeom>
          <a:noFill/>
          <a:ln>
            <a:noFill/>
          </a:ln>
          <a:effectLst/>
        </p:spPr>
        <p:txBody>
          <a:bodyPr wrap="square">
            <a:spAutoFit/>
          </a:bodyPr>
          <a:lstStyle/>
          <a:p>
            <a:pPr algn="l"/>
            <a:r>
              <a:rPr sz="1100" b="0">
                <a:solidFill>
                  <a:srgbClr val="404040"/>
                </a:solidFill>
                <a:latin typeface="Arial"/>
              </a:rPr>
              <a:t>Breadlife leads Indonesia’s modern bakery market through its unique blend of Japanese baking techniques, open kitchen transparency, affordable pricing, and a dual B2C/B2B distribution model. Its rapid expansion, innovation, and quality focus have positioned it as a trusted brand for both consumers and institutional partners.</a:t>
            </a:r>
          </a:p>
        </p:txBody>
      </p:sp>
      <p:sp>
        <p:nvSpPr>
          <p:cNvPr id="32" name="TextBox 31"/>
          <p:cNvSpPr txBox="1"/>
          <p:nvPr/>
        </p:nvSpPr>
        <p:spPr>
          <a:xfrm>
            <a:off x="731520" y="6400800"/>
            <a:ext cx="3657600" cy="182880"/>
          </a:xfrm>
          <a:prstGeom prst="rect">
            <a:avLst/>
          </a:prstGeom>
          <a:noFill/>
        </p:spPr>
        <p:txBody>
          <a:bodyPr wrap="none">
            <a:spAutoFit/>
          </a:bodyPr>
          <a:lstStyle/>
          <a:p>
            <a:pPr algn="l"/>
            <a:r>
              <a:rPr sz="900">
                <a:solidFill>
                  <a:srgbClr val="808080"/>
                </a:solidFill>
                <a:latin typeface="Arial"/>
              </a:rPr>
              <a:t>Confidential | September 06, 2025</a:t>
            </a:r>
          </a:p>
        </p:txBody>
      </p:sp>
      <p:sp>
        <p:nvSpPr>
          <p:cNvPr id="33" name="TextBox 32"/>
          <p:cNvSpPr txBox="1"/>
          <p:nvPr/>
        </p:nvSpPr>
        <p:spPr>
          <a:xfrm>
            <a:off x="8686800" y="6400800"/>
            <a:ext cx="3200400" cy="182880"/>
          </a:xfrm>
          <a:prstGeom prst="rect">
            <a:avLst/>
          </a:prstGeom>
          <a:noFill/>
        </p:spPr>
        <p:txBody>
          <a:bodyPr wrap="none">
            <a:spAutoFit/>
          </a:bodyPr>
          <a:lstStyle/>
          <a:p>
            <a:pPr algn="r"/>
            <a:r>
              <a:rPr sz="900">
                <a:solidFill>
                  <a:srgbClr val="808080"/>
                </a:solidFill>
                <a:latin typeface="Arial"/>
              </a:rPr>
              <a:t>Moelis &amp; Company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Investor Considerations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5029200" cy="457200"/>
          </a:xfrm>
          <a:prstGeom prst="rect">
            <a:avLst/>
          </a:prstGeom>
          <a:noFill/>
        </p:spPr>
        <p:txBody>
          <a:bodyPr wrap="none">
            <a:spAutoFit/>
          </a:bodyPr>
          <a:lstStyle/>
          <a:p>
            <a:pPr algn="ctr">
              <a:defRPr sz="1100" b="1">
                <a:solidFill>
                  <a:srgbClr val="183A58"/>
                </a:solidFill>
                <a:latin typeface="Arial"/>
              </a:defRPr>
            </a:pPr>
            <a:r>
              <a:t>Considerations</a:t>
            </a:r>
          </a:p>
        </p:txBody>
      </p:sp>
      <p:sp>
        <p:nvSpPr>
          <p:cNvPr id="5" name="TextBox 4"/>
          <p:cNvSpPr txBox="1"/>
          <p:nvPr/>
        </p:nvSpPr>
        <p:spPr>
          <a:xfrm>
            <a:off x="6400800" y="1280160"/>
            <a:ext cx="5029200" cy="457200"/>
          </a:xfrm>
          <a:prstGeom prst="rect">
            <a:avLst/>
          </a:prstGeom>
          <a:noFill/>
        </p:spPr>
        <p:txBody>
          <a:bodyPr wrap="none">
            <a:spAutoFit/>
          </a:bodyPr>
          <a:lstStyle/>
          <a:p>
            <a:pPr algn="ctr">
              <a:defRPr sz="1100" b="1">
                <a:solidFill>
                  <a:srgbClr val="183A58"/>
                </a:solidFill>
                <a:latin typeface="Arial"/>
              </a:defRPr>
            </a:pPr>
            <a:r>
              <a:t>Mitigants</a:t>
            </a:r>
          </a:p>
        </p:txBody>
      </p:sp>
      <p:sp>
        <p:nvSpPr>
          <p:cNvPr id="6" name="Oval 5"/>
          <p:cNvSpPr/>
          <p:nvPr/>
        </p:nvSpPr>
        <p:spPr>
          <a:xfrm>
            <a:off x="640080" y="16459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459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8" name="TextBox 7"/>
          <p:cNvSpPr txBox="1"/>
          <p:nvPr/>
        </p:nvSpPr>
        <p:spPr>
          <a:xfrm>
            <a:off x="1005840" y="1485900"/>
            <a:ext cx="4754880" cy="594360"/>
          </a:xfrm>
          <a:prstGeom prst="rect">
            <a:avLst/>
          </a:prstGeom>
          <a:noFill/>
        </p:spPr>
        <p:txBody>
          <a:bodyPr wrap="square" anchor="ctr">
            <a:spAutoFit/>
          </a:bodyPr>
          <a:lstStyle/>
          <a:p>
            <a:pPr>
              <a:defRPr sz="1100" b="0">
                <a:solidFill>
                  <a:srgbClr val="404040"/>
                </a:solidFill>
                <a:latin typeface="Arial"/>
              </a:defRPr>
            </a:pPr>
            <a:r>
              <a:t>Fluctuating raw material prices impacting production costs and margins.</a:t>
            </a:r>
          </a:p>
        </p:txBody>
      </p:sp>
      <p:sp>
        <p:nvSpPr>
          <p:cNvPr id="9" name="Oval 8"/>
          <p:cNvSpPr/>
          <p:nvPr/>
        </p:nvSpPr>
        <p:spPr>
          <a:xfrm>
            <a:off x="6126480" y="16459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6459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11" name="TextBox 10"/>
          <p:cNvSpPr txBox="1"/>
          <p:nvPr/>
        </p:nvSpPr>
        <p:spPr>
          <a:xfrm>
            <a:off x="6492240" y="1485900"/>
            <a:ext cx="5212080" cy="594360"/>
          </a:xfrm>
          <a:prstGeom prst="rect">
            <a:avLst/>
          </a:prstGeom>
          <a:noFill/>
        </p:spPr>
        <p:txBody>
          <a:bodyPr wrap="square" anchor="ctr">
            <a:spAutoFit/>
          </a:bodyPr>
          <a:lstStyle/>
          <a:p>
            <a:pPr>
              <a:defRPr sz="1100" b="0">
                <a:solidFill>
                  <a:srgbClr val="404040"/>
                </a:solidFill>
                <a:latin typeface="Arial"/>
              </a:defRPr>
            </a:pPr>
            <a:r>
              <a:t>Long-term supplier contracts and diversified sourcing.</a:t>
            </a:r>
          </a:p>
        </p:txBody>
      </p:sp>
      <p:sp>
        <p:nvSpPr>
          <p:cNvPr id="12" name="Oval 11"/>
          <p:cNvSpPr/>
          <p:nvPr/>
        </p:nvSpPr>
        <p:spPr>
          <a:xfrm>
            <a:off x="640080" y="23317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317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14" name="TextBox 13"/>
          <p:cNvSpPr txBox="1"/>
          <p:nvPr/>
        </p:nvSpPr>
        <p:spPr>
          <a:xfrm>
            <a:off x="1005840" y="2171700"/>
            <a:ext cx="4754880" cy="594360"/>
          </a:xfrm>
          <a:prstGeom prst="rect">
            <a:avLst/>
          </a:prstGeom>
          <a:noFill/>
        </p:spPr>
        <p:txBody>
          <a:bodyPr wrap="square" anchor="ctr">
            <a:spAutoFit/>
          </a:bodyPr>
          <a:lstStyle/>
          <a:p>
            <a:pPr>
              <a:defRPr sz="1100" b="0">
                <a:solidFill>
                  <a:srgbClr val="404040"/>
                </a:solidFill>
                <a:latin typeface="Arial"/>
              </a:defRPr>
            </a:pPr>
            <a:r>
              <a:t>Intense competition from domestic and international bakery brands.</a:t>
            </a:r>
          </a:p>
        </p:txBody>
      </p:sp>
      <p:sp>
        <p:nvSpPr>
          <p:cNvPr id="15" name="Oval 14"/>
          <p:cNvSpPr/>
          <p:nvPr/>
        </p:nvSpPr>
        <p:spPr>
          <a:xfrm>
            <a:off x="6126480" y="23317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0" y="23317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17" name="TextBox 16"/>
          <p:cNvSpPr txBox="1"/>
          <p:nvPr/>
        </p:nvSpPr>
        <p:spPr>
          <a:xfrm>
            <a:off x="6492240" y="2171700"/>
            <a:ext cx="5212080" cy="594360"/>
          </a:xfrm>
          <a:prstGeom prst="rect">
            <a:avLst/>
          </a:prstGeom>
          <a:noFill/>
        </p:spPr>
        <p:txBody>
          <a:bodyPr wrap="square" anchor="ctr">
            <a:spAutoFit/>
          </a:bodyPr>
          <a:lstStyle/>
          <a:p>
            <a:pPr>
              <a:defRPr sz="1100" b="0">
                <a:solidFill>
                  <a:srgbClr val="404040"/>
                </a:solidFill>
                <a:latin typeface="Arial"/>
              </a:defRPr>
            </a:pPr>
            <a:r>
              <a:t>Continuous product innovation (healthier, premium, and seasonal offerings).</a:t>
            </a:r>
          </a:p>
        </p:txBody>
      </p:sp>
      <p:sp>
        <p:nvSpPr>
          <p:cNvPr id="18" name="Oval 17"/>
          <p:cNvSpPr/>
          <p:nvPr/>
        </p:nvSpPr>
        <p:spPr>
          <a:xfrm>
            <a:off x="640080" y="30175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0175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20" name="TextBox 19"/>
          <p:cNvSpPr txBox="1"/>
          <p:nvPr/>
        </p:nvSpPr>
        <p:spPr>
          <a:xfrm>
            <a:off x="1005840" y="2857500"/>
            <a:ext cx="4754880" cy="594360"/>
          </a:xfrm>
          <a:prstGeom prst="rect">
            <a:avLst/>
          </a:prstGeom>
          <a:noFill/>
        </p:spPr>
        <p:txBody>
          <a:bodyPr wrap="square" anchor="ctr">
            <a:spAutoFit/>
          </a:bodyPr>
          <a:lstStyle/>
          <a:p>
            <a:pPr>
              <a:defRPr sz="1100" b="0">
                <a:solidFill>
                  <a:srgbClr val="404040"/>
                </a:solidFill>
                <a:latin typeface="Arial"/>
              </a:defRPr>
            </a:pPr>
            <a:r>
              <a:t>Short shelf-life of bakery products requiring daily sales velocity and efficient supply chains.</a:t>
            </a:r>
          </a:p>
        </p:txBody>
      </p:sp>
      <p:sp>
        <p:nvSpPr>
          <p:cNvPr id="21" name="Oval 20"/>
          <p:cNvSpPr/>
          <p:nvPr/>
        </p:nvSpPr>
        <p:spPr>
          <a:xfrm>
            <a:off x="6126480" y="30175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0" y="30175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23" name="TextBox 22"/>
          <p:cNvSpPr txBox="1"/>
          <p:nvPr/>
        </p:nvSpPr>
        <p:spPr>
          <a:xfrm>
            <a:off x="6492240" y="2857500"/>
            <a:ext cx="5212080" cy="594360"/>
          </a:xfrm>
          <a:prstGeom prst="rect">
            <a:avLst/>
          </a:prstGeom>
          <a:noFill/>
        </p:spPr>
        <p:txBody>
          <a:bodyPr wrap="square" anchor="ctr">
            <a:spAutoFit/>
          </a:bodyPr>
          <a:lstStyle/>
          <a:p>
            <a:pPr>
              <a:defRPr sz="1100" b="0">
                <a:solidFill>
                  <a:srgbClr val="404040"/>
                </a:solidFill>
                <a:latin typeface="Arial"/>
              </a:defRPr>
            </a:pPr>
            <a:r>
              <a:t>Investment in supply chain technology and inventory optimization.</a:t>
            </a:r>
          </a:p>
        </p:txBody>
      </p:sp>
      <p:sp>
        <p:nvSpPr>
          <p:cNvPr id="24" name="Oval 23"/>
          <p:cNvSpPr/>
          <p:nvPr/>
        </p:nvSpPr>
        <p:spPr>
          <a:xfrm>
            <a:off x="640080" y="37033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7033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26" name="TextBox 25"/>
          <p:cNvSpPr txBox="1"/>
          <p:nvPr/>
        </p:nvSpPr>
        <p:spPr>
          <a:xfrm>
            <a:off x="1005840" y="3543300"/>
            <a:ext cx="4754880" cy="594360"/>
          </a:xfrm>
          <a:prstGeom prst="rect">
            <a:avLst/>
          </a:prstGeom>
          <a:noFill/>
        </p:spPr>
        <p:txBody>
          <a:bodyPr wrap="square" anchor="ctr">
            <a:spAutoFit/>
          </a:bodyPr>
          <a:lstStyle/>
          <a:p>
            <a:pPr>
              <a:defRPr sz="1100" b="0">
                <a:solidFill>
                  <a:srgbClr val="404040"/>
                </a:solidFill>
                <a:latin typeface="Arial"/>
              </a:defRPr>
            </a:pPr>
            <a:r>
              <a:t>Supply chain and logistics disruptions affecting product freshness and delivery.</a:t>
            </a:r>
          </a:p>
        </p:txBody>
      </p:sp>
      <p:sp>
        <p:nvSpPr>
          <p:cNvPr id="27" name="Oval 26"/>
          <p:cNvSpPr/>
          <p:nvPr/>
        </p:nvSpPr>
        <p:spPr>
          <a:xfrm>
            <a:off x="6126480" y="37033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37033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29" name="TextBox 28"/>
          <p:cNvSpPr txBox="1"/>
          <p:nvPr/>
        </p:nvSpPr>
        <p:spPr>
          <a:xfrm>
            <a:off x="6492240" y="3543300"/>
            <a:ext cx="5212080" cy="594360"/>
          </a:xfrm>
          <a:prstGeom prst="rect">
            <a:avLst/>
          </a:prstGeom>
          <a:noFill/>
        </p:spPr>
        <p:txBody>
          <a:bodyPr wrap="square" anchor="ctr">
            <a:spAutoFit/>
          </a:bodyPr>
          <a:lstStyle/>
          <a:p>
            <a:pPr>
              <a:defRPr sz="1100" b="0">
                <a:solidFill>
                  <a:srgbClr val="404040"/>
                </a:solidFill>
                <a:latin typeface="Arial"/>
              </a:defRPr>
            </a:pPr>
            <a:r>
              <a:t>Lean manufacturing and process discipline.</a:t>
            </a:r>
          </a:p>
        </p:txBody>
      </p:sp>
      <p:sp>
        <p:nvSpPr>
          <p:cNvPr id="30" name="Oval 29"/>
          <p:cNvSpPr/>
          <p:nvPr/>
        </p:nvSpPr>
        <p:spPr>
          <a:xfrm>
            <a:off x="640080" y="43891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3891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32" name="TextBox 31"/>
          <p:cNvSpPr txBox="1"/>
          <p:nvPr/>
        </p:nvSpPr>
        <p:spPr>
          <a:xfrm>
            <a:off x="1005840" y="4229100"/>
            <a:ext cx="4754880" cy="594360"/>
          </a:xfrm>
          <a:prstGeom prst="rect">
            <a:avLst/>
          </a:prstGeom>
          <a:noFill/>
        </p:spPr>
        <p:txBody>
          <a:bodyPr wrap="square" anchor="ctr">
            <a:spAutoFit/>
          </a:bodyPr>
          <a:lstStyle/>
          <a:p>
            <a:pPr>
              <a:defRPr sz="1100" b="0">
                <a:solidFill>
                  <a:srgbClr val="404040"/>
                </a:solidFill>
                <a:latin typeface="Arial"/>
              </a:defRPr>
            </a:pPr>
            <a:r>
              <a:t>Changing consumer preferences toward health and sustainability.</a:t>
            </a:r>
          </a:p>
        </p:txBody>
      </p:sp>
      <p:sp>
        <p:nvSpPr>
          <p:cNvPr id="33" name="Oval 32"/>
          <p:cNvSpPr/>
          <p:nvPr/>
        </p:nvSpPr>
        <p:spPr>
          <a:xfrm>
            <a:off x="6126480" y="43891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43891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35" name="TextBox 34"/>
          <p:cNvSpPr txBox="1"/>
          <p:nvPr/>
        </p:nvSpPr>
        <p:spPr>
          <a:xfrm>
            <a:off x="6492240" y="4229100"/>
            <a:ext cx="5212080" cy="594360"/>
          </a:xfrm>
          <a:prstGeom prst="rect">
            <a:avLst/>
          </a:prstGeom>
          <a:noFill/>
        </p:spPr>
        <p:txBody>
          <a:bodyPr wrap="square" anchor="ctr">
            <a:spAutoFit/>
          </a:bodyPr>
          <a:lstStyle/>
          <a:p>
            <a:pPr>
              <a:defRPr sz="1100" b="0">
                <a:solidFill>
                  <a:srgbClr val="404040"/>
                </a:solidFill>
                <a:latin typeface="Arial"/>
              </a:defRPr>
            </a:pPr>
            <a:r>
              <a:t>Multi-channel distribution (B2C and B2B) for revenue stability.</a:t>
            </a:r>
          </a:p>
        </p:txBody>
      </p:sp>
      <p:sp>
        <p:nvSpPr>
          <p:cNvPr id="36" name="Oval 35"/>
          <p:cNvSpPr/>
          <p:nvPr/>
        </p:nvSpPr>
        <p:spPr>
          <a:xfrm>
            <a:off x="640080" y="50749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50749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38" name="TextBox 37"/>
          <p:cNvSpPr txBox="1"/>
          <p:nvPr/>
        </p:nvSpPr>
        <p:spPr>
          <a:xfrm>
            <a:off x="1005840" y="4914900"/>
            <a:ext cx="4754880" cy="594360"/>
          </a:xfrm>
          <a:prstGeom prst="rect">
            <a:avLst/>
          </a:prstGeom>
          <a:noFill/>
        </p:spPr>
        <p:txBody>
          <a:bodyPr wrap="square" anchor="ctr">
            <a:spAutoFit/>
          </a:bodyPr>
          <a:lstStyle/>
          <a:p>
            <a:pPr>
              <a:defRPr sz="1100" b="0">
                <a:solidFill>
                  <a:srgbClr val="404040"/>
                </a:solidFill>
                <a:latin typeface="Arial"/>
              </a:defRPr>
            </a:pPr>
            <a:r>
              <a:t>Complex regulatory compliance on food safety and labeling.</a:t>
            </a:r>
          </a:p>
        </p:txBody>
      </p:sp>
      <p:sp>
        <p:nvSpPr>
          <p:cNvPr id="39" name="Oval 38"/>
          <p:cNvSpPr/>
          <p:nvPr/>
        </p:nvSpPr>
        <p:spPr>
          <a:xfrm>
            <a:off x="6126480" y="50749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26480" y="50749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41" name="TextBox 40"/>
          <p:cNvSpPr txBox="1"/>
          <p:nvPr/>
        </p:nvSpPr>
        <p:spPr>
          <a:xfrm>
            <a:off x="6492240" y="4914900"/>
            <a:ext cx="5212080" cy="594360"/>
          </a:xfrm>
          <a:prstGeom prst="rect">
            <a:avLst/>
          </a:prstGeom>
          <a:noFill/>
        </p:spPr>
        <p:txBody>
          <a:bodyPr wrap="square" anchor="ctr">
            <a:spAutoFit/>
          </a:bodyPr>
          <a:lstStyle/>
          <a:p>
            <a:pPr>
              <a:defRPr sz="1100" b="0">
                <a:solidFill>
                  <a:srgbClr val="404040"/>
                </a:solidFill>
                <a:latin typeface="Arial"/>
              </a:defRPr>
            </a:pPr>
            <a:r>
              <a:t>Regular staff training and compliance programs.</a:t>
            </a:r>
          </a:p>
        </p:txBody>
      </p:sp>
      <p:sp>
        <p:nvSpPr>
          <p:cNvPr id="42" name="Oval 41"/>
          <p:cNvSpPr/>
          <p:nvPr/>
        </p:nvSpPr>
        <p:spPr>
          <a:xfrm>
            <a:off x="640080" y="57607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57607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44" name="TextBox 43"/>
          <p:cNvSpPr txBox="1"/>
          <p:nvPr/>
        </p:nvSpPr>
        <p:spPr>
          <a:xfrm>
            <a:off x="1005840" y="5600700"/>
            <a:ext cx="4754880" cy="594360"/>
          </a:xfrm>
          <a:prstGeom prst="rect">
            <a:avLst/>
          </a:prstGeom>
          <a:noFill/>
        </p:spPr>
        <p:txBody>
          <a:bodyPr wrap="square" anchor="ctr">
            <a:spAutoFit/>
          </a:bodyPr>
          <a:lstStyle/>
          <a:p>
            <a:pPr>
              <a:defRPr sz="1100" b="0">
                <a:solidFill>
                  <a:srgbClr val="404040"/>
                </a:solidFill>
                <a:latin typeface="Arial"/>
              </a:defRPr>
            </a:pPr>
            <a:r>
              <a:t>Operational complexity from rapid outlet expansion.</a:t>
            </a:r>
          </a:p>
        </p:txBody>
      </p:sp>
      <p:sp>
        <p:nvSpPr>
          <p:cNvPr id="45" name="Oval 44"/>
          <p:cNvSpPr/>
          <p:nvPr/>
        </p:nvSpPr>
        <p:spPr>
          <a:xfrm>
            <a:off x="6126480" y="57607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0" y="57607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47" name="TextBox 46"/>
          <p:cNvSpPr txBox="1"/>
          <p:nvPr/>
        </p:nvSpPr>
        <p:spPr>
          <a:xfrm>
            <a:off x="6492240" y="5600700"/>
            <a:ext cx="5212080" cy="594360"/>
          </a:xfrm>
          <a:prstGeom prst="rect">
            <a:avLst/>
          </a:prstGeom>
          <a:noFill/>
        </p:spPr>
        <p:txBody>
          <a:bodyPr wrap="square" anchor="ctr">
            <a:spAutoFit/>
          </a:bodyPr>
          <a:lstStyle/>
          <a:p>
            <a:pPr>
              <a:defRPr sz="1100" b="0">
                <a:solidFill>
                  <a:srgbClr val="404040"/>
                </a:solidFill>
                <a:latin typeface="Arial"/>
              </a:defRPr>
            </a:pPr>
            <a:r>
              <a:t>Digital platforms to boost demand and reach new customer segments.</a:t>
            </a:r>
          </a:p>
        </p:txBody>
      </p:sp>
      <p:sp>
        <p:nvSpPr>
          <p:cNvPr id="48" name="Oval 47"/>
          <p:cNvSpPr/>
          <p:nvPr/>
        </p:nvSpPr>
        <p:spPr>
          <a:xfrm>
            <a:off x="640080" y="64465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 y="64465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50" name="TextBox 49"/>
          <p:cNvSpPr txBox="1"/>
          <p:nvPr/>
        </p:nvSpPr>
        <p:spPr>
          <a:xfrm>
            <a:off x="1005840" y="6286500"/>
            <a:ext cx="4754880" cy="594360"/>
          </a:xfrm>
          <a:prstGeom prst="rect">
            <a:avLst/>
          </a:prstGeom>
          <a:noFill/>
        </p:spPr>
        <p:txBody>
          <a:bodyPr wrap="square" anchor="ctr">
            <a:spAutoFit/>
          </a:bodyPr>
          <a:lstStyle/>
          <a:p>
            <a:pPr>
              <a:defRPr sz="1100" b="0">
                <a:solidFill>
                  <a:srgbClr val="404040"/>
                </a:solidFill>
                <a:latin typeface="Arial"/>
              </a:defRPr>
            </a:pPr>
            <a:r>
              <a:t>Potential economic downturns affecting discretionary consumer spending.</a:t>
            </a:r>
          </a:p>
        </p:txBody>
      </p:sp>
      <p:sp>
        <p:nvSpPr>
          <p:cNvPr id="51" name="Oval 50"/>
          <p:cNvSpPr/>
          <p:nvPr/>
        </p:nvSpPr>
        <p:spPr>
          <a:xfrm>
            <a:off x="6126480" y="64465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26480" y="64465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53" name="TextBox 52"/>
          <p:cNvSpPr txBox="1"/>
          <p:nvPr/>
        </p:nvSpPr>
        <p:spPr>
          <a:xfrm>
            <a:off x="6492240" y="6286500"/>
            <a:ext cx="5212080" cy="594360"/>
          </a:xfrm>
          <a:prstGeom prst="rect">
            <a:avLst/>
          </a:prstGeom>
          <a:noFill/>
        </p:spPr>
        <p:txBody>
          <a:bodyPr wrap="square" anchor="ctr">
            <a:spAutoFit/>
          </a:bodyPr>
          <a:lstStyle/>
          <a:p>
            <a:pPr>
              <a:defRPr sz="1100" b="0">
                <a:solidFill>
                  <a:srgbClr val="404040"/>
                </a:solidFill>
                <a:latin typeface="Arial"/>
              </a:defRPr>
            </a:pPr>
            <a:r>
              <a:t>Geographic diversification and selective regional expansion.</a:t>
            </a:r>
          </a:p>
        </p:txBody>
      </p:sp>
      <p:sp>
        <p:nvSpPr>
          <p:cNvPr id="54" name="TextBox 53"/>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55" name="TextBox 54"/>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Product &amp; Service Footprint</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 y="128016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280160"/>
            <a:ext cx="5029200" cy="228600"/>
          </a:xfrm>
          <a:prstGeom prst="rect">
            <a:avLst/>
          </a:prstGeom>
          <a:noFill/>
          <a:ln>
            <a:noFill/>
          </a:ln>
          <a:effectLst/>
        </p:spPr>
        <p:txBody>
          <a:bodyPr wrap="square">
            <a:spAutoFit/>
          </a:bodyPr>
          <a:lstStyle/>
          <a:p>
            <a:pPr algn="l"/>
            <a:r>
              <a:rPr sz="1200" b="1">
                <a:solidFill>
                  <a:srgbClr val="183A58"/>
                </a:solidFill>
                <a:latin typeface="Arial"/>
              </a:rPr>
              <a:t>Japanese-style Breads</a:t>
            </a:r>
          </a:p>
        </p:txBody>
      </p:sp>
      <p:sp>
        <p:nvSpPr>
          <p:cNvPr id="6" name="TextBox 5"/>
          <p:cNvSpPr txBox="1"/>
          <p:nvPr/>
        </p:nvSpPr>
        <p:spPr>
          <a:xfrm>
            <a:off x="1097280" y="1508760"/>
            <a:ext cx="5029200" cy="502920"/>
          </a:xfrm>
          <a:prstGeom prst="rect">
            <a:avLst/>
          </a:prstGeom>
          <a:noFill/>
          <a:ln>
            <a:noFill/>
          </a:ln>
          <a:effectLst/>
        </p:spPr>
        <p:txBody>
          <a:bodyPr wrap="square">
            <a:spAutoFit/>
          </a:bodyPr>
          <a:lstStyle/>
          <a:p>
            <a:pPr algn="l"/>
            <a:r>
              <a:rPr sz="1000" b="0">
                <a:solidFill>
                  <a:srgbClr val="404040"/>
                </a:solidFill>
                <a:latin typeface="Arial"/>
              </a:rPr>
              <a:t>Soft, sweet, preservative-free breads made daily with premium ingredients.</a:t>
            </a:r>
          </a:p>
        </p:txBody>
      </p:sp>
      <p:sp>
        <p:nvSpPr>
          <p:cNvPr id="7" name="Oval 6"/>
          <p:cNvSpPr/>
          <p:nvPr/>
        </p:nvSpPr>
        <p:spPr>
          <a:xfrm>
            <a:off x="731520" y="205740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057400"/>
            <a:ext cx="5029200" cy="228600"/>
          </a:xfrm>
          <a:prstGeom prst="rect">
            <a:avLst/>
          </a:prstGeom>
          <a:noFill/>
          <a:ln>
            <a:noFill/>
          </a:ln>
          <a:effectLst/>
        </p:spPr>
        <p:txBody>
          <a:bodyPr wrap="square">
            <a:spAutoFit/>
          </a:bodyPr>
          <a:lstStyle/>
          <a:p>
            <a:pPr algn="l"/>
            <a:r>
              <a:rPr sz="1200" b="1">
                <a:solidFill>
                  <a:srgbClr val="183A58"/>
                </a:solidFill>
                <a:latin typeface="Arial"/>
              </a:rPr>
              <a:t>Cakes &amp; Pastries</a:t>
            </a:r>
          </a:p>
        </p:txBody>
      </p:sp>
      <p:sp>
        <p:nvSpPr>
          <p:cNvPr id="9" name="TextBox 8"/>
          <p:cNvSpPr txBox="1"/>
          <p:nvPr/>
        </p:nvSpPr>
        <p:spPr>
          <a:xfrm>
            <a:off x="1097280" y="2286000"/>
            <a:ext cx="5029200" cy="502920"/>
          </a:xfrm>
          <a:prstGeom prst="rect">
            <a:avLst/>
          </a:prstGeom>
          <a:noFill/>
          <a:ln>
            <a:noFill/>
          </a:ln>
          <a:effectLst/>
        </p:spPr>
        <p:txBody>
          <a:bodyPr wrap="square">
            <a:spAutoFit/>
          </a:bodyPr>
          <a:lstStyle/>
          <a:p>
            <a:pPr algn="l"/>
            <a:r>
              <a:rPr sz="1000" b="0">
                <a:solidFill>
                  <a:srgbClr val="404040"/>
                </a:solidFill>
                <a:latin typeface="Arial"/>
              </a:rPr>
              <a:t>Handcrafted cakes and pastries with local and Japanese flavors.</a:t>
            </a:r>
          </a:p>
        </p:txBody>
      </p:sp>
      <p:sp>
        <p:nvSpPr>
          <p:cNvPr id="10" name="Oval 9"/>
          <p:cNvSpPr/>
          <p:nvPr/>
        </p:nvSpPr>
        <p:spPr>
          <a:xfrm>
            <a:off x="731520" y="283464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34640"/>
            <a:ext cx="5029200" cy="228600"/>
          </a:xfrm>
          <a:prstGeom prst="rect">
            <a:avLst/>
          </a:prstGeom>
          <a:noFill/>
          <a:ln>
            <a:noFill/>
          </a:ln>
          <a:effectLst/>
        </p:spPr>
        <p:txBody>
          <a:bodyPr wrap="square">
            <a:spAutoFit/>
          </a:bodyPr>
          <a:lstStyle/>
          <a:p>
            <a:pPr algn="l"/>
            <a:r>
              <a:rPr sz="1200" b="1">
                <a:solidFill>
                  <a:srgbClr val="183A58"/>
                </a:solidFill>
                <a:latin typeface="Arial"/>
              </a:rPr>
              <a:t>Retail Outlets</a:t>
            </a:r>
          </a:p>
        </p:txBody>
      </p:sp>
      <p:sp>
        <p:nvSpPr>
          <p:cNvPr id="12" name="TextBox 11"/>
          <p:cNvSpPr txBox="1"/>
          <p:nvPr/>
        </p:nvSpPr>
        <p:spPr>
          <a:xfrm>
            <a:off x="1097280" y="3063240"/>
            <a:ext cx="5029200" cy="502920"/>
          </a:xfrm>
          <a:prstGeom prst="rect">
            <a:avLst/>
          </a:prstGeom>
          <a:noFill/>
          <a:ln>
            <a:noFill/>
          </a:ln>
          <a:effectLst/>
        </p:spPr>
        <p:txBody>
          <a:bodyPr wrap="square">
            <a:spAutoFit/>
          </a:bodyPr>
          <a:lstStyle/>
          <a:p>
            <a:pPr algn="l"/>
            <a:r>
              <a:rPr sz="1000" b="0">
                <a:solidFill>
                  <a:srgbClr val="404040"/>
                </a:solidFill>
                <a:latin typeface="Arial"/>
              </a:rPr>
              <a:t>120+ bakery outlets in high-traffic locations including MRT stations, malls, and bus terminals.</a:t>
            </a:r>
          </a:p>
        </p:txBody>
      </p:sp>
      <p:sp>
        <p:nvSpPr>
          <p:cNvPr id="13" name="Oval 12"/>
          <p:cNvSpPr/>
          <p:nvPr/>
        </p:nvSpPr>
        <p:spPr>
          <a:xfrm>
            <a:off x="731520" y="361188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11880"/>
            <a:ext cx="5029200" cy="228600"/>
          </a:xfrm>
          <a:prstGeom prst="rect">
            <a:avLst/>
          </a:prstGeom>
          <a:noFill/>
          <a:ln>
            <a:noFill/>
          </a:ln>
          <a:effectLst/>
        </p:spPr>
        <p:txBody>
          <a:bodyPr wrap="square">
            <a:spAutoFit/>
          </a:bodyPr>
          <a:lstStyle/>
          <a:p>
            <a:pPr algn="l"/>
            <a:r>
              <a:rPr sz="1200" b="1">
                <a:solidFill>
                  <a:srgbClr val="183A58"/>
                </a:solidFill>
                <a:latin typeface="Arial"/>
              </a:rPr>
              <a:t>B2B Food Supply</a:t>
            </a:r>
          </a:p>
        </p:txBody>
      </p:sp>
      <p:sp>
        <p:nvSpPr>
          <p:cNvPr id="15" name="TextBox 14"/>
          <p:cNvSpPr txBox="1"/>
          <p:nvPr/>
        </p:nvSpPr>
        <p:spPr>
          <a:xfrm>
            <a:off x="1097280" y="3840480"/>
            <a:ext cx="5029200" cy="502920"/>
          </a:xfrm>
          <a:prstGeom prst="rect">
            <a:avLst/>
          </a:prstGeom>
          <a:noFill/>
          <a:ln>
            <a:noFill/>
          </a:ln>
          <a:effectLst/>
        </p:spPr>
        <p:txBody>
          <a:bodyPr wrap="square">
            <a:spAutoFit/>
          </a:bodyPr>
          <a:lstStyle/>
          <a:p>
            <a:pPr algn="l"/>
            <a:r>
              <a:rPr sz="1000" b="0">
                <a:solidFill>
                  <a:srgbClr val="404040"/>
                </a:solidFill>
                <a:latin typeface="Arial"/>
              </a:rPr>
              <a:t>Supplying breads and baked goods to corporate, institutional, and event clients.</a:t>
            </a:r>
          </a:p>
        </p:txBody>
      </p:sp>
      <p:sp>
        <p:nvSpPr>
          <p:cNvPr id="16" name="TextBox 15"/>
          <p:cNvSpPr txBox="1"/>
          <p:nvPr/>
        </p:nvSpPr>
        <p:spPr>
          <a:xfrm>
            <a:off x="6583680" y="1280160"/>
            <a:ext cx="5029200" cy="274320"/>
          </a:xfrm>
          <a:prstGeom prst="rect">
            <a:avLst/>
          </a:prstGeom>
          <a:noFill/>
          <a:ln>
            <a:noFill/>
          </a:ln>
          <a:effectLst/>
        </p:spPr>
        <p:txBody>
          <a:bodyPr wrap="square">
            <a:spAutoFit/>
          </a:bodyPr>
          <a:lstStyle/>
          <a:p>
            <a:pPr algn="ctr"/>
            <a:r>
              <a:rPr sz="1400" b="1">
                <a:solidFill>
                  <a:srgbClr val="183A58"/>
                </a:solidFill>
                <a:latin typeface="Arial"/>
              </a:rPr>
              <a:t>Product &amp; Service Market Coverage</a:t>
            </a:r>
          </a:p>
        </p:txBody>
      </p:sp>
      <p:graphicFrame>
        <p:nvGraphicFramePr>
          <p:cNvPr id="17" name="Table 16"/>
          <p:cNvGraphicFramePr>
            <a:graphicFrameLocks noGrp="1"/>
          </p:cNvGraphicFramePr>
          <p:nvPr/>
        </p:nvGraphicFramePr>
        <p:xfrm>
          <a:off x="6583680" y="1645920"/>
          <a:ext cx="2560320" cy="2560320"/>
        </p:xfrm>
        <a:graphic>
          <a:graphicData uri="http://schemas.openxmlformats.org/drawingml/2006/table">
            <a:tbl>
              <a:tblPr firstRow="1" bandRow="1">
                <a:tableStyleId>{5C22544A-7EE6-4342-B048-85BDC9FD1C3A}</a:tableStyleId>
              </a:tblPr>
              <a:tblGrid>
                <a:gridCol w="1097280"/>
                <a:gridCol w="731520"/>
                <a:gridCol w="731520"/>
              </a:tblGrid>
              <a:tr h="320040">
                <a:tc>
                  <a:txBody>
                    <a:bodyPr/>
                    <a:lstStyle/>
                    <a:p>
                      <a:pPr algn="ctr"/>
                      <a:r>
                        <a:rPr sz="900" b="1">
                          <a:solidFill>
                            <a:srgbClr val="FFFFFF"/>
                          </a:solidFill>
                          <a:latin typeface="Arial"/>
                        </a:rPr>
                        <a:t>city</a:t>
                      </a:r>
                    </a:p>
                  </a:txBody>
                  <a:tcPr marL="45720" marR="45720" marT="45720" marB="45720">
                    <a:solidFill>
                      <a:srgbClr val="183A58"/>
                    </a:solidFill>
                  </a:tcPr>
                </a:tc>
                <a:tc>
                  <a:txBody>
                    <a:bodyPr/>
                    <a:lstStyle/>
                    <a:p>
                      <a:pPr algn="ctr"/>
                      <a:r>
                        <a:rPr sz="900" b="1">
                          <a:solidFill>
                            <a:srgbClr val="FFFFFF"/>
                          </a:solidFill>
                          <a:latin typeface="Arial"/>
                        </a:rPr>
                        <a:t>outlet_types</a:t>
                      </a:r>
                    </a:p>
                  </a:txBody>
                  <a:tcPr marL="45720" marR="45720" marT="45720" marB="45720">
                    <a:solidFill>
                      <a:srgbClr val="183A58"/>
                    </a:solidFill>
                  </a:tcPr>
                </a:tc>
                <a:tc>
                  <a:txBody>
                    <a:bodyPr/>
                    <a:lstStyle/>
                    <a:p>
                      <a:pPr algn="ctr"/>
                      <a:r>
                        <a:rPr sz="900" b="1">
                          <a:solidFill>
                            <a:srgbClr val="FFFFFF"/>
                          </a:solidFill>
                          <a:latin typeface="Arial"/>
                        </a:rPr>
                        <a:t>key_locations</a:t>
                      </a:r>
                    </a:p>
                  </a:txBody>
                  <a:tcPr marL="45720" marR="45720" marT="45720" marB="45720">
                    <a:solidFill>
                      <a:srgbClr val="183A58"/>
                    </a:solidFill>
                  </a:tcPr>
                </a:tc>
              </a:tr>
              <a:tr h="320040">
                <a:tc>
                  <a:txBody>
                    <a:bodyPr/>
                    <a:lstStyle/>
                    <a:p>
                      <a:pPr algn="ctr"/>
                      <a:r>
                        <a:rPr sz="900">
                          <a:solidFill>
                            <a:srgbClr val="404040"/>
                          </a:solidFill>
                          <a:latin typeface="Arial"/>
                        </a:rPr>
                        <a:t>city</a:t>
                      </a:r>
                    </a:p>
                  </a:txBody>
                  <a:tcPr marL="45720" marR="45720" marT="45720" marB="45720">
                    <a:solidFill>
                      <a:srgbClr val="FFFFFF"/>
                    </a:solidFill>
                  </a:tcPr>
                </a:tc>
                <a:tc>
                  <a:txBody>
                    <a:bodyPr/>
                    <a:lstStyle/>
                    <a:p>
                      <a:pPr algn="ctr"/>
                      <a:r>
                        <a:rPr sz="900">
                          <a:solidFill>
                            <a:srgbClr val="404040"/>
                          </a:solidFill>
                          <a:latin typeface="Arial"/>
                        </a:rPr>
                        <a:t>outlet_types</a:t>
                      </a:r>
                    </a:p>
                  </a:txBody>
                  <a:tcPr marL="45720" marR="45720" marT="45720" marB="45720">
                    <a:solidFill>
                      <a:srgbClr val="FFFFFF"/>
                    </a:solidFill>
                  </a:tcPr>
                </a:tc>
                <a:tc>
                  <a:txBody>
                    <a:bodyPr/>
                    <a:lstStyle/>
                    <a:p>
                      <a:pPr algn="ctr"/>
                      <a:r>
                        <a:rPr sz="900">
                          <a:solidFill>
                            <a:srgbClr val="404040"/>
                          </a:solidFill>
                          <a:latin typeface="Arial"/>
                        </a:rPr>
                        <a:t>key_locations</a:t>
                      </a:r>
                    </a:p>
                  </a:txBody>
                  <a:tcPr marL="45720" marR="45720" marT="45720" marB="45720">
                    <a:solidFill>
                      <a:srgbClr val="FFFFFF"/>
                    </a:solidFill>
                  </a:tcPr>
                </a:tc>
              </a:tr>
              <a:tr h="320040">
                <a:tc>
                  <a:txBody>
                    <a:bodyPr/>
                    <a:lstStyle/>
                    <a:p>
                      <a:pPr algn="ctr"/>
                      <a:r>
                        <a:rPr sz="900">
                          <a:solidFill>
                            <a:srgbClr val="404040"/>
                          </a:solidFill>
                          <a:latin typeface="Arial"/>
                        </a:rPr>
                        <a:t>city</a:t>
                      </a:r>
                    </a:p>
                  </a:txBody>
                  <a:tcPr marL="45720" marR="45720" marT="45720" marB="45720">
                    <a:solidFill>
                      <a:srgbClr val="F0F0F0"/>
                    </a:solidFill>
                  </a:tcPr>
                </a:tc>
                <a:tc>
                  <a:txBody>
                    <a:bodyPr/>
                    <a:lstStyle/>
                    <a:p>
                      <a:pPr algn="ctr"/>
                      <a:r>
                        <a:rPr sz="900">
                          <a:solidFill>
                            <a:srgbClr val="404040"/>
                          </a:solidFill>
                          <a:latin typeface="Arial"/>
                        </a:rPr>
                        <a:t>outlet_types</a:t>
                      </a:r>
                    </a:p>
                  </a:txBody>
                  <a:tcPr marL="45720" marR="45720" marT="45720" marB="45720">
                    <a:solidFill>
                      <a:srgbClr val="F0F0F0"/>
                    </a:solidFill>
                  </a:tcPr>
                </a:tc>
                <a:tc>
                  <a:txBody>
                    <a:bodyPr/>
                    <a:lstStyle/>
                    <a:p>
                      <a:pPr algn="ctr"/>
                      <a:r>
                        <a:rPr sz="900">
                          <a:solidFill>
                            <a:srgbClr val="404040"/>
                          </a:solidFill>
                          <a:latin typeface="Arial"/>
                        </a:rPr>
                        <a:t>key_locations</a:t>
                      </a:r>
                    </a:p>
                  </a:txBody>
                  <a:tcPr marL="45720" marR="45720" marT="45720" marB="45720">
                    <a:solidFill>
                      <a:srgbClr val="F0F0F0"/>
                    </a:solidFill>
                  </a:tcPr>
                </a:tc>
              </a:tr>
              <a:tr h="320040">
                <a:tc>
                  <a:txBody>
                    <a:bodyPr/>
                    <a:lstStyle/>
                    <a:p>
                      <a:pPr algn="ctr"/>
                      <a:r>
                        <a:rPr sz="900">
                          <a:solidFill>
                            <a:srgbClr val="404040"/>
                          </a:solidFill>
                          <a:latin typeface="Arial"/>
                        </a:rPr>
                        <a:t>city</a:t>
                      </a:r>
                    </a:p>
                  </a:txBody>
                  <a:tcPr marL="45720" marR="45720" marT="45720" marB="45720">
                    <a:solidFill>
                      <a:srgbClr val="FFFFFF"/>
                    </a:solidFill>
                  </a:tcPr>
                </a:tc>
                <a:tc>
                  <a:txBody>
                    <a:bodyPr/>
                    <a:lstStyle/>
                    <a:p>
                      <a:pPr algn="ctr"/>
                      <a:r>
                        <a:rPr sz="900">
                          <a:solidFill>
                            <a:srgbClr val="404040"/>
                          </a:solidFill>
                          <a:latin typeface="Arial"/>
                        </a:rPr>
                        <a:t>outlet_types</a:t>
                      </a:r>
                    </a:p>
                  </a:txBody>
                  <a:tcPr marL="45720" marR="45720" marT="45720" marB="45720">
                    <a:solidFill>
                      <a:srgbClr val="FFFFFF"/>
                    </a:solidFill>
                  </a:tcPr>
                </a:tc>
                <a:tc>
                  <a:txBody>
                    <a:bodyPr/>
                    <a:lstStyle/>
                    <a:p>
                      <a:pPr algn="ctr"/>
                      <a:r>
                        <a:rPr sz="900">
                          <a:solidFill>
                            <a:srgbClr val="404040"/>
                          </a:solidFill>
                          <a:latin typeface="Arial"/>
                        </a:rPr>
                        <a:t>key_locations</a:t>
                      </a:r>
                    </a:p>
                  </a:txBody>
                  <a:tcPr marL="45720" marR="45720" marT="45720" marB="45720">
                    <a:solidFill>
                      <a:srgbClr val="FFFFFF"/>
                    </a:solidFill>
                  </a:tcPr>
                </a:tc>
              </a:tr>
              <a:tr h="320040">
                <a:tc>
                  <a:txBody>
                    <a:bodyPr/>
                    <a:lstStyle/>
                    <a:p>
                      <a:pPr algn="ctr"/>
                      <a:r>
                        <a:rPr sz="900">
                          <a:solidFill>
                            <a:srgbClr val="404040"/>
                          </a:solidFill>
                          <a:latin typeface="Arial"/>
                        </a:rPr>
                        <a:t>city</a:t>
                      </a:r>
                    </a:p>
                  </a:txBody>
                  <a:tcPr marL="45720" marR="45720" marT="45720" marB="45720">
                    <a:solidFill>
                      <a:srgbClr val="F0F0F0"/>
                    </a:solidFill>
                  </a:tcPr>
                </a:tc>
                <a:tc>
                  <a:txBody>
                    <a:bodyPr/>
                    <a:lstStyle/>
                    <a:p>
                      <a:pPr algn="ctr"/>
                      <a:r>
                        <a:rPr sz="900">
                          <a:solidFill>
                            <a:srgbClr val="404040"/>
                          </a:solidFill>
                          <a:latin typeface="Arial"/>
                        </a:rPr>
                        <a:t>outlet_types</a:t>
                      </a:r>
                    </a:p>
                  </a:txBody>
                  <a:tcPr marL="45720" marR="45720" marT="45720" marB="45720">
                    <a:solidFill>
                      <a:srgbClr val="F0F0F0"/>
                    </a:solidFill>
                  </a:tcPr>
                </a:tc>
                <a:tc>
                  <a:txBody>
                    <a:bodyPr/>
                    <a:lstStyle/>
                    <a:p>
                      <a:pPr algn="ctr"/>
                      <a:r>
                        <a:rPr sz="900">
                          <a:solidFill>
                            <a:srgbClr val="404040"/>
                          </a:solidFill>
                          <a:latin typeface="Arial"/>
                        </a:rPr>
                        <a:t>key_locations</a:t>
                      </a:r>
                    </a:p>
                  </a:txBody>
                  <a:tcPr marL="45720" marR="45720" marT="45720" marB="45720">
                    <a:solidFill>
                      <a:srgbClr val="F0F0F0"/>
                    </a:solidFill>
                  </a:tcPr>
                </a:tc>
              </a:tr>
              <a:tr h="320040">
                <a:tc>
                  <a:txBody>
                    <a:bodyPr/>
                    <a:lstStyle/>
                    <a:p>
                      <a:pPr algn="ctr"/>
                      <a:r>
                        <a:rPr sz="900">
                          <a:solidFill>
                            <a:srgbClr val="404040"/>
                          </a:solidFill>
                          <a:latin typeface="Arial"/>
                        </a:rPr>
                        <a:t>city</a:t>
                      </a:r>
                    </a:p>
                  </a:txBody>
                  <a:tcPr marL="45720" marR="45720" marT="45720" marB="45720">
                    <a:solidFill>
                      <a:srgbClr val="FFFFFF"/>
                    </a:solidFill>
                  </a:tcPr>
                </a:tc>
                <a:tc>
                  <a:txBody>
                    <a:bodyPr/>
                    <a:lstStyle/>
                    <a:p>
                      <a:pPr algn="ctr"/>
                      <a:r>
                        <a:rPr sz="900">
                          <a:solidFill>
                            <a:srgbClr val="404040"/>
                          </a:solidFill>
                          <a:latin typeface="Arial"/>
                        </a:rPr>
                        <a:t>outlet_types</a:t>
                      </a:r>
                    </a:p>
                  </a:txBody>
                  <a:tcPr marL="45720" marR="45720" marT="45720" marB="45720">
                    <a:solidFill>
                      <a:srgbClr val="FFFFFF"/>
                    </a:solidFill>
                  </a:tcPr>
                </a:tc>
                <a:tc>
                  <a:txBody>
                    <a:bodyPr/>
                    <a:lstStyle/>
                    <a:p>
                      <a:pPr algn="ctr"/>
                      <a:r>
                        <a:rPr sz="900">
                          <a:solidFill>
                            <a:srgbClr val="404040"/>
                          </a:solidFill>
                          <a:latin typeface="Arial"/>
                        </a:rPr>
                        <a:t>key_locations</a:t>
                      </a:r>
                    </a:p>
                  </a:txBody>
                  <a:tcPr marL="45720" marR="45720" marT="45720" marB="45720">
                    <a:solidFill>
                      <a:srgbClr val="FFFFFF"/>
                    </a:solidFill>
                  </a:tcPr>
                </a:tc>
              </a:tr>
              <a:tr h="320040">
                <a:tc>
                  <a:txBody>
                    <a:bodyPr/>
                    <a:lstStyle/>
                    <a:p>
                      <a:pPr algn="ctr"/>
                      <a:r>
                        <a:rPr sz="900">
                          <a:solidFill>
                            <a:srgbClr val="404040"/>
                          </a:solidFill>
                          <a:latin typeface="Arial"/>
                        </a:rPr>
                        <a:t>city</a:t>
                      </a:r>
                    </a:p>
                  </a:txBody>
                  <a:tcPr marL="45720" marR="45720" marT="45720" marB="45720">
                    <a:solidFill>
                      <a:srgbClr val="F0F0F0"/>
                    </a:solidFill>
                  </a:tcPr>
                </a:tc>
                <a:tc>
                  <a:txBody>
                    <a:bodyPr/>
                    <a:lstStyle/>
                    <a:p>
                      <a:pPr algn="ctr"/>
                      <a:r>
                        <a:rPr sz="900">
                          <a:solidFill>
                            <a:srgbClr val="404040"/>
                          </a:solidFill>
                          <a:latin typeface="Arial"/>
                        </a:rPr>
                        <a:t>outlet_types</a:t>
                      </a:r>
                    </a:p>
                  </a:txBody>
                  <a:tcPr marL="45720" marR="45720" marT="45720" marB="45720">
                    <a:solidFill>
                      <a:srgbClr val="F0F0F0"/>
                    </a:solidFill>
                  </a:tcPr>
                </a:tc>
                <a:tc>
                  <a:txBody>
                    <a:bodyPr/>
                    <a:lstStyle/>
                    <a:p>
                      <a:pPr algn="ctr"/>
                      <a:r>
                        <a:rPr sz="900">
                          <a:solidFill>
                            <a:srgbClr val="404040"/>
                          </a:solidFill>
                          <a:latin typeface="Arial"/>
                        </a:rPr>
                        <a:t>key_locations</a:t>
                      </a:r>
                    </a:p>
                  </a:txBody>
                  <a:tcPr marL="45720" marR="45720" marT="45720" marB="45720">
                    <a:solidFill>
                      <a:srgbClr val="F0F0F0"/>
                    </a:solidFill>
                  </a:tcPr>
                </a:tc>
              </a:tr>
              <a:tr h="320040">
                <a:tc>
                  <a:txBody>
                    <a:bodyPr/>
                    <a:lstStyle/>
                    <a:p>
                      <a:pPr algn="ctr"/>
                      <a:r>
                        <a:rPr sz="900">
                          <a:solidFill>
                            <a:srgbClr val="404040"/>
                          </a:solidFill>
                          <a:latin typeface="Arial"/>
                        </a:rPr>
                        <a:t>city</a:t>
                      </a:r>
                    </a:p>
                  </a:txBody>
                  <a:tcPr marL="45720" marR="45720" marT="45720" marB="45720">
                    <a:solidFill>
                      <a:srgbClr val="FFFFFF"/>
                    </a:solidFill>
                  </a:tcPr>
                </a:tc>
                <a:tc>
                  <a:txBody>
                    <a:bodyPr/>
                    <a:lstStyle/>
                    <a:p>
                      <a:pPr algn="ctr"/>
                      <a:r>
                        <a:rPr sz="900">
                          <a:solidFill>
                            <a:srgbClr val="404040"/>
                          </a:solidFill>
                          <a:latin typeface="Arial"/>
                        </a:rPr>
                        <a:t>outlet_types</a:t>
                      </a:r>
                    </a:p>
                  </a:txBody>
                  <a:tcPr marL="45720" marR="45720" marT="45720" marB="45720">
                    <a:solidFill>
                      <a:srgbClr val="FFFFFF"/>
                    </a:solidFill>
                  </a:tcPr>
                </a:tc>
                <a:tc>
                  <a:txBody>
                    <a:bodyPr/>
                    <a:lstStyle/>
                    <a:p>
                      <a:pPr algn="ctr"/>
                      <a:r>
                        <a:rPr sz="900">
                          <a:solidFill>
                            <a:srgbClr val="404040"/>
                          </a:solidFill>
                          <a:latin typeface="Arial"/>
                        </a:rPr>
                        <a:t>key_locations</a:t>
                      </a:r>
                    </a:p>
                  </a:txBody>
                  <a:tcPr marL="45720" marR="45720" marT="45720" marB="45720">
                    <a:solidFill>
                      <a:srgbClr val="FFFFFF"/>
                    </a:solidFill>
                  </a:tcPr>
                </a:tc>
              </a:tr>
            </a:tbl>
          </a:graphicData>
        </a:graphic>
      </p:graphicFrame>
      <p:sp>
        <p:nvSpPr>
          <p:cNvPr id="18" name="TextBox 17"/>
          <p:cNvSpPr txBox="1"/>
          <p:nvPr/>
        </p:nvSpPr>
        <p:spPr>
          <a:xfrm>
            <a:off x="6583680" y="4389120"/>
            <a:ext cx="5029200" cy="274320"/>
          </a:xfrm>
          <a:prstGeom prst="rect">
            <a:avLst/>
          </a:prstGeom>
          <a:noFill/>
          <a:ln>
            <a:noFill/>
          </a:ln>
          <a:effectLst/>
        </p:spPr>
        <p:txBody>
          <a:bodyPr wrap="square">
            <a:spAutoFit/>
          </a:bodyPr>
          <a:lstStyle/>
          <a:p>
            <a:pPr algn="ctr"/>
            <a:r>
              <a:rPr sz="1400" b="1">
                <a:solidFill>
                  <a:srgbClr val="183A58"/>
                </a:solidFill>
                <a:latin typeface="Arial"/>
              </a:rPr>
              <a:t>Key Operational Metrics</a:t>
            </a:r>
          </a:p>
        </p:txBody>
      </p:sp>
      <p:sp>
        <p:nvSpPr>
          <p:cNvPr id="19" name="Rectangle 18"/>
          <p:cNvSpPr/>
          <p:nvPr/>
        </p:nvSpPr>
        <p:spPr>
          <a:xfrm>
            <a:off x="6583680" y="4663440"/>
            <a:ext cx="5029200" cy="18288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31520"/>
            <a:ext cx="10515600" cy="1371600"/>
          </a:xfrm>
          <a:prstGeom prst="rect">
            <a:avLst/>
          </a:prstGeom>
          <a:noFill/>
        </p:spPr>
        <p:txBody>
          <a:bodyPr wrap="none">
            <a:spAutoFit/>
          </a:bodyPr>
          <a:lstStyle/>
          <a:p>
            <a:pPr algn="l"/>
            <a:r>
              <a:rPr sz="1400"/>
              <a:t>Renderer error: 'str' object has no attribute 'get'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Historical Financial Performance</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058400" cy="274320"/>
          </a:xfrm>
          <a:prstGeom prst="rect">
            <a:avLst/>
          </a:prstGeom>
          <a:noFill/>
          <a:ln>
            <a:noFill/>
          </a:ln>
          <a:effectLst/>
        </p:spPr>
        <p:txBody>
          <a:bodyPr wrap="square">
            <a:spAutoFit/>
          </a:bodyPr>
          <a:lstStyle/>
          <a:p>
            <a:pPr algn="ctr"/>
            <a:r>
              <a:rPr sz="1600" b="1">
                <a:solidFill>
                  <a:srgbClr val="183A58"/>
                </a:solidFill>
                <a:latin typeface="Arial"/>
              </a:rPr>
              <a:t>Revenue &amp; EBITDA Growth</a:t>
            </a:r>
          </a:p>
        </p:txBody>
      </p:sp>
      <p:graphicFrame>
        <p:nvGraphicFramePr>
          <p:cNvPr id="5" name="Chart 4"/>
          <p:cNvGraphicFramePr>
            <a:graphicFrameLocks noGrp="1"/>
          </p:cNvGraphicFramePr>
          <p:nvPr/>
        </p:nvGraphicFramePr>
        <p:xfrm>
          <a:off x="1828800" y="1554480"/>
          <a:ext cx="8229600" cy="2103120"/>
        </p:xfrm>
        <a:graphic>
          <a:graphicData uri="http://schemas.openxmlformats.org/drawingml/2006/chart">
            <c:chart xmlns:c="http://schemas.openxmlformats.org/drawingml/2006/chart" r:id="rId2"/>
          </a:graphicData>
        </a:graphic>
      </p:graphicFrame>
      <p:sp>
        <p:nvSpPr>
          <p:cNvPr id="6" name="TextBox 5"/>
          <p:cNvSpPr txBox="1"/>
          <p:nvPr/>
        </p:nvSpPr>
        <p:spPr>
          <a:xfrm>
            <a:off x="1828800" y="3749039"/>
            <a:ext cx="8229600" cy="182880"/>
          </a:xfrm>
          <a:prstGeom prst="rect">
            <a:avLst/>
          </a:prstGeom>
          <a:noFill/>
          <a:ln>
            <a:noFill/>
          </a:ln>
          <a:effectLst/>
        </p:spPr>
        <p:txBody>
          <a:bodyPr wrap="square">
            <a:spAutoFit/>
          </a:bodyPr>
          <a:lstStyle/>
          <a:p>
            <a:pPr algn="ctr"/>
            <a:r>
              <a:rPr sz="800" b="0">
                <a:solidFill>
                  <a:srgbClr val="404040"/>
                </a:solidFill>
                <a:latin typeface="Arial"/>
              </a:rPr>
              <a:t>*Historical figures represent estimated performance based on market trends.</a:t>
            </a:r>
          </a:p>
        </p:txBody>
      </p:sp>
      <p:sp>
        <p:nvSpPr>
          <p:cNvPr id="7" name="Rectangle 6"/>
          <p:cNvSpPr/>
          <p:nvPr/>
        </p:nvSpPr>
        <p:spPr>
          <a:xfrm>
            <a:off x="694944" y="4023360"/>
            <a:ext cx="2560320" cy="10058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14800"/>
            <a:ext cx="2377440" cy="182880"/>
          </a:xfrm>
          <a:prstGeom prst="rect">
            <a:avLst/>
          </a:prstGeom>
          <a:noFill/>
          <a:ln>
            <a:noFill/>
          </a:ln>
          <a:effectLst/>
        </p:spPr>
        <p:txBody>
          <a:bodyPr wrap="square">
            <a:spAutoFit/>
          </a:bodyPr>
          <a:lstStyle/>
          <a:p>
            <a:pPr algn="l"/>
            <a:r>
              <a:rPr sz="1000" b="1">
                <a:solidFill>
                  <a:srgbClr val="404040"/>
                </a:solidFill>
                <a:latin typeface="Arial"/>
              </a:rPr>
              <a:t>Same-store sales growth</a:t>
            </a:r>
          </a:p>
        </p:txBody>
      </p:sp>
      <p:sp>
        <p:nvSpPr>
          <p:cNvPr id="9" name="TextBox 8"/>
          <p:cNvSpPr txBox="1"/>
          <p:nvPr/>
        </p:nvSpPr>
        <p:spPr>
          <a:xfrm>
            <a:off x="786384" y="4297680"/>
            <a:ext cx="2377440" cy="228600"/>
          </a:xfrm>
          <a:prstGeom prst="rect">
            <a:avLst/>
          </a:prstGeom>
          <a:noFill/>
          <a:ln>
            <a:noFill/>
          </a:ln>
          <a:effectLst/>
        </p:spPr>
        <p:txBody>
          <a:bodyPr wrap="square">
            <a:spAutoFit/>
          </a:bodyPr>
          <a:lstStyle/>
          <a:p>
            <a:pPr algn="l"/>
            <a:r>
              <a:rPr sz="1800" b="1">
                <a:solidFill>
                  <a:srgbClr val="183A58"/>
                </a:solidFill>
                <a:latin typeface="Arial"/>
              </a:rPr>
              <a:t>4.5%</a:t>
            </a:r>
          </a:p>
        </p:txBody>
      </p:sp>
      <p:sp>
        <p:nvSpPr>
          <p:cNvPr id="10" name="TextBox 9"/>
          <p:cNvSpPr txBox="1"/>
          <p:nvPr/>
        </p:nvSpPr>
        <p:spPr>
          <a:xfrm>
            <a:off x="786384" y="4526280"/>
            <a:ext cx="2377440" cy="137160"/>
          </a:xfrm>
          <a:prstGeom prst="rect">
            <a:avLst/>
          </a:prstGeom>
          <a:noFill/>
          <a:ln>
            <a:noFill/>
          </a:ln>
          <a:effectLst/>
        </p:spPr>
        <p:txBody>
          <a:bodyPr wrap="square">
            <a:spAutoFit/>
          </a:bodyPr>
          <a:lstStyle/>
          <a:p>
            <a:pPr algn="l"/>
          </a:p>
        </p:txBody>
      </p:sp>
      <p:sp>
        <p:nvSpPr>
          <p:cNvPr id="11" name="TextBox 10"/>
          <p:cNvSpPr txBox="1"/>
          <p:nvPr/>
        </p:nvSpPr>
        <p:spPr>
          <a:xfrm>
            <a:off x="786384" y="4709160"/>
            <a:ext cx="2377440" cy="228600"/>
          </a:xfrm>
          <a:prstGeom prst="rect">
            <a:avLst/>
          </a:prstGeom>
          <a:noFill/>
          <a:ln>
            <a:noFill/>
          </a:ln>
          <a:effectLst/>
        </p:spPr>
        <p:txBody>
          <a:bodyPr wrap="square">
            <a:spAutoFit/>
          </a:bodyPr>
          <a:lstStyle/>
          <a:p>
            <a:pPr algn="l"/>
          </a:p>
        </p:txBody>
      </p:sp>
      <p:sp>
        <p:nvSpPr>
          <p:cNvPr id="12" name="Rectangle 11"/>
          <p:cNvSpPr/>
          <p:nvPr/>
        </p:nvSpPr>
        <p:spPr>
          <a:xfrm>
            <a:off x="3493008" y="4023360"/>
            <a:ext cx="2560320" cy="10058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84448" y="4114800"/>
            <a:ext cx="2377440" cy="182880"/>
          </a:xfrm>
          <a:prstGeom prst="rect">
            <a:avLst/>
          </a:prstGeom>
          <a:noFill/>
          <a:ln>
            <a:noFill/>
          </a:ln>
          <a:effectLst/>
        </p:spPr>
        <p:txBody>
          <a:bodyPr wrap="square">
            <a:spAutoFit/>
          </a:bodyPr>
          <a:lstStyle/>
          <a:p>
            <a:pPr algn="l"/>
            <a:r>
              <a:rPr sz="1000" b="1">
                <a:solidFill>
                  <a:srgbClr val="404040"/>
                </a:solidFill>
                <a:latin typeface="Arial"/>
              </a:rPr>
              <a:t>Annual customer visits</a:t>
            </a:r>
          </a:p>
        </p:txBody>
      </p:sp>
      <p:sp>
        <p:nvSpPr>
          <p:cNvPr id="14" name="TextBox 13"/>
          <p:cNvSpPr txBox="1"/>
          <p:nvPr/>
        </p:nvSpPr>
        <p:spPr>
          <a:xfrm>
            <a:off x="3584448" y="4297680"/>
            <a:ext cx="2377440" cy="228600"/>
          </a:xfrm>
          <a:prstGeom prst="rect">
            <a:avLst/>
          </a:prstGeom>
          <a:noFill/>
          <a:ln>
            <a:noFill/>
          </a:ln>
          <a:effectLst/>
        </p:spPr>
        <p:txBody>
          <a:bodyPr wrap="square">
            <a:spAutoFit/>
          </a:bodyPr>
          <a:lstStyle/>
          <a:p>
            <a:pPr algn="l"/>
            <a:r>
              <a:rPr sz="1800" b="1">
                <a:solidFill>
                  <a:srgbClr val="183A58"/>
                </a:solidFill>
                <a:latin typeface="Arial"/>
              </a:rPr>
              <a:t>3 million+</a:t>
            </a:r>
          </a:p>
        </p:txBody>
      </p:sp>
      <p:sp>
        <p:nvSpPr>
          <p:cNvPr id="15" name="TextBox 14"/>
          <p:cNvSpPr txBox="1"/>
          <p:nvPr/>
        </p:nvSpPr>
        <p:spPr>
          <a:xfrm>
            <a:off x="3584448" y="4526280"/>
            <a:ext cx="2377440" cy="137160"/>
          </a:xfrm>
          <a:prstGeom prst="rect">
            <a:avLst/>
          </a:prstGeom>
          <a:noFill/>
          <a:ln>
            <a:noFill/>
          </a:ln>
          <a:effectLst/>
        </p:spPr>
        <p:txBody>
          <a:bodyPr wrap="square">
            <a:spAutoFit/>
          </a:bodyPr>
          <a:lstStyle/>
          <a:p>
            <a:pPr algn="l"/>
          </a:p>
        </p:txBody>
      </p:sp>
      <p:sp>
        <p:nvSpPr>
          <p:cNvPr id="16" name="TextBox 15"/>
          <p:cNvSpPr txBox="1"/>
          <p:nvPr/>
        </p:nvSpPr>
        <p:spPr>
          <a:xfrm>
            <a:off x="3584448" y="4709160"/>
            <a:ext cx="2377440" cy="228600"/>
          </a:xfrm>
          <a:prstGeom prst="rect">
            <a:avLst/>
          </a:prstGeom>
          <a:noFill/>
          <a:ln>
            <a:noFill/>
          </a:ln>
          <a:effectLst/>
        </p:spPr>
        <p:txBody>
          <a:bodyPr wrap="square">
            <a:spAutoFit/>
          </a:bodyPr>
          <a:lstStyle/>
          <a:p>
            <a:pPr algn="l"/>
          </a:p>
        </p:txBody>
      </p:sp>
      <p:sp>
        <p:nvSpPr>
          <p:cNvPr id="17" name="Rectangle 16"/>
          <p:cNvSpPr/>
          <p:nvPr/>
        </p:nvSpPr>
        <p:spPr>
          <a:xfrm>
            <a:off x="6291072" y="4023360"/>
            <a:ext cx="2560320" cy="10058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114800"/>
            <a:ext cx="2377440" cy="182880"/>
          </a:xfrm>
          <a:prstGeom prst="rect">
            <a:avLst/>
          </a:prstGeom>
          <a:noFill/>
          <a:ln>
            <a:noFill/>
          </a:ln>
          <a:effectLst/>
        </p:spPr>
        <p:txBody>
          <a:bodyPr wrap="square">
            <a:spAutoFit/>
          </a:bodyPr>
          <a:lstStyle/>
          <a:p>
            <a:pPr algn="l"/>
            <a:r>
              <a:rPr sz="1000" b="1">
                <a:solidFill>
                  <a:srgbClr val="404040"/>
                </a:solidFill>
                <a:latin typeface="Arial"/>
              </a:rPr>
              <a:t>Corporate contracts</a:t>
            </a:r>
          </a:p>
        </p:txBody>
      </p:sp>
      <p:sp>
        <p:nvSpPr>
          <p:cNvPr id="19" name="TextBox 18"/>
          <p:cNvSpPr txBox="1"/>
          <p:nvPr/>
        </p:nvSpPr>
        <p:spPr>
          <a:xfrm>
            <a:off x="6382512" y="4297680"/>
            <a:ext cx="2377440" cy="228600"/>
          </a:xfrm>
          <a:prstGeom prst="rect">
            <a:avLst/>
          </a:prstGeom>
          <a:noFill/>
          <a:ln>
            <a:noFill/>
          </a:ln>
          <a:effectLst/>
        </p:spPr>
        <p:txBody>
          <a:bodyPr wrap="square">
            <a:spAutoFit/>
          </a:bodyPr>
          <a:lstStyle/>
          <a:p>
            <a:pPr algn="l"/>
            <a:r>
              <a:rPr sz="1800" b="1">
                <a:solidFill>
                  <a:srgbClr val="183A58"/>
                </a:solidFill>
                <a:latin typeface="Arial"/>
              </a:rPr>
              <a:t>40+</a:t>
            </a:r>
          </a:p>
        </p:txBody>
      </p:sp>
      <p:sp>
        <p:nvSpPr>
          <p:cNvPr id="20" name="TextBox 19"/>
          <p:cNvSpPr txBox="1"/>
          <p:nvPr/>
        </p:nvSpPr>
        <p:spPr>
          <a:xfrm>
            <a:off x="6382512" y="4526280"/>
            <a:ext cx="2377440" cy="137160"/>
          </a:xfrm>
          <a:prstGeom prst="rect">
            <a:avLst/>
          </a:prstGeom>
          <a:noFill/>
          <a:ln>
            <a:noFill/>
          </a:ln>
          <a:effectLst/>
        </p:spPr>
        <p:txBody>
          <a:bodyPr wrap="square">
            <a:spAutoFit/>
          </a:bodyPr>
          <a:lstStyle/>
          <a:p>
            <a:pPr algn="l"/>
          </a:p>
        </p:txBody>
      </p:sp>
      <p:sp>
        <p:nvSpPr>
          <p:cNvPr id="21" name="TextBox 20"/>
          <p:cNvSpPr txBox="1"/>
          <p:nvPr/>
        </p:nvSpPr>
        <p:spPr>
          <a:xfrm>
            <a:off x="6382512" y="4709160"/>
            <a:ext cx="2377440" cy="228600"/>
          </a:xfrm>
          <a:prstGeom prst="rect">
            <a:avLst/>
          </a:prstGeom>
          <a:noFill/>
          <a:ln>
            <a:noFill/>
          </a:ln>
          <a:effectLst/>
        </p:spPr>
        <p:txBody>
          <a:bodyPr wrap="square">
            <a:spAutoFit/>
          </a:bodyPr>
          <a:lstStyle/>
          <a:p>
            <a:pPr algn="l"/>
          </a:p>
        </p:txBody>
      </p:sp>
      <p:sp>
        <p:nvSpPr>
          <p:cNvPr id="22" name="Rectangle 21"/>
          <p:cNvSpPr/>
          <p:nvPr/>
        </p:nvSpPr>
        <p:spPr>
          <a:xfrm>
            <a:off x="9089136" y="4023360"/>
            <a:ext cx="2560320" cy="10058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0576" y="4114800"/>
            <a:ext cx="2377440" cy="182880"/>
          </a:xfrm>
          <a:prstGeom prst="rect">
            <a:avLst/>
          </a:prstGeom>
          <a:noFill/>
          <a:ln>
            <a:noFill/>
          </a:ln>
          <a:effectLst/>
        </p:spPr>
        <p:txBody>
          <a:bodyPr wrap="square">
            <a:spAutoFit/>
          </a:bodyPr>
          <a:lstStyle/>
          <a:p>
            <a:pPr algn="l"/>
            <a:r>
              <a:rPr sz="1000" b="1">
                <a:solidFill>
                  <a:srgbClr val="404040"/>
                </a:solidFill>
                <a:latin typeface="Arial"/>
              </a:rPr>
              <a:t>EBITDA margin</a:t>
            </a:r>
          </a:p>
        </p:txBody>
      </p:sp>
      <p:sp>
        <p:nvSpPr>
          <p:cNvPr id="24" name="TextBox 23"/>
          <p:cNvSpPr txBox="1"/>
          <p:nvPr/>
        </p:nvSpPr>
        <p:spPr>
          <a:xfrm>
            <a:off x="9180576" y="4297680"/>
            <a:ext cx="2377440" cy="228600"/>
          </a:xfrm>
          <a:prstGeom prst="rect">
            <a:avLst/>
          </a:prstGeom>
          <a:noFill/>
          <a:ln>
            <a:noFill/>
          </a:ln>
          <a:effectLst/>
        </p:spPr>
        <p:txBody>
          <a:bodyPr wrap="square">
            <a:spAutoFit/>
          </a:bodyPr>
          <a:lstStyle/>
          <a:p>
            <a:pPr algn="l"/>
            <a:r>
              <a:rPr sz="1800" b="1">
                <a:solidFill>
                  <a:srgbClr val="183A58"/>
                </a:solidFill>
                <a:latin typeface="Arial"/>
              </a:rPr>
              <a:t>19.6% (2024E)</a:t>
            </a:r>
          </a:p>
        </p:txBody>
      </p:sp>
      <p:sp>
        <p:nvSpPr>
          <p:cNvPr id="25" name="TextBox 24"/>
          <p:cNvSpPr txBox="1"/>
          <p:nvPr/>
        </p:nvSpPr>
        <p:spPr>
          <a:xfrm>
            <a:off x="9180576" y="4526280"/>
            <a:ext cx="2377440" cy="137160"/>
          </a:xfrm>
          <a:prstGeom prst="rect">
            <a:avLst/>
          </a:prstGeom>
          <a:noFill/>
          <a:ln>
            <a:noFill/>
          </a:ln>
          <a:effectLst/>
        </p:spPr>
        <p:txBody>
          <a:bodyPr wrap="square">
            <a:spAutoFit/>
          </a:bodyPr>
          <a:lstStyle/>
          <a:p>
            <a:pPr algn="l"/>
          </a:p>
        </p:txBody>
      </p:sp>
      <p:sp>
        <p:nvSpPr>
          <p:cNvPr id="26" name="TextBox 25"/>
          <p:cNvSpPr txBox="1"/>
          <p:nvPr/>
        </p:nvSpPr>
        <p:spPr>
          <a:xfrm>
            <a:off x="9180576" y="4709160"/>
            <a:ext cx="2377440" cy="228600"/>
          </a:xfrm>
          <a:prstGeom prst="rect">
            <a:avLst/>
          </a:prstGeom>
          <a:noFill/>
          <a:ln>
            <a:noFill/>
          </a:ln>
          <a:effectLst/>
        </p:spPr>
        <p:txBody>
          <a:bodyPr wrap="square">
            <a:spAutoFit/>
          </a:bodyPr>
          <a:lstStyle/>
          <a:p>
            <a:pPr algn="l"/>
          </a:p>
        </p:txBody>
      </p:sp>
      <p:sp>
        <p:nvSpPr>
          <p:cNvPr id="27" name="TextBox 26"/>
          <p:cNvSpPr txBox="1"/>
          <p:nvPr/>
        </p:nvSpPr>
        <p:spPr>
          <a:xfrm>
            <a:off x="914400" y="5212080"/>
            <a:ext cx="6400800" cy="182880"/>
          </a:xfrm>
          <a:prstGeom prst="rect">
            <a:avLst/>
          </a:prstGeom>
          <a:noFill/>
          <a:ln>
            <a:noFill/>
          </a:ln>
          <a:effectLst/>
        </p:spPr>
        <p:txBody>
          <a:bodyPr wrap="square">
            <a:spAutoFit/>
          </a:bodyPr>
          <a:lstStyle/>
          <a:p>
            <a:pPr algn="l"/>
            <a:r>
              <a:rPr sz="1200" b="1">
                <a:solidFill>
                  <a:srgbClr val="183A58"/>
                </a:solidFill>
                <a:latin typeface="Arial"/>
              </a:rPr>
              <a:t>Revenue Growth</a:t>
            </a:r>
          </a:p>
        </p:txBody>
      </p:sp>
      <p:sp>
        <p:nvSpPr>
          <p:cNvPr id="28" name="TextBox 27"/>
          <p:cNvSpPr txBox="1"/>
          <p:nvPr/>
        </p:nvSpPr>
        <p:spPr>
          <a:xfrm>
            <a:off x="914400" y="5440680"/>
            <a:ext cx="6400800" cy="146304"/>
          </a:xfrm>
          <a:prstGeom prst="rect">
            <a:avLst/>
          </a:prstGeom>
          <a:noFill/>
          <a:ln>
            <a:noFill/>
          </a:ln>
          <a:effectLst/>
        </p:spPr>
        <p:txBody>
          <a:bodyPr wrap="square">
            <a:spAutoFit/>
          </a:bodyPr>
          <a:lstStyle/>
          <a:p>
            <a:pPr algn="l"/>
            <a:r>
              <a:rPr sz="900" b="0">
                <a:solidFill>
                  <a:srgbClr val="404040"/>
                </a:solidFill>
                <a:latin typeface="Arial"/>
              </a:rPr>
              <a:t>● 2021–2024: Revenue grew +150% post-acquisition by DailyCo, driven by outlet expansion and B2B contracts.</a:t>
            </a:r>
          </a:p>
        </p:txBody>
      </p:sp>
      <p:sp>
        <p:nvSpPr>
          <p:cNvPr id="29" name="TextBox 28"/>
          <p:cNvSpPr txBox="1"/>
          <p:nvPr/>
        </p:nvSpPr>
        <p:spPr>
          <a:xfrm>
            <a:off x="914400" y="5605272"/>
            <a:ext cx="6400800" cy="146304"/>
          </a:xfrm>
          <a:prstGeom prst="rect">
            <a:avLst/>
          </a:prstGeom>
          <a:noFill/>
          <a:ln>
            <a:noFill/>
          </a:ln>
          <a:effectLst/>
        </p:spPr>
        <p:txBody>
          <a:bodyPr wrap="square">
            <a:spAutoFit/>
          </a:bodyPr>
          <a:lstStyle/>
          <a:p>
            <a:pPr algn="l"/>
            <a:r>
              <a:rPr sz="900" b="0">
                <a:solidFill>
                  <a:srgbClr val="404040"/>
                </a:solidFill>
                <a:latin typeface="Arial"/>
              </a:rPr>
              <a:t>● EBITDA margin improved by strategic product mix and cost discipline.</a:t>
            </a:r>
          </a:p>
        </p:txBody>
      </p:sp>
      <p:sp>
        <p:nvSpPr>
          <p:cNvPr id="30" name="Rectangle 29"/>
          <p:cNvSpPr/>
          <p:nvPr/>
        </p:nvSpPr>
        <p:spPr>
          <a:xfrm>
            <a:off x="7498079" y="5120640"/>
            <a:ext cx="4389120" cy="914400"/>
          </a:xfrm>
          <a:prstGeom prst="rect">
            <a:avLst/>
          </a:prstGeom>
          <a:solidFill>
            <a:srgbClr val="F0F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0" y="5212080"/>
            <a:ext cx="4023360" cy="137160"/>
          </a:xfrm>
          <a:prstGeom prst="rect">
            <a:avLst/>
          </a:prstGeom>
          <a:noFill/>
          <a:ln>
            <a:noFill/>
          </a:ln>
          <a:effectLst/>
        </p:spPr>
        <p:txBody>
          <a:bodyPr wrap="square">
            <a:spAutoFit/>
          </a:bodyPr>
          <a:lstStyle/>
          <a:p>
            <a:pPr algn="l"/>
            <a:r>
              <a:rPr sz="1000" b="1">
                <a:solidFill>
                  <a:srgbClr val="228B22"/>
                </a:solidFill>
                <a:latin typeface="Arial"/>
              </a:rPr>
              <a:t>Banker View</a:t>
            </a:r>
          </a:p>
        </p:txBody>
      </p:sp>
      <p:sp>
        <p:nvSpPr>
          <p:cNvPr id="32" name="TextBox 31"/>
          <p:cNvSpPr txBox="1"/>
          <p:nvPr/>
        </p:nvSpPr>
        <p:spPr>
          <a:xfrm>
            <a:off x="7680960" y="5394960"/>
            <a:ext cx="4023360" cy="594360"/>
          </a:xfrm>
          <a:prstGeom prst="rect">
            <a:avLst/>
          </a:prstGeom>
          <a:noFill/>
          <a:ln>
            <a:noFill/>
          </a:ln>
          <a:effectLst/>
        </p:spPr>
        <p:txBody>
          <a:bodyPr wrap="square">
            <a:spAutoFit/>
          </a:bodyPr>
          <a:lstStyle/>
          <a:p>
            <a:pPr algn="l"/>
            <a:r>
              <a:rPr sz="900" b="0">
                <a:solidFill>
                  <a:srgbClr val="404040"/>
                </a:solidFill>
                <a:latin typeface="Arial"/>
              </a:rPr>
              <a:t>Breadlife demonstrates strong financial trajectory, with consistent double-digit revenue growth, margin expansion, and robust operational metrics, reflecting sector leadership and attractive investment profile.</a:t>
            </a:r>
          </a:p>
        </p:txBody>
      </p:sp>
      <p:sp>
        <p:nvSpPr>
          <p:cNvPr id="33" name="TextBox 32"/>
          <p:cNvSpPr txBox="1"/>
          <p:nvPr/>
        </p:nvSpPr>
        <p:spPr>
          <a:xfrm>
            <a:off x="457200" y="6309360"/>
            <a:ext cx="3657600" cy="182880"/>
          </a:xfrm>
          <a:prstGeom prst="rect">
            <a:avLst/>
          </a:prstGeom>
          <a:noFill/>
          <a:ln>
            <a:noFill/>
          </a:ln>
          <a:effectLst/>
        </p:spPr>
        <p:txBody>
          <a:bodyPr wrap="square">
            <a:spAutoFit/>
          </a:bodyPr>
          <a:lstStyle/>
          <a:p>
            <a:pPr algn="l"/>
            <a:r>
              <a:rPr sz="900" b="0">
                <a:solidFill>
                  <a:srgbClr val="808080"/>
                </a:solidFill>
                <a:latin typeface="Arial"/>
              </a:rPr>
              <a:t>Confidential | September 06, 2025</a:t>
            </a:r>
          </a:p>
        </p:txBody>
      </p:sp>
      <p:sp>
        <p:nvSpPr>
          <p:cNvPr id="34" name="TextBox 33"/>
          <p:cNvSpPr txBox="1"/>
          <p:nvPr/>
        </p:nvSpPr>
        <p:spPr>
          <a:xfrm>
            <a:off x="8686800" y="6309360"/>
            <a:ext cx="3200400" cy="182880"/>
          </a:xfrm>
          <a:prstGeom prst="rect">
            <a:avLst/>
          </a:prstGeom>
          <a:noFill/>
          <a:ln>
            <a:noFill/>
          </a:ln>
          <a:effectLst/>
        </p:spPr>
        <p:txBody>
          <a:bodyPr wrap="square">
            <a:spAutoFit/>
          </a:bodyPr>
          <a:lstStyle/>
          <a:p>
            <a:pPr algn="r"/>
            <a:r>
              <a:rPr sz="900" b="0">
                <a:solidFill>
                  <a:srgbClr val="808080"/>
                </a:solidFill>
                <a:latin typeface="Arial"/>
              </a:rPr>
              <a:t>Moelis &amp; Company Investment Opportunity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Management Team</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25880"/>
            <a:ext cx="3657600" cy="320040"/>
          </a:xfrm>
          <a:prstGeom prst="rect">
            <a:avLst/>
          </a:prstGeom>
          <a:noFill/>
        </p:spPr>
        <p:txBody>
          <a:bodyPr wrap="square" lIns="36576" rIns="36576" tIns="14630" bIns="14630">
            <a:spAutoFit/>
          </a:bodyPr>
          <a:lstStyle/>
          <a:p>
            <a:pPr algn="l">
              <a:defRPr sz="1400" b="1">
                <a:solidFill>
                  <a:srgbClr val="183A58"/>
                </a:solidFill>
                <a:latin typeface="Arial"/>
              </a:defRPr>
            </a:pPr>
            <a:r>
              <a:t>Chief Executive Officer</a:t>
            </a:r>
          </a:p>
        </p:txBody>
      </p:sp>
      <p:sp>
        <p:nvSpPr>
          <p:cNvPr id="5" name="TextBox 4"/>
          <p:cNvSpPr txBox="1"/>
          <p:nvPr/>
        </p:nvSpPr>
        <p:spPr>
          <a:xfrm>
            <a:off x="274320" y="1691640"/>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Over 15 years of F&amp;B industry experience in Indonesia and Southeast Asia.</a:t>
            </a:r>
          </a:p>
        </p:txBody>
      </p:sp>
      <p:sp>
        <p:nvSpPr>
          <p:cNvPr id="6" name="TextBox 5"/>
          <p:cNvSpPr txBox="1"/>
          <p:nvPr/>
        </p:nvSpPr>
        <p:spPr>
          <a:xfrm>
            <a:off x="274320" y="2075688"/>
            <a:ext cx="3657600" cy="493776"/>
          </a:xfrm>
          <a:prstGeom prst="rect">
            <a:avLst/>
          </a:prstGeom>
          <a:noFill/>
        </p:spPr>
        <p:txBody>
          <a:bodyPr wrap="square" lIns="36576" rIns="36576" tIns="10972" bIns="10972"/>
          <a:lstStyle/>
          <a:p>
            <a:pPr algn="l">
              <a:lnSpc>
                <a:spcPct val="120000"/>
              </a:lnSpc>
              <a:defRPr sz="1100">
                <a:solidFill>
                  <a:srgbClr val="404040"/>
                </a:solidFill>
                <a:latin typeface="Arial"/>
              </a:defRPr>
            </a:pPr>
            <a:r>
              <a:t>• Former Regional Director at a leading bakery chain, driving multi-state expansion.</a:t>
            </a:r>
          </a:p>
        </p:txBody>
      </p:sp>
      <p:sp>
        <p:nvSpPr>
          <p:cNvPr id="7" name="TextBox 6"/>
          <p:cNvSpPr txBox="1"/>
          <p:nvPr/>
        </p:nvSpPr>
        <p:spPr>
          <a:xfrm>
            <a:off x="274320" y="2624328"/>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Led Breadlife’s rapid outlet growth post-acquisition by DailyCo.</a:t>
            </a:r>
          </a:p>
        </p:txBody>
      </p:sp>
      <p:sp>
        <p:nvSpPr>
          <p:cNvPr id="8" name="TextBox 7"/>
          <p:cNvSpPr txBox="1"/>
          <p:nvPr/>
        </p:nvSpPr>
        <p:spPr>
          <a:xfrm>
            <a:off x="274320" y="3008376"/>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Expertise in retail operations, supply chain optimization, and franchising.</a:t>
            </a:r>
          </a:p>
        </p:txBody>
      </p:sp>
      <p:sp>
        <p:nvSpPr>
          <p:cNvPr id="9" name="TextBox 8"/>
          <p:cNvSpPr txBox="1"/>
          <p:nvPr/>
        </p:nvSpPr>
        <p:spPr>
          <a:xfrm>
            <a:off x="274320" y="3392424"/>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MBA from a top Indonesian university.</a:t>
            </a:r>
          </a:p>
        </p:txBody>
      </p:sp>
      <p:sp>
        <p:nvSpPr>
          <p:cNvPr id="10" name="TextBox 9"/>
          <p:cNvSpPr txBox="1"/>
          <p:nvPr/>
        </p:nvSpPr>
        <p:spPr>
          <a:xfrm>
            <a:off x="274320" y="3867912"/>
            <a:ext cx="3657600" cy="320040"/>
          </a:xfrm>
          <a:prstGeom prst="rect">
            <a:avLst/>
          </a:prstGeom>
          <a:noFill/>
        </p:spPr>
        <p:txBody>
          <a:bodyPr wrap="square" lIns="36576" rIns="36576" tIns="14630" bIns="14630">
            <a:spAutoFit/>
          </a:bodyPr>
          <a:lstStyle/>
          <a:p>
            <a:pPr algn="l">
              <a:defRPr sz="1400" b="1">
                <a:solidFill>
                  <a:srgbClr val="183A58"/>
                </a:solidFill>
                <a:latin typeface="Arial"/>
              </a:defRPr>
            </a:pPr>
            <a:r>
              <a:t>Chief Operating Officer</a:t>
            </a:r>
          </a:p>
        </p:txBody>
      </p:sp>
      <p:sp>
        <p:nvSpPr>
          <p:cNvPr id="11" name="TextBox 10"/>
          <p:cNvSpPr txBox="1"/>
          <p:nvPr/>
        </p:nvSpPr>
        <p:spPr>
          <a:xfrm>
            <a:off x="274320" y="4233672"/>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12+ years in multi-unit retail and bakery operations.</a:t>
            </a:r>
          </a:p>
        </p:txBody>
      </p:sp>
      <p:sp>
        <p:nvSpPr>
          <p:cNvPr id="12" name="TextBox 11"/>
          <p:cNvSpPr txBox="1"/>
          <p:nvPr/>
        </p:nvSpPr>
        <p:spPr>
          <a:xfrm>
            <a:off x="274320" y="4617720"/>
            <a:ext cx="3657600" cy="493776"/>
          </a:xfrm>
          <a:prstGeom prst="rect">
            <a:avLst/>
          </a:prstGeom>
          <a:noFill/>
        </p:spPr>
        <p:txBody>
          <a:bodyPr wrap="square" lIns="36576" rIns="36576" tIns="10972" bIns="10972"/>
          <a:lstStyle/>
          <a:p>
            <a:pPr algn="l">
              <a:lnSpc>
                <a:spcPct val="120000"/>
              </a:lnSpc>
              <a:defRPr sz="1100">
                <a:solidFill>
                  <a:srgbClr val="404040"/>
                </a:solidFill>
                <a:latin typeface="Arial"/>
              </a:defRPr>
            </a:pPr>
            <a:r>
              <a:t>• Successfully managed the integration of Breadlife into DailyCo’s group structure.</a:t>
            </a:r>
          </a:p>
        </p:txBody>
      </p:sp>
      <p:sp>
        <p:nvSpPr>
          <p:cNvPr id="13" name="TextBox 12"/>
          <p:cNvSpPr txBox="1"/>
          <p:nvPr/>
        </p:nvSpPr>
        <p:spPr>
          <a:xfrm>
            <a:off x="274320" y="5166360"/>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Specialist in team training, process improvement, and cost efficiency.</a:t>
            </a:r>
          </a:p>
        </p:txBody>
      </p:sp>
      <p:sp>
        <p:nvSpPr>
          <p:cNvPr id="14" name="TextBox 13"/>
          <p:cNvSpPr txBox="1"/>
          <p:nvPr/>
        </p:nvSpPr>
        <p:spPr>
          <a:xfrm>
            <a:off x="274320" y="5550408"/>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Former Head of Operations at a national foodservice group.</a:t>
            </a:r>
          </a:p>
        </p:txBody>
      </p:sp>
      <p:sp>
        <p:nvSpPr>
          <p:cNvPr id="15" name="TextBox 14"/>
          <p:cNvSpPr txBox="1"/>
          <p:nvPr/>
        </p:nvSpPr>
        <p:spPr>
          <a:xfrm>
            <a:off x="274320" y="5934456"/>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Holds a degree in Industrial Engineering.</a:t>
            </a:r>
          </a:p>
        </p:txBody>
      </p:sp>
      <p:sp>
        <p:nvSpPr>
          <p:cNvPr id="16" name="TextBox 15"/>
          <p:cNvSpPr txBox="1"/>
          <p:nvPr/>
        </p:nvSpPr>
        <p:spPr>
          <a:xfrm>
            <a:off x="4069080" y="1325880"/>
            <a:ext cx="3657600" cy="320040"/>
          </a:xfrm>
          <a:prstGeom prst="rect">
            <a:avLst/>
          </a:prstGeom>
          <a:noFill/>
        </p:spPr>
        <p:txBody>
          <a:bodyPr wrap="square" lIns="36576" rIns="36576" tIns="14630" bIns="14630">
            <a:spAutoFit/>
          </a:bodyPr>
          <a:lstStyle/>
          <a:p>
            <a:pPr algn="l">
              <a:defRPr sz="1400" b="1">
                <a:solidFill>
                  <a:srgbClr val="183A58"/>
                </a:solidFill>
                <a:latin typeface="Arial"/>
              </a:defRPr>
            </a:pPr>
            <a:r>
              <a:t>Chief Financial Officer</a:t>
            </a:r>
          </a:p>
        </p:txBody>
      </p:sp>
      <p:sp>
        <p:nvSpPr>
          <p:cNvPr id="17" name="TextBox 16"/>
          <p:cNvSpPr txBox="1"/>
          <p:nvPr/>
        </p:nvSpPr>
        <p:spPr>
          <a:xfrm>
            <a:off x="4069080" y="1691640"/>
            <a:ext cx="3657600" cy="493776"/>
          </a:xfrm>
          <a:prstGeom prst="rect">
            <a:avLst/>
          </a:prstGeom>
          <a:noFill/>
        </p:spPr>
        <p:txBody>
          <a:bodyPr wrap="square" lIns="36576" rIns="36576" tIns="10972" bIns="10972"/>
          <a:lstStyle/>
          <a:p>
            <a:pPr algn="l">
              <a:lnSpc>
                <a:spcPct val="120000"/>
              </a:lnSpc>
              <a:defRPr sz="1100">
                <a:solidFill>
                  <a:srgbClr val="404040"/>
                </a:solidFill>
                <a:latin typeface="Arial"/>
              </a:defRPr>
            </a:pPr>
            <a:r>
              <a:t>• 18 years’ experience in finance and corporate development in FMCG and retail sectors.</a:t>
            </a:r>
          </a:p>
        </p:txBody>
      </p:sp>
      <p:sp>
        <p:nvSpPr>
          <p:cNvPr id="18" name="TextBox 17"/>
          <p:cNvSpPr txBox="1"/>
          <p:nvPr/>
        </p:nvSpPr>
        <p:spPr>
          <a:xfrm>
            <a:off x="4069080" y="2240280"/>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Led capital raising and M&amp;A for DailyCo, including Breadlife’s acquisition.</a:t>
            </a:r>
          </a:p>
        </p:txBody>
      </p:sp>
      <p:sp>
        <p:nvSpPr>
          <p:cNvPr id="19" name="TextBox 18"/>
          <p:cNvSpPr txBox="1"/>
          <p:nvPr/>
        </p:nvSpPr>
        <p:spPr>
          <a:xfrm>
            <a:off x="4069080" y="2624328"/>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Strong background in budgeting, financial controls, and margin improvement.</a:t>
            </a:r>
          </a:p>
        </p:txBody>
      </p:sp>
      <p:sp>
        <p:nvSpPr>
          <p:cNvPr id="20" name="TextBox 19"/>
          <p:cNvSpPr txBox="1"/>
          <p:nvPr/>
        </p:nvSpPr>
        <p:spPr>
          <a:xfrm>
            <a:off x="4069080" y="3008376"/>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Former Finance Director at a major Indonesian food conglomerate.</a:t>
            </a:r>
          </a:p>
        </p:txBody>
      </p:sp>
      <p:sp>
        <p:nvSpPr>
          <p:cNvPr id="21" name="TextBox 20"/>
          <p:cNvSpPr txBox="1"/>
          <p:nvPr/>
        </p:nvSpPr>
        <p:spPr>
          <a:xfrm>
            <a:off x="4069080" y="3392424"/>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Chartered accountant (CA Indonesia).</a:t>
            </a:r>
          </a:p>
        </p:txBody>
      </p:sp>
      <p:sp>
        <p:nvSpPr>
          <p:cNvPr id="22" name="TextBox 21"/>
          <p:cNvSpPr txBox="1"/>
          <p:nvPr/>
        </p:nvSpPr>
        <p:spPr>
          <a:xfrm>
            <a:off x="4069080" y="3867912"/>
            <a:ext cx="3657600" cy="320040"/>
          </a:xfrm>
          <a:prstGeom prst="rect">
            <a:avLst/>
          </a:prstGeom>
          <a:noFill/>
        </p:spPr>
        <p:txBody>
          <a:bodyPr wrap="square" lIns="36576" rIns="36576" tIns="14630" bIns="14630">
            <a:spAutoFit/>
          </a:bodyPr>
          <a:lstStyle/>
          <a:p>
            <a:pPr algn="l">
              <a:defRPr sz="1400" b="1">
                <a:solidFill>
                  <a:srgbClr val="183A58"/>
                </a:solidFill>
                <a:latin typeface="Arial"/>
              </a:defRPr>
            </a:pPr>
            <a:r>
              <a:t>Head of Product &amp; Innovation</a:t>
            </a:r>
          </a:p>
        </p:txBody>
      </p:sp>
      <p:sp>
        <p:nvSpPr>
          <p:cNvPr id="23" name="TextBox 22"/>
          <p:cNvSpPr txBox="1"/>
          <p:nvPr/>
        </p:nvSpPr>
        <p:spPr>
          <a:xfrm>
            <a:off x="4069080" y="4233672"/>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Culinary professional with 10+ years in bakery product development.</a:t>
            </a:r>
          </a:p>
        </p:txBody>
      </p:sp>
      <p:sp>
        <p:nvSpPr>
          <p:cNvPr id="24" name="TextBox 23"/>
          <p:cNvSpPr txBox="1"/>
          <p:nvPr/>
        </p:nvSpPr>
        <p:spPr>
          <a:xfrm>
            <a:off x="4069080" y="4617720"/>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Developed Breadlife’s Japanese-style bread and cake portfolio.</a:t>
            </a:r>
          </a:p>
        </p:txBody>
      </p:sp>
      <p:sp>
        <p:nvSpPr>
          <p:cNvPr id="25" name="TextBox 24"/>
          <p:cNvSpPr txBox="1"/>
          <p:nvPr/>
        </p:nvSpPr>
        <p:spPr>
          <a:xfrm>
            <a:off x="4069080" y="5001768"/>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Former R&amp;D Head at a regional bakery chain.</a:t>
            </a:r>
          </a:p>
        </p:txBody>
      </p:sp>
      <p:sp>
        <p:nvSpPr>
          <p:cNvPr id="26" name="TextBox 25"/>
          <p:cNvSpPr txBox="1"/>
          <p:nvPr/>
        </p:nvSpPr>
        <p:spPr>
          <a:xfrm>
            <a:off x="4069080" y="5385816"/>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Expertise in menu innovation, food safety, and consumer trends.</a:t>
            </a:r>
          </a:p>
        </p:txBody>
      </p:sp>
      <p:sp>
        <p:nvSpPr>
          <p:cNvPr id="27" name="TextBox 26"/>
          <p:cNvSpPr txBox="1"/>
          <p:nvPr/>
        </p:nvSpPr>
        <p:spPr>
          <a:xfrm>
            <a:off x="4069080" y="5769864"/>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Graduate of a respected culinary institute in Jakarta.</a:t>
            </a:r>
          </a:p>
        </p:txBody>
      </p:sp>
      <p:sp>
        <p:nvSpPr>
          <p:cNvPr id="28" name="TextBox 27"/>
          <p:cNvSpPr txBox="1"/>
          <p:nvPr/>
        </p:nvSpPr>
        <p:spPr>
          <a:xfrm>
            <a:off x="365760" y="6355080"/>
            <a:ext cx="5486400" cy="365760"/>
          </a:xfrm>
          <a:prstGeom prst="rect">
            <a:avLst/>
          </a:prstGeom>
          <a:noFill/>
        </p:spPr>
        <p:txBody>
          <a:bodyPr wrap="none" lIns="45720" rIns="45720" anchor="ctr">
            <a:spAutoFit/>
          </a:bodyPr>
          <a:lstStyle/>
          <a:p>
            <a:pPr algn="l">
              <a:defRPr sz="900">
                <a:solidFill>
                  <a:srgbClr val="808080"/>
                </a:solidFill>
                <a:latin typeface="Arial"/>
              </a:defRPr>
            </a:pPr>
            <a:r>
              <a:t>Confidential | September 06, 2025</a:t>
            </a:r>
          </a:p>
        </p:txBody>
      </p:sp>
      <p:sp>
        <p:nvSpPr>
          <p:cNvPr id="29" name="TextBox 28"/>
          <p:cNvSpPr txBox="1"/>
          <p:nvPr/>
        </p:nvSpPr>
        <p:spPr>
          <a:xfrm>
            <a:off x="8686800" y="6355080"/>
            <a:ext cx="2926080" cy="365760"/>
          </a:xfrm>
          <a:prstGeom prst="rect">
            <a:avLst/>
          </a:prstGeom>
          <a:noFill/>
        </p:spPr>
        <p:txBody>
          <a:bodyPr wrap="none" lIns="45720" rIns="45720" anchor="ctr">
            <a:spAutoFit/>
          </a:bodyPr>
          <a:lstStyle/>
          <a:p>
            <a:pPr algn="r">
              <a:defRPr sz="900">
                <a:solidFill>
                  <a:srgbClr val="808080"/>
                </a:solidFill>
                <a:latin typeface="Arial"/>
              </a:defRPr>
            </a:pPr>
            <a:r>
              <a:t>Moelis &amp; Company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Growth Strategy &amp; Projections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486400" cy="274320"/>
          </a:xfrm>
          <a:prstGeom prst="rect">
            <a:avLst/>
          </a:prstGeom>
          <a:noFill/>
          <a:ln>
            <a:noFill/>
          </a:ln>
          <a:effectLst/>
        </p:spPr>
        <p:txBody>
          <a:bodyPr wrap="square">
            <a:spAutoFit/>
          </a:bodyPr>
          <a:lstStyle/>
          <a:p>
            <a:pPr algn="l"/>
            <a:r>
              <a:rPr sz="1400" b="1">
                <a:solidFill>
                  <a:srgbClr val="183A58"/>
                </a:solidFill>
                <a:latin typeface="Arial"/>
              </a:rPr>
              <a:t>Multi-Pronged Growth Strategy</a:t>
            </a:r>
          </a:p>
        </p:txBody>
      </p:sp>
      <p:sp>
        <p:nvSpPr>
          <p:cNvPr id="5" name="Oval 4"/>
          <p:cNvSpPr/>
          <p:nvPr/>
        </p:nvSpPr>
        <p:spPr>
          <a:xfrm>
            <a:off x="640080" y="164592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00200"/>
            <a:ext cx="5029200" cy="274320"/>
          </a:xfrm>
          <a:prstGeom prst="rect">
            <a:avLst/>
          </a:prstGeom>
          <a:noFill/>
          <a:ln>
            <a:noFill/>
          </a:ln>
          <a:effectLst/>
        </p:spPr>
        <p:txBody>
          <a:bodyPr wrap="square">
            <a:spAutoFit/>
          </a:bodyPr>
          <a:lstStyle/>
          <a:p>
            <a:pPr algn="l"/>
            <a:r>
              <a:rPr sz="900" b="0">
                <a:solidFill>
                  <a:srgbClr val="404040"/>
                </a:solidFill>
                <a:latin typeface="Arial"/>
              </a:rPr>
              <a:t>Accelerated outlet expansion in high-traffic urban and transit locations, targeting 30+ new stores annually.</a:t>
            </a:r>
          </a:p>
        </p:txBody>
      </p:sp>
      <p:sp>
        <p:nvSpPr>
          <p:cNvPr id="7" name="Oval 6"/>
          <p:cNvSpPr/>
          <p:nvPr/>
        </p:nvSpPr>
        <p:spPr>
          <a:xfrm>
            <a:off x="640080" y="196596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5029200" cy="274320"/>
          </a:xfrm>
          <a:prstGeom prst="rect">
            <a:avLst/>
          </a:prstGeom>
          <a:noFill/>
          <a:ln>
            <a:noFill/>
          </a:ln>
          <a:effectLst/>
        </p:spPr>
        <p:txBody>
          <a:bodyPr wrap="square">
            <a:spAutoFit/>
          </a:bodyPr>
          <a:lstStyle/>
          <a:p>
            <a:pPr algn="l"/>
            <a:r>
              <a:rPr sz="900" b="0">
                <a:solidFill>
                  <a:srgbClr val="404040"/>
                </a:solidFill>
                <a:latin typeface="Arial"/>
              </a:rPr>
              <a:t>Launch of health-focused and premium product lines (whole-grain, multigrain, gluten-free, low-sugar).</a:t>
            </a:r>
          </a:p>
        </p:txBody>
      </p:sp>
      <p:sp>
        <p:nvSpPr>
          <p:cNvPr id="9" name="Oval 8"/>
          <p:cNvSpPr/>
          <p:nvPr/>
        </p:nvSpPr>
        <p:spPr>
          <a:xfrm>
            <a:off x="640080" y="228600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40280"/>
            <a:ext cx="5029200" cy="274320"/>
          </a:xfrm>
          <a:prstGeom prst="rect">
            <a:avLst/>
          </a:prstGeom>
          <a:noFill/>
          <a:ln>
            <a:noFill/>
          </a:ln>
          <a:effectLst/>
        </p:spPr>
        <p:txBody>
          <a:bodyPr wrap="square">
            <a:spAutoFit/>
          </a:bodyPr>
          <a:lstStyle/>
          <a:p>
            <a:pPr algn="l"/>
            <a:r>
              <a:rPr sz="900" b="0">
                <a:solidFill>
                  <a:srgbClr val="404040"/>
                </a:solidFill>
                <a:latin typeface="Arial"/>
              </a:rPr>
              <a:t>Investment in digital engagement (loyalty, e-commerce) and B2B sales growth.</a:t>
            </a:r>
          </a:p>
        </p:txBody>
      </p:sp>
      <p:graphicFrame>
        <p:nvGraphicFramePr>
          <p:cNvPr id="11" name="Chart 10"/>
          <p:cNvGraphicFramePr>
            <a:graphicFrameLocks noGrp="1"/>
          </p:cNvGraphicFramePr>
          <p:nvPr/>
        </p:nvGraphicFramePr>
        <p:xfrm>
          <a:off x="6858000" y="1280160"/>
          <a:ext cx="5029200" cy="2011680"/>
        </p:xfrm>
        <a:graphic>
          <a:graphicData uri="http://schemas.openxmlformats.org/drawingml/2006/chart">
            <c:chart xmlns:c="http://schemas.openxmlformats.org/drawingml/2006/chart" r:id="rId2"/>
          </a:graphicData>
        </a:graphic>
      </p:graphicFrame>
      <p:sp>
        <p:nvSpPr>
          <p:cNvPr id="12" name="TextBox 11"/>
          <p:cNvSpPr txBox="1"/>
          <p:nvPr/>
        </p:nvSpPr>
        <p:spPr>
          <a:xfrm>
            <a:off x="6858000" y="3291840"/>
            <a:ext cx="5029200" cy="182880"/>
          </a:xfrm>
          <a:prstGeom prst="rect">
            <a:avLst/>
          </a:prstGeom>
          <a:noFill/>
          <a:ln>
            <a:noFill/>
          </a:ln>
          <a:effectLst/>
        </p:spPr>
        <p:txBody>
          <a:bodyPr wrap="square">
            <a:spAutoFit/>
          </a:bodyPr>
          <a:lstStyle/>
          <a:p>
            <a:pPr algn="l"/>
            <a:r>
              <a:rPr sz="1200" b="1">
                <a:solidFill>
                  <a:srgbClr val="183A58"/>
                </a:solidFill>
                <a:latin typeface="Arial"/>
              </a:rPr>
              <a:t>Revenue &amp; EBITDA Projections</a:t>
            </a:r>
          </a:p>
        </p:txBody>
      </p:sp>
      <p:sp>
        <p:nvSpPr>
          <p:cNvPr id="13" name="TextBox 12"/>
          <p:cNvSpPr txBox="1"/>
          <p:nvPr/>
        </p:nvSpPr>
        <p:spPr>
          <a:xfrm>
            <a:off x="6858000" y="3566160"/>
            <a:ext cx="5029200" cy="182880"/>
          </a:xfrm>
          <a:prstGeom prst="rect">
            <a:avLst/>
          </a:prstGeom>
          <a:noFill/>
          <a:ln>
            <a:noFill/>
          </a:ln>
          <a:effectLst/>
        </p:spPr>
        <p:txBody>
          <a:bodyPr wrap="square">
            <a:spAutoFit/>
          </a:bodyPr>
          <a:lstStyle/>
          <a:p>
            <a:pPr algn="l"/>
            <a:r>
              <a:rPr sz="1000" b="0">
                <a:solidFill>
                  <a:srgbClr val="404040"/>
                </a:solidFill>
                <a:latin typeface="Arial"/>
              </a:rPr>
              <a:t>■ Revenue (USD millions)  ■ EBITDA (USD millions)</a:t>
            </a:r>
          </a:p>
        </p:txBody>
      </p:sp>
      <p:sp>
        <p:nvSpPr>
          <p:cNvPr id="14" name="TextBox 13"/>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15" name="TextBox 14"/>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Competitive Positioning</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86400" cy="274320"/>
          </a:xfrm>
          <a:prstGeom prst="rect">
            <a:avLst/>
          </a:prstGeom>
          <a:noFill/>
          <a:ln>
            <a:noFill/>
          </a:ln>
          <a:effectLst/>
        </p:spPr>
        <p:txBody>
          <a:bodyPr wrap="square">
            <a:spAutoFit/>
          </a:bodyPr>
          <a:lstStyle/>
          <a:p>
            <a:pPr algn="l"/>
            <a:r>
              <a:rPr sz="1400" b="1">
                <a:solidFill>
                  <a:srgbClr val="183A58"/>
                </a:solidFill>
                <a:latin typeface="Arial"/>
              </a:rPr>
              <a:t>Revenue Comparison vs. Competitors</a:t>
            </a:r>
          </a:p>
        </p:txBody>
      </p:sp>
      <p:graphicFrame>
        <p:nvGraphicFramePr>
          <p:cNvPr id="5" name="Chart 4"/>
          <p:cNvGraphicFramePr>
            <a:graphicFrameLocks noGrp="1"/>
          </p:cNvGraphicFramePr>
          <p:nvPr/>
        </p:nvGraphicFramePr>
        <p:xfrm>
          <a:off x="457200" y="1554480"/>
          <a:ext cx="5486400" cy="2286000"/>
        </p:xfrm>
        <a:graphic>
          <a:graphicData uri="http://schemas.openxmlformats.org/drawingml/2006/chart">
            <c:chart xmlns:c="http://schemas.openxmlformats.org/drawingml/2006/chart" r:id="rId2"/>
          </a:graphicData>
        </a:graphic>
      </p:graphicFrame>
      <p:sp>
        <p:nvSpPr>
          <p:cNvPr id="6" name="TextBox 5"/>
          <p:cNvSpPr txBox="1"/>
          <p:nvPr/>
        </p:nvSpPr>
        <p:spPr>
          <a:xfrm>
            <a:off x="6858000" y="1188720"/>
            <a:ext cx="5029200" cy="274320"/>
          </a:xfrm>
          <a:prstGeom prst="rect">
            <a:avLst/>
          </a:prstGeom>
          <a:noFill/>
          <a:ln>
            <a:noFill/>
          </a:ln>
          <a:effectLst/>
        </p:spPr>
        <p:txBody>
          <a:bodyPr wrap="square">
            <a:spAutoFit/>
          </a:bodyPr>
          <a:lstStyle/>
          <a:p>
            <a:pPr algn="l"/>
            <a:r>
              <a:rPr sz="1400" b="1">
                <a:solidFill>
                  <a:srgbClr val="183A58"/>
                </a:solidFill>
                <a:latin typeface="Arial"/>
              </a:rPr>
              <a:t>Competitive Assessment</a:t>
            </a:r>
          </a:p>
        </p:txBody>
      </p:sp>
      <p:graphicFrame>
        <p:nvGraphicFramePr>
          <p:cNvPr id="7" name="Table 6"/>
          <p:cNvGraphicFramePr>
            <a:graphicFrameLocks noGrp="1"/>
          </p:cNvGraphicFramePr>
          <p:nvPr/>
        </p:nvGraphicFramePr>
        <p:xfrm>
          <a:off x="6858000" y="1554480"/>
          <a:ext cx="3566160" cy="1371600"/>
        </p:xfrm>
        <a:graphic>
          <a:graphicData uri="http://schemas.openxmlformats.org/drawingml/2006/table">
            <a:tbl>
              <a:tblPr firstRow="1" bandRow="1">
                <a:tableStyleId>{5C22544A-7EE6-4342-B048-85BDC9FD1C3A}</a:tableStyleId>
              </a:tblPr>
              <a:tblGrid>
                <a:gridCol w="1371600"/>
                <a:gridCol w="731520"/>
                <a:gridCol w="640080"/>
                <a:gridCol w="822960"/>
              </a:tblGrid>
              <a:tr h="274320">
                <a:tc>
                  <a:txBody>
                    <a:bodyPr/>
                    <a:lstStyle/>
                    <a:p>
                      <a:pPr algn="ctr"/>
                      <a:r>
                        <a:rPr sz="800" b="1">
                          <a:solidFill>
                            <a:srgbClr val="FFFFFF"/>
                          </a:solidFill>
                          <a:latin typeface="Arial"/>
                        </a:rPr>
                        <a:t>category</a:t>
                      </a:r>
                    </a:p>
                  </a:txBody>
                  <a:tcPr marL="45720" marR="45720" marT="45720" marB="45720">
                    <a:solidFill>
                      <a:srgbClr val="183A58"/>
                    </a:solidFill>
                  </a:tcPr>
                </a:tc>
                <a:tc>
                  <a:txBody>
                    <a:bodyPr/>
                    <a:lstStyle/>
                    <a:p>
                      <a:pPr algn="ctr"/>
                      <a:r>
                        <a:rPr sz="800" b="1">
                          <a:solidFill>
                            <a:srgbClr val="FFFFFF"/>
                          </a:solidFill>
                          <a:latin typeface="Arial"/>
                        </a:rPr>
                        <a:t>our_company</a:t>
                      </a:r>
                    </a:p>
                  </a:txBody>
                  <a:tcPr marL="45720" marR="45720" marT="45720" marB="45720">
                    <a:solidFill>
                      <a:srgbClr val="183A58"/>
                    </a:solidFill>
                  </a:tcPr>
                </a:tc>
                <a:tc>
                  <a:txBody>
                    <a:bodyPr/>
                    <a:lstStyle/>
                    <a:p>
                      <a:pPr algn="ctr"/>
                      <a:r>
                        <a:rPr sz="800" b="1">
                          <a:solidFill>
                            <a:srgbClr val="FFFFFF"/>
                          </a:solidFill>
                          <a:latin typeface="Arial"/>
                        </a:rPr>
                        <a:t>competitor_a</a:t>
                      </a:r>
                    </a:p>
                  </a:txBody>
                  <a:tcPr marL="45720" marR="45720" marT="45720" marB="45720">
                    <a:solidFill>
                      <a:srgbClr val="183A58"/>
                    </a:solidFill>
                  </a:tcPr>
                </a:tc>
                <a:tc>
                  <a:txBody>
                    <a:bodyPr/>
                    <a:lstStyle/>
                    <a:p>
                      <a:pPr algn="ctr"/>
                      <a:r>
                        <a:rPr sz="800" b="1">
                          <a:solidFill>
                            <a:srgbClr val="FFFFFF"/>
                          </a:solidFill>
                          <a:latin typeface="Arial"/>
                        </a:rPr>
                        <a:t>competitor_b</a:t>
                      </a:r>
                    </a:p>
                  </a:txBody>
                  <a:tcPr marL="45720" marR="45720" marT="45720" marB="45720">
                    <a:solidFill>
                      <a:srgbClr val="183A58"/>
                    </a:solidFill>
                  </a:tcPr>
                </a:tc>
              </a:tr>
              <a:tr h="274320">
                <a:tc>
                  <a:txBody>
                    <a:bodyPr/>
                    <a:lstStyle/>
                    <a:p>
                      <a:pPr algn="ctr"/>
                      <a:r>
                        <a:rPr sz="800">
                          <a:solidFill>
                            <a:srgbClr val="183A58"/>
                          </a:solidFill>
                          <a:latin typeface="Arial"/>
                        </a:rPr>
                        <a:t>category</a:t>
                      </a:r>
                    </a:p>
                  </a:txBody>
                  <a:tcPr marL="45720" marR="45720" marT="45720" marB="45720">
                    <a:solidFill>
                      <a:srgbClr val="F0F0F0"/>
                    </a:solidFill>
                  </a:tcPr>
                </a:tc>
                <a:tc>
                  <a:txBody>
                    <a:bodyPr/>
                    <a:lstStyle/>
                    <a:p>
                      <a:pPr algn="ctr"/>
                      <a:r>
                        <a:rPr sz="800">
                          <a:solidFill>
                            <a:srgbClr val="183A58"/>
                          </a:solidFill>
                          <a:latin typeface="Arial"/>
                        </a:rPr>
                        <a:t>our_company</a:t>
                      </a:r>
                    </a:p>
                  </a:txBody>
                  <a:tcPr marL="45720" marR="45720" marT="45720" marB="45720">
                    <a:solidFill>
                      <a:srgbClr val="F0F0F0"/>
                    </a:solidFill>
                  </a:tcPr>
                </a:tc>
                <a:tc>
                  <a:txBody>
                    <a:bodyPr/>
                    <a:lstStyle/>
                    <a:p>
                      <a:pPr algn="ctr"/>
                      <a:r>
                        <a:rPr sz="800">
                          <a:solidFill>
                            <a:srgbClr val="183A58"/>
                          </a:solidFill>
                          <a:latin typeface="Arial"/>
                        </a:rPr>
                        <a:t>competitor_a</a:t>
                      </a:r>
                    </a:p>
                  </a:txBody>
                  <a:tcPr marL="45720" marR="45720" marT="45720" marB="45720">
                    <a:solidFill>
                      <a:srgbClr val="F0F0F0"/>
                    </a:solidFill>
                  </a:tcPr>
                </a:tc>
                <a:tc>
                  <a:txBody>
                    <a:bodyPr/>
                    <a:lstStyle/>
                    <a:p>
                      <a:pPr algn="ctr"/>
                      <a:r>
                        <a:rPr sz="800">
                          <a:solidFill>
                            <a:srgbClr val="183A58"/>
                          </a:solidFill>
                          <a:latin typeface="Arial"/>
                        </a:rPr>
                        <a:t>competitor_b</a:t>
                      </a:r>
                    </a:p>
                  </a:txBody>
                  <a:tcPr marL="45720" marR="45720" marT="45720" marB="45720">
                    <a:solidFill>
                      <a:srgbClr val="F0F0F0"/>
                    </a:solidFill>
                  </a:tcPr>
                </a:tc>
              </a:tr>
              <a:tr h="274320">
                <a:tc>
                  <a:txBody>
                    <a:bodyPr/>
                    <a:lstStyle/>
                    <a:p>
                      <a:pPr algn="ctr"/>
                      <a:r>
                        <a:rPr sz="800">
                          <a:solidFill>
                            <a:srgbClr val="404040"/>
                          </a:solidFill>
                          <a:latin typeface="Arial"/>
                        </a:rPr>
                        <a:t>category</a:t>
                      </a:r>
                    </a:p>
                  </a:txBody>
                  <a:tcPr marL="45720" marR="45720" marT="45720" marB="45720">
                    <a:solidFill>
                      <a:srgbClr val="F0F0F0"/>
                    </a:solidFill>
                  </a:tcPr>
                </a:tc>
                <a:tc>
                  <a:txBody>
                    <a:bodyPr/>
                    <a:lstStyle/>
                    <a:p>
                      <a:pPr algn="ctr"/>
                      <a:r>
                        <a:rPr sz="800">
                          <a:solidFill>
                            <a:srgbClr val="404040"/>
                          </a:solidFill>
                          <a:latin typeface="Arial"/>
                        </a:rPr>
                        <a:t>our_company</a:t>
                      </a:r>
                    </a:p>
                  </a:txBody>
                  <a:tcPr marL="45720" marR="45720" marT="45720" marB="45720">
                    <a:solidFill>
                      <a:srgbClr val="F0F0F0"/>
                    </a:solidFill>
                  </a:tcPr>
                </a:tc>
                <a:tc>
                  <a:txBody>
                    <a:bodyPr/>
                    <a:lstStyle/>
                    <a:p>
                      <a:pPr algn="ctr"/>
                      <a:r>
                        <a:rPr sz="800">
                          <a:solidFill>
                            <a:srgbClr val="404040"/>
                          </a:solidFill>
                          <a:latin typeface="Arial"/>
                        </a:rPr>
                        <a:t>competitor_a</a:t>
                      </a:r>
                    </a:p>
                  </a:txBody>
                  <a:tcPr marL="45720" marR="45720" marT="45720" marB="45720">
                    <a:solidFill>
                      <a:srgbClr val="F0F0F0"/>
                    </a:solidFill>
                  </a:tcPr>
                </a:tc>
                <a:tc>
                  <a:txBody>
                    <a:bodyPr/>
                    <a:lstStyle/>
                    <a:p>
                      <a:pPr algn="ctr"/>
                      <a:r>
                        <a:rPr sz="800">
                          <a:solidFill>
                            <a:srgbClr val="404040"/>
                          </a:solidFill>
                          <a:latin typeface="Arial"/>
                        </a:rPr>
                        <a:t>competitor_b</a:t>
                      </a:r>
                    </a:p>
                  </a:txBody>
                  <a:tcPr marL="45720" marR="45720" marT="45720" marB="45720">
                    <a:solidFill>
                      <a:srgbClr val="F0F0F0"/>
                    </a:solidFill>
                  </a:tcPr>
                </a:tc>
              </a:tr>
              <a:tr h="274320">
                <a:tc>
                  <a:txBody>
                    <a:bodyPr/>
                    <a:lstStyle/>
                    <a:p>
                      <a:pPr algn="ctr"/>
                      <a:r>
                        <a:rPr sz="800">
                          <a:solidFill>
                            <a:srgbClr val="404040"/>
                          </a:solidFill>
                          <a:latin typeface="Arial"/>
                        </a:rPr>
                        <a:t>category</a:t>
                      </a:r>
                    </a:p>
                  </a:txBody>
                  <a:tcPr marL="45720" marR="45720" marT="45720" marB="45720"/>
                </a:tc>
                <a:tc>
                  <a:txBody>
                    <a:bodyPr/>
                    <a:lstStyle/>
                    <a:p>
                      <a:pPr algn="ctr"/>
                      <a:r>
                        <a:rPr sz="800">
                          <a:solidFill>
                            <a:srgbClr val="404040"/>
                          </a:solidFill>
                          <a:latin typeface="Arial"/>
                        </a:rPr>
                        <a:t>our_company</a:t>
                      </a:r>
                    </a:p>
                  </a:txBody>
                  <a:tcPr marL="45720" marR="45720" marT="45720" marB="45720"/>
                </a:tc>
                <a:tc>
                  <a:txBody>
                    <a:bodyPr/>
                    <a:lstStyle/>
                    <a:p>
                      <a:pPr algn="ctr"/>
                      <a:r>
                        <a:rPr sz="800">
                          <a:solidFill>
                            <a:srgbClr val="404040"/>
                          </a:solidFill>
                          <a:latin typeface="Arial"/>
                        </a:rPr>
                        <a:t>competitor_a</a:t>
                      </a:r>
                    </a:p>
                  </a:txBody>
                  <a:tcPr marL="45720" marR="45720" marT="45720" marB="45720"/>
                </a:tc>
                <a:tc>
                  <a:txBody>
                    <a:bodyPr/>
                    <a:lstStyle/>
                    <a:p>
                      <a:pPr algn="ctr"/>
                      <a:r>
                        <a:rPr sz="800">
                          <a:solidFill>
                            <a:srgbClr val="404040"/>
                          </a:solidFill>
                          <a:latin typeface="Arial"/>
                        </a:rPr>
                        <a:t>competitor_b</a:t>
                      </a:r>
                    </a:p>
                  </a:txBody>
                  <a:tcPr marL="45720" marR="45720" marT="45720" marB="45720"/>
                </a:tc>
              </a:tr>
              <a:tr h="274320">
                <a:tc>
                  <a:txBody>
                    <a:bodyPr/>
                    <a:lstStyle/>
                    <a:p>
                      <a:pPr algn="ctr"/>
                      <a:r>
                        <a:rPr sz="800">
                          <a:solidFill>
                            <a:srgbClr val="404040"/>
                          </a:solidFill>
                          <a:latin typeface="Arial"/>
                        </a:rPr>
                        <a:t>category</a:t>
                      </a:r>
                    </a:p>
                  </a:txBody>
                  <a:tcPr marL="45720" marR="45720" marT="45720" marB="45720">
                    <a:solidFill>
                      <a:srgbClr val="F0F0F0"/>
                    </a:solidFill>
                  </a:tcPr>
                </a:tc>
                <a:tc>
                  <a:txBody>
                    <a:bodyPr/>
                    <a:lstStyle/>
                    <a:p>
                      <a:pPr algn="ctr"/>
                      <a:r>
                        <a:rPr sz="800">
                          <a:solidFill>
                            <a:srgbClr val="404040"/>
                          </a:solidFill>
                          <a:latin typeface="Arial"/>
                        </a:rPr>
                        <a:t>our_company</a:t>
                      </a:r>
                    </a:p>
                  </a:txBody>
                  <a:tcPr marL="45720" marR="45720" marT="45720" marB="45720">
                    <a:solidFill>
                      <a:srgbClr val="F0F0F0"/>
                    </a:solidFill>
                  </a:tcPr>
                </a:tc>
                <a:tc>
                  <a:txBody>
                    <a:bodyPr/>
                    <a:lstStyle/>
                    <a:p>
                      <a:pPr algn="ctr"/>
                      <a:r>
                        <a:rPr sz="800">
                          <a:solidFill>
                            <a:srgbClr val="404040"/>
                          </a:solidFill>
                          <a:latin typeface="Arial"/>
                        </a:rPr>
                        <a:t>competitor_a</a:t>
                      </a:r>
                    </a:p>
                  </a:txBody>
                  <a:tcPr marL="45720" marR="45720" marT="45720" marB="45720">
                    <a:solidFill>
                      <a:srgbClr val="F0F0F0"/>
                    </a:solidFill>
                  </a:tcPr>
                </a:tc>
                <a:tc>
                  <a:txBody>
                    <a:bodyPr/>
                    <a:lstStyle/>
                    <a:p>
                      <a:pPr algn="ctr"/>
                      <a:r>
                        <a:rPr sz="800">
                          <a:solidFill>
                            <a:srgbClr val="404040"/>
                          </a:solidFill>
                          <a:latin typeface="Arial"/>
                        </a:rPr>
                        <a:t>competitor_b</a:t>
                      </a:r>
                    </a:p>
                  </a:txBody>
                  <a:tcPr marL="45720" marR="45720" marT="45720" marB="45720">
                    <a:solidFill>
                      <a:srgbClr val="F0F0F0"/>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31520"/>
            <a:ext cx="10515600" cy="1371600"/>
          </a:xfrm>
          <a:prstGeom prst="rect">
            <a:avLst/>
          </a:prstGeom>
          <a:noFill/>
        </p:spPr>
        <p:txBody>
          <a:bodyPr wrap="none">
            <a:spAutoFit/>
          </a:bodyPr>
          <a:lstStyle/>
          <a:p>
            <a:pPr algn="l"/>
            <a:r>
              <a:rPr sz="1400"/>
              <a:t>Renderer error: column index [4] out of range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Valuation Overview</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05840"/>
            <a:ext cx="10241280" cy="228600"/>
          </a:xfrm>
          <a:prstGeom prst="rect">
            <a:avLst/>
          </a:prstGeom>
          <a:noFill/>
        </p:spPr>
        <p:txBody>
          <a:bodyPr wrap="none" lIns="45720" rIns="45720">
            <a:spAutoFit/>
          </a:bodyPr>
          <a:lstStyle/>
          <a:p>
            <a:pPr algn="ctr">
              <a:defRPr sz="1100" b="1">
                <a:solidFill>
                  <a:srgbClr val="183A58"/>
                </a:solidFill>
                <a:latin typeface="Arial"/>
              </a:defRPr>
            </a:pPr>
            <a:r>
              <a:t>Implied EV/Post IRFS-16 EBITDA</a:t>
            </a:r>
          </a:p>
        </p:txBody>
      </p:sp>
      <p:sp>
        <p:nvSpPr>
          <p:cNvPr id="5" name="Rectangle 4"/>
          <p:cNvSpPr/>
          <p:nvPr/>
        </p:nvSpPr>
        <p:spPr>
          <a:xfrm>
            <a:off x="1097280" y="1280160"/>
            <a:ext cx="201168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280160"/>
            <a:ext cx="2011680" cy="457200"/>
          </a:xfrm>
          <a:prstGeom prst="rect">
            <a:avLst/>
          </a:prstGeom>
          <a:noFill/>
        </p:spPr>
        <p:txBody>
          <a:bodyPr wrap="none" anchor="ctr" lIns="73152" rIns="73152">
            <a:spAutoFit/>
          </a:bodyPr>
          <a:lstStyle/>
          <a:p>
            <a:pPr algn="ctr">
              <a:defRPr sz="1400" b="1">
                <a:solidFill>
                  <a:srgbClr val="FFFFFF"/>
                </a:solidFill>
                <a:latin typeface="Arial"/>
              </a:defRPr>
            </a:pPr>
            <a:r>
              <a:t>Methodology</a:t>
            </a:r>
          </a:p>
        </p:txBody>
      </p:sp>
      <p:sp>
        <p:nvSpPr>
          <p:cNvPr id="7" name="Rectangle 6"/>
          <p:cNvSpPr/>
          <p:nvPr/>
        </p:nvSpPr>
        <p:spPr>
          <a:xfrm>
            <a:off x="3108960" y="1280160"/>
            <a:ext cx="329184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08960" y="1280160"/>
            <a:ext cx="3291840" cy="457200"/>
          </a:xfrm>
          <a:prstGeom prst="rect">
            <a:avLst/>
          </a:prstGeom>
          <a:noFill/>
        </p:spPr>
        <p:txBody>
          <a:bodyPr wrap="none" anchor="ctr" lIns="73152" rIns="73152">
            <a:spAutoFit/>
          </a:bodyPr>
          <a:lstStyle/>
          <a:p>
            <a:pPr algn="ctr">
              <a:defRPr sz="1400" b="1">
                <a:solidFill>
                  <a:srgbClr val="FFFFFF"/>
                </a:solidFill>
                <a:latin typeface="Arial"/>
              </a:defRPr>
            </a:pPr>
            <a:r>
              <a:t>Commentary</a:t>
            </a:r>
          </a:p>
        </p:txBody>
      </p:sp>
      <p:sp>
        <p:nvSpPr>
          <p:cNvPr id="9" name="Rectangle 8"/>
          <p:cNvSpPr/>
          <p:nvPr/>
        </p:nvSpPr>
        <p:spPr>
          <a:xfrm>
            <a:off x="6400800" y="1280160"/>
            <a:ext cx="164592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280160"/>
            <a:ext cx="1645920" cy="457200"/>
          </a:xfrm>
          <a:prstGeom prst="rect">
            <a:avLst/>
          </a:prstGeom>
          <a:noFill/>
        </p:spPr>
        <p:txBody>
          <a:bodyPr wrap="none" anchor="ctr" lIns="73152" rIns="73152">
            <a:spAutoFit/>
          </a:bodyPr>
          <a:lstStyle/>
          <a:p>
            <a:pPr algn="ctr">
              <a:defRPr sz="1400" b="1">
                <a:solidFill>
                  <a:srgbClr val="FFFFFF"/>
                </a:solidFill>
                <a:latin typeface="Arial"/>
              </a:defRPr>
            </a:pPr>
            <a:r>
              <a:t>Enterprise Value</a:t>
            </a:r>
          </a:p>
        </p:txBody>
      </p:sp>
      <p:sp>
        <p:nvSpPr>
          <p:cNvPr id="11" name="Rectangle 10"/>
          <p:cNvSpPr/>
          <p:nvPr/>
        </p:nvSpPr>
        <p:spPr>
          <a:xfrm>
            <a:off x="8046720" y="1280160"/>
            <a:ext cx="146304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1280160"/>
            <a:ext cx="1463040" cy="457200"/>
          </a:xfrm>
          <a:prstGeom prst="rect">
            <a:avLst/>
          </a:prstGeom>
          <a:noFill/>
        </p:spPr>
        <p:txBody>
          <a:bodyPr wrap="none" anchor="ctr" lIns="73152" rIns="73152">
            <a:spAutoFit/>
          </a:bodyPr>
          <a:lstStyle/>
          <a:p>
            <a:pPr algn="ctr">
              <a:defRPr sz="1400" b="1">
                <a:solidFill>
                  <a:srgbClr val="FFFFFF"/>
                </a:solidFill>
                <a:latin typeface="Arial"/>
              </a:defRPr>
            </a:pPr>
            <a:r>
              <a:t>Metric</a:t>
            </a:r>
          </a:p>
        </p:txBody>
      </p:sp>
      <p:sp>
        <p:nvSpPr>
          <p:cNvPr id="13" name="Rectangle 12"/>
          <p:cNvSpPr/>
          <p:nvPr/>
        </p:nvSpPr>
        <p:spPr>
          <a:xfrm>
            <a:off x="9509760" y="1280160"/>
            <a:ext cx="91440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0" y="1280160"/>
            <a:ext cx="914400" cy="457200"/>
          </a:xfrm>
          <a:prstGeom prst="rect">
            <a:avLst/>
          </a:prstGeom>
          <a:noFill/>
        </p:spPr>
        <p:txBody>
          <a:bodyPr wrap="none" anchor="ctr" lIns="73152" rIns="73152">
            <a:spAutoFit/>
          </a:bodyPr>
          <a:lstStyle/>
          <a:p>
            <a:pPr algn="ctr">
              <a:defRPr sz="1400" b="1">
                <a:solidFill>
                  <a:srgbClr val="FFFFFF"/>
                </a:solidFill>
                <a:latin typeface="Arial"/>
              </a:defRPr>
            </a:pPr>
            <a:r>
              <a:t>22A'</a:t>
            </a:r>
          </a:p>
        </p:txBody>
      </p:sp>
      <p:sp>
        <p:nvSpPr>
          <p:cNvPr id="15" name="Rectangle 14"/>
          <p:cNvSpPr/>
          <p:nvPr/>
        </p:nvSpPr>
        <p:spPr>
          <a:xfrm>
            <a:off x="10424160" y="1280160"/>
            <a:ext cx="91440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0" y="1280160"/>
            <a:ext cx="914400" cy="457200"/>
          </a:xfrm>
          <a:prstGeom prst="rect">
            <a:avLst/>
          </a:prstGeom>
          <a:noFill/>
        </p:spPr>
        <p:txBody>
          <a:bodyPr wrap="none" anchor="ctr" lIns="73152" rIns="73152">
            <a:spAutoFit/>
          </a:bodyPr>
          <a:lstStyle/>
          <a:p>
            <a:pPr algn="ctr">
              <a:defRPr sz="1400" b="1">
                <a:solidFill>
                  <a:srgbClr val="FFFFFF"/>
                </a:solidFill>
                <a:latin typeface="Arial"/>
              </a:defRPr>
            </a:pPr>
            <a:r>
              <a:t>23E (Rev)</a:t>
            </a:r>
          </a:p>
        </p:txBody>
      </p:sp>
      <p:sp>
        <p:nvSpPr>
          <p:cNvPr id="17" name="Rectangle 16"/>
          <p:cNvSpPr/>
          <p:nvPr/>
        </p:nvSpPr>
        <p:spPr>
          <a:xfrm>
            <a:off x="1097280" y="1737360"/>
            <a:ext cx="2011680" cy="1097280"/>
          </a:xfrm>
          <a:prstGeom prst="rect">
            <a:avLst/>
          </a:prstGeom>
          <a:solidFill>
            <a:srgbClr val="183A58"/>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1737360"/>
            <a:ext cx="2011680" cy="1097280"/>
          </a:xfrm>
          <a:prstGeom prst="rect">
            <a:avLst/>
          </a:prstGeom>
          <a:noFill/>
        </p:spPr>
        <p:txBody>
          <a:bodyPr wrap="square" anchor="ctr" tIns="73152" bIns="73152"/>
          <a:lstStyle/>
          <a:p>
            <a:pPr algn="ctr">
              <a:lnSpc>
                <a:spcPct val="110000"/>
              </a:lnSpc>
              <a:defRPr sz="900" b="1">
                <a:solidFill>
                  <a:srgbClr val="FFFFFF"/>
                </a:solidFill>
                <a:latin typeface="Arial"/>
              </a:defRPr>
            </a:pPr>
            <a:r>
              <a:t>Comparable Public</a:t>
            </a:r>
            <a:br/>
            <a:r>
              <a:t>Companies</a:t>
            </a:r>
          </a:p>
        </p:txBody>
      </p:sp>
      <p:sp>
        <p:nvSpPr>
          <p:cNvPr id="19" name="Rectangle 18"/>
          <p:cNvSpPr/>
          <p:nvPr/>
        </p:nvSpPr>
        <p:spPr>
          <a:xfrm>
            <a:off x="3108960" y="1737360"/>
            <a:ext cx="3291840" cy="1097280"/>
          </a:xfrm>
          <a:prstGeom prst="rect">
            <a:avLst/>
          </a:prstGeom>
          <a:solidFill>
            <a:srgbClr val="F0F0F0"/>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737360"/>
            <a:ext cx="3291840" cy="1097280"/>
          </a:xfrm>
          <a:prstGeom prst="rect">
            <a:avLst/>
          </a:prstGeom>
          <a:noFill/>
        </p:spPr>
        <p:txBody>
          <a:bodyPr wrap="square" anchor="ctr" tIns="73152" bIns="73152"/>
          <a:lstStyle/>
          <a:p>
            <a:pPr algn="l">
              <a:lnSpc>
                <a:spcPct val="110000"/>
              </a:lnSpc>
              <a:defRPr sz="800" b="0">
                <a:solidFill>
                  <a:srgbClr val="404040"/>
                </a:solidFill>
                <a:latin typeface="Arial"/>
              </a:defRPr>
            </a:pPr>
            <a:r>
              <a:t>Based on Sari Roti, BreadTalk, and regional</a:t>
            </a:r>
            <a:br/>
            <a:r>
              <a:t>bakery peers. Breadlife’s growth outpaces</a:t>
            </a:r>
            <a:br/>
            <a:r>
              <a:t>most peers.</a:t>
            </a:r>
          </a:p>
        </p:txBody>
      </p:sp>
      <p:sp>
        <p:nvSpPr>
          <p:cNvPr id="21" name="Rectangle 20"/>
          <p:cNvSpPr/>
          <p:nvPr/>
        </p:nvSpPr>
        <p:spPr>
          <a:xfrm>
            <a:off x="6400800" y="1737360"/>
            <a:ext cx="164592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1737360"/>
            <a:ext cx="164592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US$420M</a:t>
            </a:r>
          </a:p>
        </p:txBody>
      </p:sp>
      <p:sp>
        <p:nvSpPr>
          <p:cNvPr id="23" name="Rectangle 22"/>
          <p:cNvSpPr/>
          <p:nvPr/>
        </p:nvSpPr>
        <p:spPr>
          <a:xfrm>
            <a:off x="8046720" y="1737360"/>
            <a:ext cx="146304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0" y="1737360"/>
            <a:ext cx="146304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EV/EBITDA</a:t>
            </a:r>
          </a:p>
        </p:txBody>
      </p:sp>
      <p:sp>
        <p:nvSpPr>
          <p:cNvPr id="25" name="Rectangle 24"/>
          <p:cNvSpPr/>
          <p:nvPr/>
        </p:nvSpPr>
        <p:spPr>
          <a:xfrm>
            <a:off x="9509760" y="173736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0" y="173736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13.5x</a:t>
            </a:r>
          </a:p>
        </p:txBody>
      </p:sp>
      <p:sp>
        <p:nvSpPr>
          <p:cNvPr id="27" name="Rectangle 26"/>
          <p:cNvSpPr/>
          <p:nvPr/>
        </p:nvSpPr>
        <p:spPr>
          <a:xfrm>
            <a:off x="10424160" y="173736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0" y="173736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12.0x</a:t>
            </a:r>
          </a:p>
        </p:txBody>
      </p:sp>
      <p:sp>
        <p:nvSpPr>
          <p:cNvPr id="29" name="Rectangle 28"/>
          <p:cNvSpPr/>
          <p:nvPr/>
        </p:nvSpPr>
        <p:spPr>
          <a:xfrm>
            <a:off x="1097280" y="2834640"/>
            <a:ext cx="2011680" cy="1097280"/>
          </a:xfrm>
          <a:prstGeom prst="rect">
            <a:avLst/>
          </a:prstGeom>
          <a:solidFill>
            <a:srgbClr val="183A58"/>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97280" y="2834640"/>
            <a:ext cx="2011680" cy="1097280"/>
          </a:xfrm>
          <a:prstGeom prst="rect">
            <a:avLst/>
          </a:prstGeom>
          <a:noFill/>
        </p:spPr>
        <p:txBody>
          <a:bodyPr wrap="square" anchor="ctr" tIns="73152" bIns="73152"/>
          <a:lstStyle/>
          <a:p>
            <a:pPr algn="ctr">
              <a:lnSpc>
                <a:spcPct val="110000"/>
              </a:lnSpc>
              <a:defRPr sz="900" b="1">
                <a:solidFill>
                  <a:srgbClr val="FFFFFF"/>
                </a:solidFill>
                <a:latin typeface="Arial"/>
              </a:defRPr>
            </a:pPr>
            <a:r>
              <a:t>Precedent</a:t>
            </a:r>
            <a:br/>
            <a:r>
              <a:t>Transactions</a:t>
            </a:r>
          </a:p>
        </p:txBody>
      </p:sp>
      <p:sp>
        <p:nvSpPr>
          <p:cNvPr id="31" name="Rectangle 30"/>
          <p:cNvSpPr/>
          <p:nvPr/>
        </p:nvSpPr>
        <p:spPr>
          <a:xfrm>
            <a:off x="3108960" y="2834640"/>
            <a:ext cx="3291840" cy="1097280"/>
          </a:xfrm>
          <a:prstGeom prst="rect">
            <a:avLst/>
          </a:prstGeom>
          <a:solidFill>
            <a:srgbClr val="F0F0F0"/>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08960" y="2834640"/>
            <a:ext cx="3291840" cy="1097280"/>
          </a:xfrm>
          <a:prstGeom prst="rect">
            <a:avLst/>
          </a:prstGeom>
          <a:noFill/>
        </p:spPr>
        <p:txBody>
          <a:bodyPr wrap="square" anchor="ctr" tIns="73152" bIns="73152"/>
          <a:lstStyle/>
          <a:p>
            <a:pPr algn="l">
              <a:lnSpc>
                <a:spcPct val="110000"/>
              </a:lnSpc>
              <a:defRPr sz="800" b="0">
                <a:solidFill>
                  <a:srgbClr val="404040"/>
                </a:solidFill>
                <a:latin typeface="Arial"/>
              </a:defRPr>
            </a:pPr>
            <a:r>
              <a:t>In-line with recent bakery M&amp;A deals in</a:t>
            </a:r>
            <a:br/>
            <a:r>
              <a:t>Southeast Asia; premium for outlet growth and</a:t>
            </a:r>
            <a:br/>
            <a:r>
              <a:t>profitability.</a:t>
            </a:r>
          </a:p>
        </p:txBody>
      </p:sp>
      <p:sp>
        <p:nvSpPr>
          <p:cNvPr id="33" name="Rectangle 32"/>
          <p:cNvSpPr/>
          <p:nvPr/>
        </p:nvSpPr>
        <p:spPr>
          <a:xfrm>
            <a:off x="6400800" y="2834640"/>
            <a:ext cx="164592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2834640"/>
            <a:ext cx="164592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US$400M</a:t>
            </a:r>
          </a:p>
        </p:txBody>
      </p:sp>
      <p:sp>
        <p:nvSpPr>
          <p:cNvPr id="35" name="Rectangle 34"/>
          <p:cNvSpPr/>
          <p:nvPr/>
        </p:nvSpPr>
        <p:spPr>
          <a:xfrm>
            <a:off x="8046720" y="2834640"/>
            <a:ext cx="146304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0" y="2834640"/>
            <a:ext cx="146304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EV/EBITDA</a:t>
            </a:r>
          </a:p>
        </p:txBody>
      </p:sp>
      <p:sp>
        <p:nvSpPr>
          <p:cNvPr id="37" name="Rectangle 36"/>
          <p:cNvSpPr/>
          <p:nvPr/>
        </p:nvSpPr>
        <p:spPr>
          <a:xfrm>
            <a:off x="9509760" y="283464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509760" y="283464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12.5x</a:t>
            </a:r>
          </a:p>
        </p:txBody>
      </p:sp>
      <p:sp>
        <p:nvSpPr>
          <p:cNvPr id="39" name="Rectangle 38"/>
          <p:cNvSpPr/>
          <p:nvPr/>
        </p:nvSpPr>
        <p:spPr>
          <a:xfrm>
            <a:off x="10424160" y="283464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24160" y="283464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11.5x</a:t>
            </a:r>
          </a:p>
        </p:txBody>
      </p:sp>
      <p:sp>
        <p:nvSpPr>
          <p:cNvPr id="41" name="Rectangle 40"/>
          <p:cNvSpPr/>
          <p:nvPr/>
        </p:nvSpPr>
        <p:spPr>
          <a:xfrm>
            <a:off x="1097280" y="3931920"/>
            <a:ext cx="2011680" cy="1097280"/>
          </a:xfrm>
          <a:prstGeom prst="rect">
            <a:avLst/>
          </a:prstGeom>
          <a:solidFill>
            <a:srgbClr val="325032"/>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3931920"/>
            <a:ext cx="2011680" cy="1097280"/>
          </a:xfrm>
          <a:prstGeom prst="rect">
            <a:avLst/>
          </a:prstGeom>
          <a:noFill/>
        </p:spPr>
        <p:txBody>
          <a:bodyPr wrap="square" anchor="ctr" tIns="73152" bIns="73152"/>
          <a:lstStyle/>
          <a:p>
            <a:pPr algn="ctr">
              <a:lnSpc>
                <a:spcPct val="110000"/>
              </a:lnSpc>
              <a:defRPr sz="900" b="1">
                <a:solidFill>
                  <a:srgbClr val="FFFFFF"/>
                </a:solidFill>
                <a:latin typeface="Arial"/>
              </a:defRPr>
            </a:pPr>
            <a:r>
              <a:t>Discounted Cash</a:t>
            </a:r>
            <a:br/>
            <a:r>
              <a:t>Flow (DCF)</a:t>
            </a:r>
          </a:p>
        </p:txBody>
      </p:sp>
      <p:sp>
        <p:nvSpPr>
          <p:cNvPr id="43" name="Rectangle 42"/>
          <p:cNvSpPr/>
          <p:nvPr/>
        </p:nvSpPr>
        <p:spPr>
          <a:xfrm>
            <a:off x="3108960" y="3931920"/>
            <a:ext cx="3291840" cy="1097280"/>
          </a:xfrm>
          <a:prstGeom prst="rect">
            <a:avLst/>
          </a:prstGeom>
          <a:solidFill>
            <a:srgbClr val="F0F0F0"/>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108960" y="3931920"/>
            <a:ext cx="3291840" cy="1097280"/>
          </a:xfrm>
          <a:prstGeom prst="rect">
            <a:avLst/>
          </a:prstGeom>
          <a:noFill/>
        </p:spPr>
        <p:txBody>
          <a:bodyPr wrap="square" anchor="ctr" tIns="73152" bIns="73152"/>
          <a:lstStyle/>
          <a:p>
            <a:pPr algn="l">
              <a:lnSpc>
                <a:spcPct val="110000"/>
              </a:lnSpc>
              <a:defRPr sz="900" b="0">
                <a:solidFill>
                  <a:srgbClr val="404040"/>
                </a:solidFill>
                <a:latin typeface="Arial"/>
              </a:defRPr>
            </a:pPr>
            <a:r>
              <a:t>Reflects high projected cash generation,</a:t>
            </a:r>
            <a:br/>
            <a:r>
              <a:t>margin expansion, and outlet rollout.</a:t>
            </a:r>
          </a:p>
        </p:txBody>
      </p:sp>
      <p:sp>
        <p:nvSpPr>
          <p:cNvPr id="45" name="Rectangle 44"/>
          <p:cNvSpPr/>
          <p:nvPr/>
        </p:nvSpPr>
        <p:spPr>
          <a:xfrm>
            <a:off x="6400800" y="3931920"/>
            <a:ext cx="164592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3931920"/>
            <a:ext cx="164592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US$440M</a:t>
            </a:r>
          </a:p>
        </p:txBody>
      </p:sp>
      <p:sp>
        <p:nvSpPr>
          <p:cNvPr id="47" name="Rectangle 46"/>
          <p:cNvSpPr/>
          <p:nvPr/>
        </p:nvSpPr>
        <p:spPr>
          <a:xfrm>
            <a:off x="8046720" y="3931920"/>
            <a:ext cx="146304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46720" y="3931920"/>
            <a:ext cx="146304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NPV/EBITDA</a:t>
            </a:r>
          </a:p>
        </p:txBody>
      </p:sp>
      <p:sp>
        <p:nvSpPr>
          <p:cNvPr id="49" name="Rectangle 48"/>
          <p:cNvSpPr/>
          <p:nvPr/>
        </p:nvSpPr>
        <p:spPr>
          <a:xfrm>
            <a:off x="9509760" y="393192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509760" y="393192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p>
        </p:txBody>
      </p:sp>
      <p:sp>
        <p:nvSpPr>
          <p:cNvPr id="51" name="Rectangle 50"/>
          <p:cNvSpPr/>
          <p:nvPr/>
        </p:nvSpPr>
        <p:spPr>
          <a:xfrm>
            <a:off x="10424160" y="393192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424160" y="393192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p>
        </p:txBody>
      </p:sp>
      <p:sp>
        <p:nvSpPr>
          <p:cNvPr id="53" name="Rectangle 52"/>
          <p:cNvSpPr/>
          <p:nvPr/>
        </p:nvSpPr>
        <p:spPr>
          <a:xfrm>
            <a:off x="1097280" y="5029200"/>
            <a:ext cx="2011680" cy="1097280"/>
          </a:xfrm>
          <a:prstGeom prst="rect">
            <a:avLst/>
          </a:prstGeom>
          <a:solidFill>
            <a:srgbClr val="183A58"/>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97280" y="5029200"/>
            <a:ext cx="2011680" cy="1097280"/>
          </a:xfrm>
          <a:prstGeom prst="rect">
            <a:avLst/>
          </a:prstGeom>
          <a:noFill/>
        </p:spPr>
        <p:txBody>
          <a:bodyPr wrap="square" anchor="ctr" tIns="73152" bIns="73152"/>
          <a:lstStyle/>
          <a:p>
            <a:pPr algn="ctr">
              <a:lnSpc>
                <a:spcPct val="110000"/>
              </a:lnSpc>
              <a:defRPr sz="1100" b="1">
                <a:solidFill>
                  <a:srgbClr val="FFFFFF"/>
                </a:solidFill>
                <a:latin typeface="Arial"/>
              </a:defRPr>
            </a:pPr>
            <a:r>
              <a:t>Revenue Multiple</a:t>
            </a:r>
          </a:p>
        </p:txBody>
      </p:sp>
      <p:sp>
        <p:nvSpPr>
          <p:cNvPr id="55" name="Rectangle 54"/>
          <p:cNvSpPr/>
          <p:nvPr/>
        </p:nvSpPr>
        <p:spPr>
          <a:xfrm>
            <a:off x="3108960" y="5029200"/>
            <a:ext cx="3291840" cy="1097280"/>
          </a:xfrm>
          <a:prstGeom prst="rect">
            <a:avLst/>
          </a:prstGeom>
          <a:solidFill>
            <a:srgbClr val="F0F0F0"/>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108960" y="5029200"/>
            <a:ext cx="3291840" cy="1097280"/>
          </a:xfrm>
          <a:prstGeom prst="rect">
            <a:avLst/>
          </a:prstGeom>
          <a:noFill/>
        </p:spPr>
        <p:txBody>
          <a:bodyPr wrap="square" anchor="ctr" tIns="73152" bIns="73152"/>
          <a:lstStyle/>
          <a:p>
            <a:pPr algn="l">
              <a:lnSpc>
                <a:spcPct val="110000"/>
              </a:lnSpc>
              <a:defRPr sz="900" b="0">
                <a:solidFill>
                  <a:srgbClr val="404040"/>
                </a:solidFill>
                <a:latin typeface="Arial"/>
              </a:defRPr>
            </a:pPr>
            <a:r>
              <a:t>Consistent with premium bakery chains given</a:t>
            </a:r>
            <a:br/>
            <a:r>
              <a:t>strong B2C and B2B revenue mix.</a:t>
            </a:r>
          </a:p>
        </p:txBody>
      </p:sp>
      <p:sp>
        <p:nvSpPr>
          <p:cNvPr id="57" name="Rectangle 56"/>
          <p:cNvSpPr/>
          <p:nvPr/>
        </p:nvSpPr>
        <p:spPr>
          <a:xfrm>
            <a:off x="6400800" y="5029200"/>
            <a:ext cx="164592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0" y="5029200"/>
            <a:ext cx="164592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US$430M</a:t>
            </a:r>
          </a:p>
        </p:txBody>
      </p:sp>
      <p:sp>
        <p:nvSpPr>
          <p:cNvPr id="59" name="Rectangle 58"/>
          <p:cNvSpPr/>
          <p:nvPr/>
        </p:nvSpPr>
        <p:spPr>
          <a:xfrm>
            <a:off x="8046720" y="5029200"/>
            <a:ext cx="146304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5029200"/>
            <a:ext cx="146304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EV/Revenue</a:t>
            </a:r>
          </a:p>
        </p:txBody>
      </p:sp>
      <p:sp>
        <p:nvSpPr>
          <p:cNvPr id="61" name="Rectangle 60"/>
          <p:cNvSpPr/>
          <p:nvPr/>
        </p:nvSpPr>
        <p:spPr>
          <a:xfrm>
            <a:off x="9509760" y="502920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509760" y="502920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2.3x</a:t>
            </a:r>
          </a:p>
        </p:txBody>
      </p:sp>
      <p:sp>
        <p:nvSpPr>
          <p:cNvPr id="63" name="Rectangle 62"/>
          <p:cNvSpPr/>
          <p:nvPr/>
        </p:nvSpPr>
        <p:spPr>
          <a:xfrm>
            <a:off x="10424160" y="502920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424160" y="502920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2.0x</a:t>
            </a:r>
          </a:p>
        </p:txBody>
      </p:sp>
      <p:sp>
        <p:nvSpPr>
          <p:cNvPr id="65" name="Rectangle 64"/>
          <p:cNvSpPr/>
          <p:nvPr/>
        </p:nvSpPr>
        <p:spPr>
          <a:xfrm>
            <a:off x="182880" y="1737360"/>
            <a:ext cx="822960" cy="2194560"/>
          </a:xfrm>
          <a:prstGeom prst="rect">
            <a:avLst/>
          </a:prstGeom>
          <a:solidFill>
            <a:srgbClr val="183A58"/>
          </a:solidFill>
          <a:ln w="6350">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82880" y="1737360"/>
            <a:ext cx="822960" cy="2194560"/>
          </a:xfrm>
          <a:prstGeom prst="rect">
            <a:avLst/>
          </a:prstGeom>
          <a:noFill/>
        </p:spPr>
        <p:txBody>
          <a:bodyPr wrap="square" anchor="ctr" lIns="18288" rIns="18288" tIns="18288" bIns="18288">
            <a:spAutoFit/>
          </a:bodyPr>
          <a:lstStyle/>
          <a:p>
            <a:pPr algn="ctr">
              <a:defRPr sz="900" b="1">
                <a:solidFill>
                  <a:srgbClr val="FFFFFF"/>
                </a:solidFill>
                <a:latin typeface="Arial"/>
              </a:defRPr>
            </a:pPr>
            <a:r>
              <a:t>PRECEDENT TRANSACTIONS</a:t>
            </a:r>
          </a:p>
        </p:txBody>
      </p:sp>
      <p:sp>
        <p:nvSpPr>
          <p:cNvPr id="67" name="Rectangle 66"/>
          <p:cNvSpPr/>
          <p:nvPr/>
        </p:nvSpPr>
        <p:spPr>
          <a:xfrm>
            <a:off x="182880" y="3931920"/>
            <a:ext cx="822960" cy="1097280"/>
          </a:xfrm>
          <a:prstGeom prst="rect">
            <a:avLst/>
          </a:prstGeom>
          <a:solidFill>
            <a:srgbClr val="325032"/>
          </a:solidFill>
          <a:ln w="6350">
            <a:solidFill>
              <a:srgbClr val="3250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82880" y="3931920"/>
            <a:ext cx="822960" cy="1097280"/>
          </a:xfrm>
          <a:prstGeom prst="rect">
            <a:avLst/>
          </a:prstGeom>
          <a:noFill/>
        </p:spPr>
        <p:txBody>
          <a:bodyPr wrap="square" anchor="ctr" lIns="18288" rIns="18288" tIns="18288" bIns="18288">
            <a:spAutoFit/>
          </a:bodyPr>
          <a:lstStyle/>
          <a:p>
            <a:pPr algn="ctr">
              <a:defRPr sz="900" b="1">
                <a:solidFill>
                  <a:srgbClr val="FFFFFF"/>
                </a:solidFill>
                <a:latin typeface="Arial"/>
              </a:defRPr>
            </a:pPr>
            <a:r>
              <a:t>DCF</a:t>
            </a:r>
          </a:p>
        </p:txBody>
      </p:sp>
      <p:sp>
        <p:nvSpPr>
          <p:cNvPr id="69" name="Rectangle 68"/>
          <p:cNvSpPr/>
          <p:nvPr/>
        </p:nvSpPr>
        <p:spPr>
          <a:xfrm>
            <a:off x="182880" y="5029200"/>
            <a:ext cx="822960" cy="1097280"/>
          </a:xfrm>
          <a:prstGeom prst="rect">
            <a:avLst/>
          </a:prstGeom>
          <a:solidFill>
            <a:srgbClr val="183A58"/>
          </a:solidFill>
          <a:ln w="6350">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82880" y="5029200"/>
            <a:ext cx="822960" cy="1097280"/>
          </a:xfrm>
          <a:prstGeom prst="rect">
            <a:avLst/>
          </a:prstGeom>
          <a:noFill/>
        </p:spPr>
        <p:txBody>
          <a:bodyPr wrap="square" anchor="ctr" lIns="18288" rIns="18288" tIns="18288" bIns="18288">
            <a:spAutoFit/>
          </a:bodyPr>
          <a:lstStyle/>
          <a:p>
            <a:pPr algn="ctr">
              <a:defRPr sz="900" b="1">
                <a:solidFill>
                  <a:srgbClr val="FFFFFF"/>
                </a:solidFill>
                <a:latin typeface="Arial"/>
              </a:defRPr>
            </a:pPr>
            <a:r>
              <a:t>PRECEDENT TRANSACTIONS</a:t>
            </a:r>
          </a:p>
        </p:txBody>
      </p:sp>
      <p:sp>
        <p:nvSpPr>
          <p:cNvPr id="71" name="TextBox 70"/>
          <p:cNvSpPr txBox="1"/>
          <p:nvPr/>
        </p:nvSpPr>
        <p:spPr>
          <a:xfrm>
            <a:off x="457200" y="6400800"/>
            <a:ext cx="5486400" cy="365760"/>
          </a:xfrm>
          <a:prstGeom prst="rect">
            <a:avLst/>
          </a:prstGeom>
          <a:noFill/>
        </p:spPr>
        <p:txBody>
          <a:bodyPr wrap="none">
            <a:spAutoFit/>
          </a:bodyPr>
          <a:lstStyle/>
          <a:p>
            <a:pPr algn="l">
              <a:defRPr sz="900">
                <a:solidFill>
                  <a:srgbClr val="808080"/>
                </a:solidFill>
                <a:latin typeface="Arial"/>
              </a:defRPr>
            </a:pPr>
            <a:r>
              <a:t>Confidential | September 2025</a:t>
            </a:r>
          </a:p>
        </p:txBody>
      </p:sp>
      <p:sp>
        <p:nvSpPr>
          <p:cNvPr id="72" name="TextBox 71"/>
          <p:cNvSpPr txBox="1"/>
          <p:nvPr/>
        </p:nvSpPr>
        <p:spPr>
          <a:xfrm>
            <a:off x="6705295" y="6400800"/>
            <a:ext cx="5486400" cy="365760"/>
          </a:xfrm>
          <a:prstGeom prst="rect">
            <a:avLst/>
          </a:prstGeom>
          <a:noFill/>
        </p:spPr>
        <p:txBody>
          <a:bodyPr wrap="none">
            <a:spAutoFit/>
          </a:bodyPr>
          <a:lstStyle/>
          <a:p>
            <a:pPr algn="r">
              <a:defRPr sz="900">
                <a:solidFill>
                  <a:srgbClr val="808080"/>
                </a:solidFill>
                <a:latin typeface="Arial"/>
              </a:defRPr>
            </a:pPr>
            <a:r>
              <a:t>Moelis &amp; Company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Precedent Transactions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1371600"/>
            <a:ext cx="8229600" cy="457200"/>
          </a:xfrm>
          <a:prstGeom prst="rect">
            <a:avLst/>
          </a:prstGeom>
          <a:noFill/>
        </p:spPr>
        <p:txBody>
          <a:bodyPr wrap="none">
            <a:spAutoFit/>
          </a:bodyPr>
          <a:lstStyle/>
          <a:p>
            <a:pPr algn="ctr">
              <a:defRPr sz="1400" b="1">
                <a:solidFill>
                  <a:srgbClr val="183A58"/>
                </a:solidFill>
                <a:latin typeface="Arial"/>
              </a:defRPr>
            </a:pPr>
            <a:r>
              <a:t>EV/Revenue Multiples by Transaction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Precedent Transactions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1371600"/>
            <a:ext cx="8229600" cy="457200"/>
          </a:xfrm>
          <a:prstGeom prst="rect">
            <a:avLst/>
          </a:prstGeom>
          <a:noFill/>
        </p:spPr>
        <p:txBody>
          <a:bodyPr wrap="none">
            <a:spAutoFit/>
          </a:bodyPr>
          <a:lstStyle/>
          <a:p>
            <a:pPr algn="ctr">
              <a:defRPr sz="1400" b="1">
                <a:solidFill>
                  <a:srgbClr val="183A58"/>
                </a:solidFill>
                <a:latin typeface="Arial"/>
              </a:defRPr>
            </a:pPr>
            <a:r>
              <a:t>EV/Revenue Multiples by Transaction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Precedent Transactions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1371600"/>
            <a:ext cx="8229600" cy="457200"/>
          </a:xfrm>
          <a:prstGeom prst="rect">
            <a:avLst/>
          </a:prstGeom>
          <a:noFill/>
        </p:spPr>
        <p:txBody>
          <a:bodyPr wrap="none">
            <a:spAutoFit/>
          </a:bodyPr>
          <a:lstStyle/>
          <a:p>
            <a:pPr algn="ctr">
              <a:defRPr sz="1400" b="1">
                <a:solidFill>
                  <a:srgbClr val="183A58"/>
                </a:solidFill>
                <a:latin typeface="Arial"/>
              </a:defRPr>
            </a:pPr>
            <a:r>
              <a:t>EV/Revenue Multiples by Transaction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31520"/>
            <a:ext cx="10515600" cy="1371600"/>
          </a:xfrm>
          <a:prstGeom prst="rect">
            <a:avLst/>
          </a:prstGeom>
          <a:noFill/>
        </p:spPr>
        <p:txBody>
          <a:bodyPr wrap="none">
            <a:spAutoFit/>
          </a:bodyPr>
          <a:lstStyle/>
          <a:p>
            <a:pPr algn="l"/>
            <a:r>
              <a:rPr sz="1400"/>
              <a:t>Renderer error for render_precedent_transactions_slide: '&gt;' not supported between instances of 'str' and 'int'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Margin &amp; Cost Resilience</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5486400" cy="274320"/>
          </a:xfrm>
          <a:prstGeom prst="rect">
            <a:avLst/>
          </a:prstGeom>
          <a:noFill/>
          <a:ln>
            <a:noFill/>
          </a:ln>
          <a:effectLst/>
        </p:spPr>
        <p:txBody>
          <a:bodyPr wrap="square">
            <a:spAutoFit/>
          </a:bodyPr>
          <a:lstStyle/>
          <a:p>
            <a:pPr algn="l"/>
            <a:r>
              <a:rPr sz="1400" b="1">
                <a:solidFill>
                  <a:srgbClr val="183A58"/>
                </a:solidFill>
                <a:latin typeface="Arial"/>
              </a:rPr>
              <a:t>EBITDA Growth (USD millions)</a:t>
            </a:r>
          </a:p>
        </p:txBody>
      </p:sp>
      <p:graphicFrame>
        <p:nvGraphicFramePr>
          <p:cNvPr id="5" name="Chart 4"/>
          <p:cNvGraphicFramePr>
            <a:graphicFrameLocks noGrp="1"/>
          </p:cNvGraphicFramePr>
          <p:nvPr/>
        </p:nvGraphicFramePr>
        <p:xfrm>
          <a:off x="914400" y="1645920"/>
          <a:ext cx="5486400" cy="2011680"/>
        </p:xfrm>
        <a:graphic>
          <a:graphicData uri="http://schemas.openxmlformats.org/drawingml/2006/chart">
            <c:chart xmlns:c="http://schemas.openxmlformats.org/drawingml/2006/chart" r:id="rId2"/>
          </a:graphicData>
        </a:graphic>
      </p:graphicFrame>
      <p:sp>
        <p:nvSpPr>
          <p:cNvPr id="6" name="TextBox 5"/>
          <p:cNvSpPr txBox="1"/>
          <p:nvPr/>
        </p:nvSpPr>
        <p:spPr>
          <a:xfrm>
            <a:off x="4572000" y="3749039"/>
            <a:ext cx="2286000" cy="137160"/>
          </a:xfrm>
          <a:prstGeom prst="rect">
            <a:avLst/>
          </a:prstGeom>
          <a:noFill/>
          <a:ln>
            <a:noFill/>
          </a:ln>
          <a:effectLst/>
        </p:spPr>
        <p:txBody>
          <a:bodyPr wrap="square">
            <a:spAutoFit/>
          </a:bodyPr>
          <a:lstStyle/>
          <a:p>
            <a:pPr algn="r"/>
            <a:r>
              <a:rPr sz="800" b="0">
                <a:solidFill>
                  <a:srgbClr val="404040"/>
                </a:solidFill>
                <a:latin typeface="Arial"/>
              </a:rPr>
              <a:t>Source: Company financials</a:t>
            </a:r>
          </a:p>
        </p:txBody>
      </p:sp>
      <p:sp>
        <p:nvSpPr>
          <p:cNvPr id="7" name="TextBox 6"/>
          <p:cNvSpPr txBox="1"/>
          <p:nvPr/>
        </p:nvSpPr>
        <p:spPr>
          <a:xfrm>
            <a:off x="914400" y="4023360"/>
            <a:ext cx="5486400" cy="274320"/>
          </a:xfrm>
          <a:prstGeom prst="rect">
            <a:avLst/>
          </a:prstGeom>
          <a:noFill/>
          <a:ln>
            <a:noFill/>
          </a:ln>
          <a:effectLst/>
        </p:spPr>
        <p:txBody>
          <a:bodyPr wrap="square">
            <a:spAutoFit/>
          </a:bodyPr>
          <a:lstStyle/>
          <a:p>
            <a:pPr algn="l"/>
            <a:r>
              <a:rPr sz="1400" b="1">
                <a:solidFill>
                  <a:srgbClr val="183A58"/>
                </a:solidFill>
                <a:latin typeface="Arial"/>
              </a:rPr>
              <a:t>Cost Management &amp; Efficiency Initiatives</a:t>
            </a:r>
          </a:p>
        </p:txBody>
      </p:sp>
      <p:sp>
        <p:nvSpPr>
          <p:cNvPr id="8" name="Oval 7"/>
          <p:cNvSpPr/>
          <p:nvPr/>
        </p:nvSpPr>
        <p:spPr>
          <a:xfrm>
            <a:off x="1097280" y="438912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4343400"/>
            <a:ext cx="5029200" cy="137160"/>
          </a:xfrm>
          <a:prstGeom prst="rect">
            <a:avLst/>
          </a:prstGeom>
          <a:noFill/>
          <a:ln>
            <a:noFill/>
          </a:ln>
          <a:effectLst/>
        </p:spPr>
        <p:txBody>
          <a:bodyPr wrap="square">
            <a:spAutoFit/>
          </a:bodyPr>
          <a:lstStyle/>
          <a:p>
            <a:pPr algn="l"/>
            <a:r>
              <a:rPr sz="1000" b="1">
                <a:solidFill>
                  <a:srgbClr val="183A58"/>
                </a:solidFill>
                <a:latin typeface="Arial"/>
              </a:rPr>
              <a:t>Strategic Cost Management</a:t>
            </a:r>
          </a:p>
        </p:txBody>
      </p:sp>
      <p:sp>
        <p:nvSpPr>
          <p:cNvPr id="10" name="TextBox 9"/>
          <p:cNvSpPr txBox="1"/>
          <p:nvPr/>
        </p:nvSpPr>
        <p:spPr>
          <a:xfrm>
            <a:off x="1234440" y="4480560"/>
            <a:ext cx="5029200" cy="256032"/>
          </a:xfrm>
          <a:prstGeom prst="rect">
            <a:avLst/>
          </a:prstGeom>
          <a:noFill/>
          <a:ln>
            <a:noFill/>
          </a:ln>
          <a:effectLst/>
        </p:spPr>
        <p:txBody>
          <a:bodyPr wrap="square">
            <a:spAutoFit/>
          </a:bodyPr>
          <a:lstStyle/>
          <a:p>
            <a:pPr algn="l"/>
            <a:r>
              <a:rPr sz="900" b="0">
                <a:solidFill>
                  <a:srgbClr val="404040"/>
                </a:solidFill>
                <a:latin typeface="Arial"/>
              </a:rPr>
              <a:t>Lean accounting and working capital management to optimize resource allocation and minimize waste.</a:t>
            </a:r>
          </a:p>
        </p:txBody>
      </p:sp>
      <p:sp>
        <p:nvSpPr>
          <p:cNvPr id="11" name="Oval 10"/>
          <p:cNvSpPr/>
          <p:nvPr/>
        </p:nvSpPr>
        <p:spPr>
          <a:xfrm>
            <a:off x="1097280" y="480060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4754880"/>
            <a:ext cx="5029200" cy="137160"/>
          </a:xfrm>
          <a:prstGeom prst="rect">
            <a:avLst/>
          </a:prstGeom>
          <a:noFill/>
          <a:ln>
            <a:noFill/>
          </a:ln>
          <a:effectLst/>
        </p:spPr>
        <p:txBody>
          <a:bodyPr wrap="square">
            <a:spAutoFit/>
          </a:bodyPr>
          <a:lstStyle/>
          <a:p>
            <a:pPr algn="l"/>
            <a:r>
              <a:rPr sz="1000" b="1">
                <a:solidFill>
                  <a:srgbClr val="183A58"/>
                </a:solidFill>
                <a:latin typeface="Arial"/>
              </a:rPr>
              <a:t>Supplier Selection &amp; Bulk Purchasing</a:t>
            </a:r>
          </a:p>
        </p:txBody>
      </p:sp>
      <p:sp>
        <p:nvSpPr>
          <p:cNvPr id="13" name="TextBox 12"/>
          <p:cNvSpPr txBox="1"/>
          <p:nvPr/>
        </p:nvSpPr>
        <p:spPr>
          <a:xfrm>
            <a:off x="1234440" y="4892040"/>
            <a:ext cx="5029200" cy="256032"/>
          </a:xfrm>
          <a:prstGeom prst="rect">
            <a:avLst/>
          </a:prstGeom>
          <a:noFill/>
          <a:ln>
            <a:noFill/>
          </a:ln>
          <a:effectLst/>
        </p:spPr>
        <p:txBody>
          <a:bodyPr wrap="square">
            <a:spAutoFit/>
          </a:bodyPr>
          <a:lstStyle/>
          <a:p>
            <a:pPr algn="l"/>
            <a:r>
              <a:rPr sz="900" b="0">
                <a:solidFill>
                  <a:srgbClr val="404040"/>
                </a:solidFill>
                <a:latin typeface="Arial"/>
              </a:rPr>
              <a:t>Bulk agreements and EOQ methods to reduce raw material costs.</a:t>
            </a:r>
          </a:p>
        </p:txBody>
      </p:sp>
      <p:sp>
        <p:nvSpPr>
          <p:cNvPr id="14" name="Oval 13"/>
          <p:cNvSpPr/>
          <p:nvPr/>
        </p:nvSpPr>
        <p:spPr>
          <a:xfrm>
            <a:off x="1097280" y="521208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5166360"/>
            <a:ext cx="5029200" cy="137160"/>
          </a:xfrm>
          <a:prstGeom prst="rect">
            <a:avLst/>
          </a:prstGeom>
          <a:noFill/>
          <a:ln>
            <a:noFill/>
          </a:ln>
          <a:effectLst/>
        </p:spPr>
        <p:txBody>
          <a:bodyPr wrap="square">
            <a:spAutoFit/>
          </a:bodyPr>
          <a:lstStyle/>
          <a:p>
            <a:pPr algn="l"/>
            <a:r>
              <a:rPr sz="1000" b="1">
                <a:solidFill>
                  <a:srgbClr val="183A58"/>
                </a:solidFill>
                <a:latin typeface="Arial"/>
              </a:rPr>
              <a:t>Supply Chain Integration</a:t>
            </a:r>
          </a:p>
        </p:txBody>
      </p:sp>
      <p:sp>
        <p:nvSpPr>
          <p:cNvPr id="16" name="TextBox 15"/>
          <p:cNvSpPr txBox="1"/>
          <p:nvPr/>
        </p:nvSpPr>
        <p:spPr>
          <a:xfrm>
            <a:off x="1234440" y="5303520"/>
            <a:ext cx="5029200" cy="256032"/>
          </a:xfrm>
          <a:prstGeom prst="rect">
            <a:avLst/>
          </a:prstGeom>
          <a:noFill/>
          <a:ln>
            <a:noFill/>
          </a:ln>
          <a:effectLst/>
        </p:spPr>
        <p:txBody>
          <a:bodyPr wrap="square">
            <a:spAutoFit/>
          </a:bodyPr>
          <a:lstStyle/>
          <a:p>
            <a:pPr algn="l"/>
            <a:r>
              <a:rPr sz="900" b="0">
                <a:solidFill>
                  <a:srgbClr val="404040"/>
                </a:solidFill>
                <a:latin typeface="Arial"/>
              </a:rPr>
              <a:t>Investment in logistics and inventory technology to reduce disruptions and improve cost efficiency.</a:t>
            </a:r>
          </a:p>
        </p:txBody>
      </p:sp>
      <p:sp>
        <p:nvSpPr>
          <p:cNvPr id="17" name="TextBox 16"/>
          <p:cNvSpPr txBox="1"/>
          <p:nvPr/>
        </p:nvSpPr>
        <p:spPr>
          <a:xfrm>
            <a:off x="7315200" y="1280160"/>
            <a:ext cx="4572000" cy="274320"/>
          </a:xfrm>
          <a:prstGeom prst="rect">
            <a:avLst/>
          </a:prstGeom>
          <a:noFill/>
          <a:ln>
            <a:noFill/>
          </a:ln>
          <a:effectLst/>
        </p:spPr>
        <p:txBody>
          <a:bodyPr wrap="square">
            <a:spAutoFit/>
          </a:bodyPr>
          <a:lstStyle/>
          <a:p>
            <a:pPr algn="l"/>
            <a:r>
              <a:rPr sz="1400" b="1">
                <a:solidFill>
                  <a:srgbClr val="183A58"/>
                </a:solidFill>
                <a:latin typeface="Arial"/>
              </a:rPr>
              <a:t>Risk Mitigation Strategies</a:t>
            </a:r>
          </a:p>
        </p:txBody>
      </p:sp>
      <p:sp>
        <p:nvSpPr>
          <p:cNvPr id="18" name="Rectangle 17"/>
          <p:cNvSpPr/>
          <p:nvPr/>
        </p:nvSpPr>
        <p:spPr>
          <a:xfrm>
            <a:off x="7315200" y="1645920"/>
            <a:ext cx="4572000" cy="164592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1645920"/>
            <a:ext cx="91440" cy="1645920"/>
          </a:xfrm>
          <a:prstGeom prst="rect">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31520"/>
            <a:ext cx="10515600" cy="1371600"/>
          </a:xfrm>
          <a:prstGeom prst="rect">
            <a:avLst/>
          </a:prstGeom>
          <a:noFill/>
        </p:spPr>
        <p:txBody>
          <a:bodyPr wrap="none">
            <a:spAutoFit/>
          </a:bodyPr>
          <a:lstStyle/>
          <a:p>
            <a:pPr algn="l"/>
            <a:r>
              <a:rPr sz="1400"/>
              <a:t>Renderer error: 'str' object has no attribute 'get'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SEA Conglomerate Strategic Buyers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277295" cy="4572000"/>
        </p:xfrm>
        <a:graphic>
          <a:graphicData uri="http://schemas.openxmlformats.org/drawingml/2006/table">
            <a:tbl>
              <a:tblPr firstRow="1" bandRow="1">
                <a:tableStyleId>{5C22544A-7EE6-4342-B048-85BDC9FD1C3A}</a:tableStyleId>
              </a:tblPr>
              <a:tblGrid>
                <a:gridCol w="1645920"/>
                <a:gridCol w="914400"/>
                <a:gridCol w="3840480"/>
                <a:gridCol w="2011680"/>
                <a:gridCol w="1645920"/>
                <a:gridCol w="1218895"/>
              </a:tblGrid>
              <a:tr h="548640">
                <a:tc>
                  <a:txBody>
                    <a:bodyPr/>
                    <a:lstStyle/>
                    <a:p>
                      <a:pPr algn="ctr">
                        <a:defRPr sz="1400" b="1">
                          <a:solidFill>
                            <a:srgbClr val="FFFFFF"/>
                          </a:solidFill>
                          <a:latin typeface="Arial"/>
                        </a:defRPr>
                      </a:pPr>
                      <a:r>
                        <a:t>Name</a:t>
                      </a:r>
                    </a:p>
                  </a:txBody>
                  <a:tcPr>
                    <a:solidFill>
                      <a:srgbClr val="183A58"/>
                    </a:solidFill>
                  </a:tcPr>
                </a:tc>
                <a:tc>
                  <a:txBody>
                    <a:bodyPr/>
                    <a:lstStyle/>
                    <a:p>
                      <a:pPr algn="ctr">
                        <a:defRPr sz="1400" b="1">
                          <a:solidFill>
                            <a:srgbClr val="FFFFFF"/>
                          </a:solidFill>
                          <a:latin typeface="Arial"/>
                        </a:defRPr>
                      </a:pPr>
                      <a:r>
                        <a:t>Country</a:t>
                      </a:r>
                    </a:p>
                  </a:txBody>
                  <a:tcPr>
                    <a:solidFill>
                      <a:srgbClr val="183A58"/>
                    </a:solidFill>
                  </a:tcPr>
                </a:tc>
                <a:tc>
                  <a:txBody>
                    <a:bodyPr/>
                    <a:lstStyle/>
                    <a:p>
                      <a:pPr algn="ctr">
                        <a:defRPr sz="1400" b="1">
                          <a:solidFill>
                            <a:srgbClr val="FFFFFF"/>
                          </a:solidFill>
                          <a:latin typeface="Arial"/>
                        </a:defRPr>
                      </a:pPr>
                      <a:r>
                        <a:t>Description</a:t>
                      </a:r>
                    </a:p>
                  </a:txBody>
                  <a:tcPr>
                    <a:solidFill>
                      <a:srgbClr val="183A58"/>
                    </a:solidFill>
                  </a:tcPr>
                </a:tc>
                <a:tc>
                  <a:txBody>
                    <a:bodyPr/>
                    <a:lstStyle/>
                    <a:p>
                      <a:pPr algn="ctr">
                        <a:defRPr sz="1400" b="1">
                          <a:solidFill>
                            <a:srgbClr val="FFFFFF"/>
                          </a:solidFill>
                          <a:latin typeface="Arial"/>
                        </a:defRPr>
                      </a:pPr>
                      <a:r>
                        <a:t>Key shareholders</a:t>
                      </a:r>
                    </a:p>
                  </a:txBody>
                  <a:tcPr>
                    <a:solidFill>
                      <a:srgbClr val="183A58"/>
                    </a:solidFill>
                  </a:tcPr>
                </a:tc>
                <a:tc>
                  <a:txBody>
                    <a:bodyPr/>
                    <a:lstStyle/>
                    <a:p>
                      <a:pPr algn="ctr">
                        <a:defRPr sz="1400" b="1">
                          <a:solidFill>
                            <a:srgbClr val="FFFFFF"/>
                          </a:solidFill>
                          <a:latin typeface="Arial"/>
                        </a:defRPr>
                      </a:pPr>
                      <a:r>
                        <a:t>Key financials (US$m)</a:t>
                      </a:r>
                    </a:p>
                  </a:txBody>
                  <a:tcPr>
                    <a:solidFill>
                      <a:srgbClr val="183A58"/>
                    </a:solidFill>
                  </a:tcPr>
                </a:tc>
                <a:tc>
                  <a:txBody>
                    <a:bodyPr/>
                    <a:lstStyle/>
                    <a:p>
                      <a:pPr algn="ctr">
                        <a:defRPr sz="1400" b="1">
                          <a:solidFill>
                            <a:srgbClr val="FFFFFF"/>
                          </a:solidFill>
                          <a:latin typeface="Arial"/>
                        </a:defRPr>
                      </a:pPr>
                      <a:r>
                        <a:t>Moelis contact</a:t>
                      </a:r>
                    </a:p>
                  </a:txBody>
                  <a:tcPr>
                    <a:solidFill>
                      <a:srgbClr val="183A58"/>
                    </a:solidFill>
                  </a:tcPr>
                </a:tc>
              </a:tr>
              <a:tr h="1005840">
                <a:tc>
                  <a:txBody>
                    <a:bodyPr wrap="square"/>
                    <a:lstStyle/>
                    <a:p>
                      <a:pPr algn="l">
                        <a:defRPr sz="1100" b="0">
                          <a:solidFill>
                            <a:srgbClr val="404040"/>
                          </a:solidFill>
                          <a:latin typeface="Arial"/>
                        </a:defRPr>
                      </a:pPr>
                      <a:r>
                        <a:t>Charoen Pokphand Group (CP Group)</a:t>
                      </a:r>
                    </a:p>
                  </a:txBody>
                  <a:tcPr>
                    <a:solidFill>
                      <a:srgbClr val="FFFFFF"/>
                    </a:solidFill>
                  </a:tcPr>
                </a:tc>
                <a:tc>
                  <a:txBody>
                    <a:bodyPr wrap="square"/>
                    <a:lstStyle/>
                    <a:p>
                      <a:pPr algn="l">
                        <a:defRPr sz="1100" b="0">
                          <a:solidFill>
                            <a:srgbClr val="404040"/>
                          </a:solidFill>
                          <a:latin typeface="Arial"/>
                        </a:defRPr>
                      </a:pPr>
                      <a:r>
                        <a:t>Thailand</a:t>
                      </a:r>
                    </a:p>
                  </a:txBody>
                  <a:tcPr>
                    <a:solidFill>
                      <a:srgbClr val="FFFFFF"/>
                    </a:solidFill>
                  </a:tcPr>
                </a:tc>
                <a:tc>
                  <a:txBody>
                    <a:bodyPr wrap="square"/>
                    <a:lstStyle/>
                    <a:p>
                      <a:pPr algn="l">
                        <a:defRPr sz="1100" b="0">
                          <a:solidFill>
                            <a:srgbClr val="404040"/>
                          </a:solidFill>
                          <a:latin typeface="Arial"/>
                        </a:defRPr>
                      </a:pPr>
                      <a:r>
                        <a:t>Thailand’s largest diversified conglomerate with extensive food, retail, and agribusiness operations.</a:t>
                      </a:r>
                    </a:p>
                  </a:txBody>
                  <a:tcPr>
                    <a:solidFill>
                      <a:srgbClr val="FFFFFF"/>
                    </a:solidFill>
                  </a:tcPr>
                </a:tc>
                <a:tc>
                  <a:txBody>
                    <a:bodyPr wrap="square"/>
                    <a:lstStyle/>
                    <a:p>
                      <a:pPr algn="l">
                        <a:defRPr sz="1100" b="0">
                          <a:solidFill>
                            <a:srgbClr val="404040"/>
                          </a:solidFill>
                          <a:latin typeface="Arial"/>
                        </a:defRPr>
                      </a:pPr>
                      <a:r>
                        <a:t>Dhanin Chearavanont family</a:t>
                      </a:r>
                    </a:p>
                  </a:txBody>
                  <a:tcPr>
                    <a:solidFill>
                      <a:srgbClr val="FFFFFF"/>
                    </a:solidFill>
                  </a:tcPr>
                </a:tc>
                <a:tc>
                  <a:txBody>
                    <a:bodyPr wrap="square"/>
                    <a:lstStyle/>
                    <a:p>
                      <a:pPr algn="l">
                        <a:defRPr sz="1100" b="0">
                          <a:solidFill>
                            <a:srgbClr val="404040"/>
                          </a:solidFill>
                          <a:latin typeface="Arial"/>
                        </a:defRPr>
                      </a:pPr>
                      <a:r>
                        <a:t>Group revenue &gt;$80B (2024)</a:t>
                      </a:r>
                    </a:p>
                  </a:txBody>
                  <a:tcPr>
                    <a:solidFill>
                      <a:srgbClr val="FFFFFF"/>
                    </a:solidFill>
                  </a:tcPr>
                </a:tc>
                <a:tc>
                  <a:txBody>
                    <a:bodyPr wrap="square"/>
                    <a:lstStyle/>
                    <a:p>
                      <a:pPr algn="l">
                        <a:defRPr sz="1100" b="0">
                          <a:solidFill>
                            <a:srgbClr val="404040"/>
                          </a:solidFill>
                          <a:latin typeface="Arial"/>
                        </a:defRPr>
                      </a:pPr>
                      <a:r>
                        <a:t>Moelis Bangkok Consumer &amp; Retail Coverage</a:t>
                      </a:r>
                    </a:p>
                  </a:txBody>
                  <a:tcPr>
                    <a:solidFill>
                      <a:srgbClr val="FFFFFF"/>
                    </a:solidFill>
                  </a:tcPr>
                </a:tc>
              </a:tr>
              <a:tr h="1005840">
                <a:tc>
                  <a:txBody>
                    <a:bodyPr wrap="square"/>
                    <a:lstStyle/>
                    <a:p>
                      <a:pPr algn="l">
                        <a:defRPr sz="1100" b="0">
                          <a:solidFill>
                            <a:srgbClr val="404040"/>
                          </a:solidFill>
                          <a:latin typeface="Arial"/>
                        </a:defRPr>
                      </a:pPr>
                      <a:r>
                        <a:t>Wilmar International</a:t>
                      </a:r>
                    </a:p>
                  </a:txBody>
                  <a:tcPr>
                    <a:solidFill>
                      <a:srgbClr val="FFFFFF"/>
                    </a:solidFill>
                  </a:tcPr>
                </a:tc>
                <a:tc>
                  <a:txBody>
                    <a:bodyPr wrap="square"/>
                    <a:lstStyle/>
                    <a:p>
                      <a:pPr algn="l">
                        <a:defRPr sz="1100" b="0">
                          <a:solidFill>
                            <a:srgbClr val="404040"/>
                          </a:solidFill>
                          <a:latin typeface="Arial"/>
                        </a:defRPr>
                      </a:pPr>
                      <a:r>
                        <a:t>Singapore</a:t>
                      </a:r>
                    </a:p>
                  </a:txBody>
                  <a:tcPr>
                    <a:solidFill>
                      <a:srgbClr val="FFFFFF"/>
                    </a:solidFill>
                  </a:tcPr>
                </a:tc>
                <a:tc>
                  <a:txBody>
                    <a:bodyPr wrap="square"/>
                    <a:lstStyle/>
                    <a:p>
                      <a:pPr algn="l">
                        <a:defRPr sz="1100" b="0">
                          <a:solidFill>
                            <a:srgbClr val="404040"/>
                          </a:solidFill>
                          <a:latin typeface="Arial"/>
                        </a:defRPr>
                      </a:pPr>
                      <a:r>
                        <a:t>Asia’s largest agribusiness and food processing group, with strong bakery supply and retail expansion.</a:t>
                      </a:r>
                    </a:p>
                  </a:txBody>
                  <a:tcPr>
                    <a:solidFill>
                      <a:srgbClr val="FFFFFF"/>
                    </a:solidFill>
                  </a:tcPr>
                </a:tc>
                <a:tc>
                  <a:txBody>
                    <a:bodyPr wrap="square"/>
                    <a:lstStyle/>
                    <a:p>
                      <a:pPr algn="l">
                        <a:defRPr sz="1100" b="0">
                          <a:solidFill>
                            <a:srgbClr val="404040"/>
                          </a:solidFill>
                          <a:latin typeface="Arial"/>
                        </a:defRPr>
                      </a:pPr>
                      <a:r>
                        <a:t>Kuok Group, Martua Sitorus, institutional investors</a:t>
                      </a:r>
                    </a:p>
                  </a:txBody>
                  <a:tcPr>
                    <a:solidFill>
                      <a:srgbClr val="FFFFFF"/>
                    </a:solidFill>
                  </a:tcPr>
                </a:tc>
                <a:tc>
                  <a:txBody>
                    <a:bodyPr wrap="square"/>
                    <a:lstStyle/>
                    <a:p>
                      <a:pPr algn="l">
                        <a:defRPr sz="1100" b="0">
                          <a:solidFill>
                            <a:srgbClr val="404040"/>
                          </a:solidFill>
                          <a:latin typeface="Arial"/>
                        </a:defRPr>
                      </a:pPr>
                      <a:r>
                        <a:t>Revenue $62B+ (2024)</a:t>
                      </a:r>
                    </a:p>
                  </a:txBody>
                  <a:tcPr>
                    <a:solidFill>
                      <a:srgbClr val="FFFFFF"/>
                    </a:solidFill>
                  </a:tcPr>
                </a:tc>
                <a:tc>
                  <a:txBody>
                    <a:bodyPr wrap="square"/>
                    <a:lstStyle/>
                    <a:p>
                      <a:pPr algn="l">
                        <a:defRPr sz="1100" b="0">
                          <a:solidFill>
                            <a:srgbClr val="404040"/>
                          </a:solidFill>
                          <a:latin typeface="Arial"/>
                        </a:defRPr>
                      </a:pPr>
                      <a:r>
                        <a:t>Moelis Singapore Food &amp; Agri Coverage</a:t>
                      </a:r>
                    </a:p>
                  </a:txBody>
                  <a:tcPr>
                    <a:solidFill>
                      <a:srgbClr val="FFFFFF"/>
                    </a:solidFill>
                  </a:tcPr>
                </a:tc>
              </a:tr>
              <a:tr h="1005840">
                <a:tc>
                  <a:txBody>
                    <a:bodyPr wrap="square"/>
                    <a:lstStyle/>
                    <a:p>
                      <a:pPr algn="l">
                        <a:defRPr sz="1100" b="0">
                          <a:solidFill>
                            <a:srgbClr val="404040"/>
                          </a:solidFill>
                          <a:latin typeface="Arial"/>
                        </a:defRPr>
                      </a:pPr>
                      <a:r>
                        <a:t>Salim Group</a:t>
                      </a:r>
                    </a:p>
                  </a:txBody>
                  <a:tcPr>
                    <a:solidFill>
                      <a:srgbClr val="FFFFFF"/>
                    </a:solidFill>
                  </a:tcPr>
                </a:tc>
                <a:tc>
                  <a:txBody>
                    <a:bodyPr wrap="square"/>
                    <a:lstStyle/>
                    <a:p>
                      <a:pPr algn="l">
                        <a:defRPr sz="1100" b="0">
                          <a:solidFill>
                            <a:srgbClr val="404040"/>
                          </a:solidFill>
                          <a:latin typeface="Arial"/>
                        </a:defRPr>
                      </a:pPr>
                      <a:r>
                        <a:t>Indonesia</a:t>
                      </a:r>
                    </a:p>
                  </a:txBody>
                  <a:tcPr>
                    <a:solidFill>
                      <a:srgbClr val="FFFFFF"/>
                    </a:solidFill>
                  </a:tcPr>
                </a:tc>
                <a:tc>
                  <a:txBody>
                    <a:bodyPr wrap="square"/>
                    <a:lstStyle/>
                    <a:p>
                      <a:pPr algn="l">
                        <a:defRPr sz="1100" b="0">
                          <a:solidFill>
                            <a:srgbClr val="404040"/>
                          </a:solidFill>
                          <a:latin typeface="Arial"/>
                        </a:defRPr>
                      </a:pPr>
                      <a:r>
                        <a:t>Indonesia’s largest conglomerate, controlling Indofood and Sari Roti with dominant bakery and food assets.</a:t>
                      </a:r>
                    </a:p>
                  </a:txBody>
                  <a:tcPr>
                    <a:solidFill>
                      <a:srgbClr val="FFFFFF"/>
                    </a:solidFill>
                  </a:tcPr>
                </a:tc>
                <a:tc>
                  <a:txBody>
                    <a:bodyPr wrap="square"/>
                    <a:lstStyle/>
                    <a:p>
                      <a:pPr algn="l">
                        <a:defRPr sz="1100" b="0">
                          <a:solidFill>
                            <a:srgbClr val="404040"/>
                          </a:solidFill>
                          <a:latin typeface="Arial"/>
                        </a:defRPr>
                      </a:pPr>
                      <a:r>
                        <a:t>Anthoni Salim/family</a:t>
                      </a:r>
                    </a:p>
                  </a:txBody>
                  <a:tcPr>
                    <a:solidFill>
                      <a:srgbClr val="FFFFFF"/>
                    </a:solidFill>
                  </a:tcPr>
                </a:tc>
                <a:tc>
                  <a:txBody>
                    <a:bodyPr wrap="square"/>
                    <a:lstStyle/>
                    <a:p>
                      <a:pPr algn="l">
                        <a:defRPr sz="1100" b="0">
                          <a:solidFill>
                            <a:srgbClr val="404040"/>
                          </a:solidFill>
                          <a:latin typeface="Arial"/>
                        </a:defRPr>
                      </a:pPr>
                      <a:r>
                        <a:t>Indofood revenue $7B+, group assets $30B+</a:t>
                      </a:r>
                    </a:p>
                  </a:txBody>
                  <a:tcPr>
                    <a:solidFill>
                      <a:srgbClr val="FFFFFF"/>
                    </a:solidFill>
                  </a:tcPr>
                </a:tc>
                <a:tc>
                  <a:txBody>
                    <a:bodyPr wrap="square"/>
                    <a:lstStyle/>
                    <a:p>
                      <a:pPr algn="l">
                        <a:defRPr sz="1100" b="0">
                          <a:solidFill>
                            <a:srgbClr val="404040"/>
                          </a:solidFill>
                          <a:latin typeface="Arial"/>
                        </a:defRPr>
                      </a:pPr>
                      <a:r>
                        <a:t>Moelis Jakarta Consumer &amp; Retail Team</a:t>
                      </a:r>
                    </a:p>
                  </a:txBody>
                  <a:tcPr>
                    <a:solidFill>
                      <a:srgbClr val="FFFFFF"/>
                    </a:solidFill>
                  </a:tcPr>
                </a:tc>
              </a:tr>
              <a:tr h="1005840">
                <a:tc>
                  <a:txBody>
                    <a:bodyPr wrap="square"/>
                    <a:lstStyle/>
                    <a:p>
                      <a:pPr algn="l">
                        <a:defRPr sz="1100" b="0">
                          <a:solidFill>
                            <a:srgbClr val="404040"/>
                          </a:solidFill>
                          <a:latin typeface="Arial"/>
                        </a:defRPr>
                      </a:pPr>
                      <a:r>
                        <a:t>Minor International (MINT)</a:t>
                      </a:r>
                    </a:p>
                  </a:txBody>
                  <a:tcPr>
                    <a:solidFill>
                      <a:srgbClr val="FFFFFF"/>
                    </a:solidFill>
                  </a:tcPr>
                </a:tc>
                <a:tc>
                  <a:txBody>
                    <a:bodyPr wrap="square"/>
                    <a:lstStyle/>
                    <a:p>
                      <a:pPr algn="l">
                        <a:defRPr sz="1100" b="0">
                          <a:solidFill>
                            <a:srgbClr val="404040"/>
                          </a:solidFill>
                          <a:latin typeface="Arial"/>
                        </a:defRPr>
                      </a:pPr>
                      <a:r>
                        <a:t>Thailand</a:t>
                      </a:r>
                    </a:p>
                  </a:txBody>
                  <a:tcPr>
                    <a:solidFill>
                      <a:srgbClr val="FFFFFF"/>
                    </a:solidFill>
                  </a:tcPr>
                </a:tc>
                <a:tc>
                  <a:txBody>
                    <a:bodyPr wrap="square"/>
                    <a:lstStyle/>
                    <a:p>
                      <a:pPr algn="l">
                        <a:defRPr sz="1100" b="0">
                          <a:solidFill>
                            <a:srgbClr val="404040"/>
                          </a:solidFill>
                          <a:latin typeface="Arial"/>
                        </a:defRPr>
                      </a:pPr>
                      <a:r>
                        <a:t>SEA’s leading F&amp;B and hospitality group, operating 3,000+ restaurants, hotels, and bakeries.</a:t>
                      </a:r>
                    </a:p>
                  </a:txBody>
                  <a:tcPr>
                    <a:solidFill>
                      <a:srgbClr val="FFFFFF"/>
                    </a:solidFill>
                  </a:tcPr>
                </a:tc>
                <a:tc>
                  <a:txBody>
                    <a:bodyPr wrap="square"/>
                    <a:lstStyle/>
                    <a:p>
                      <a:pPr algn="l">
                        <a:defRPr sz="1100" b="0">
                          <a:solidFill>
                            <a:srgbClr val="404040"/>
                          </a:solidFill>
                          <a:latin typeface="Arial"/>
                        </a:defRPr>
                      </a:pPr>
                      <a:r>
                        <a:t>Bill Heinecke/family, public investors</a:t>
                      </a:r>
                    </a:p>
                  </a:txBody>
                  <a:tcPr>
                    <a:solidFill>
                      <a:srgbClr val="FFFFFF"/>
                    </a:solidFill>
                  </a:tcPr>
                </a:tc>
                <a:tc>
                  <a:txBody>
                    <a:bodyPr wrap="square"/>
                    <a:lstStyle/>
                    <a:p>
                      <a:pPr algn="l">
                        <a:defRPr sz="1100" b="0">
                          <a:solidFill>
                            <a:srgbClr val="404040"/>
                          </a:solidFill>
                          <a:latin typeface="Arial"/>
                        </a:defRPr>
                      </a:pPr>
                      <a:r>
                        <a:t>Revenue $2.4B (2024)</a:t>
                      </a:r>
                    </a:p>
                  </a:txBody>
                  <a:tcPr>
                    <a:solidFill>
                      <a:srgbClr val="FFFFFF"/>
                    </a:solidFill>
                  </a:tcPr>
                </a:tc>
                <a:tc>
                  <a:txBody>
                    <a:bodyPr wrap="square"/>
                    <a:lstStyle/>
                    <a:p>
                      <a:pPr algn="l">
                        <a:defRPr sz="1100" b="0">
                          <a:solidFill>
                            <a:srgbClr val="404040"/>
                          </a:solidFill>
                          <a:latin typeface="Arial"/>
                        </a:defRPr>
                      </a:pPr>
                      <a:r>
                        <a:t>Moelis Bangkok F&amp;B Coverage</a:t>
                      </a:r>
                    </a:p>
                  </a:txBody>
                  <a:tcPr>
                    <a:solidFill>
                      <a:srgbClr val="FFFFFF"/>
                    </a:solidFill>
                  </a:tcPr>
                </a:tc>
              </a:tr>
            </a:tbl>
          </a:graphicData>
        </a:graphic>
      </p:graphicFrame>
      <p:sp>
        <p:nvSpPr>
          <p:cNvPr id="5" name="TextBox 4"/>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6" name="TextBox 5"/>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SEA Conglomerate Strategic Buyers (cont'd)</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277295" cy="1554480"/>
        </p:xfrm>
        <a:graphic>
          <a:graphicData uri="http://schemas.openxmlformats.org/drawingml/2006/table">
            <a:tbl>
              <a:tblPr firstRow="1" bandRow="1">
                <a:tableStyleId>{5C22544A-7EE6-4342-B048-85BDC9FD1C3A}</a:tableStyleId>
              </a:tblPr>
              <a:tblGrid>
                <a:gridCol w="1645920"/>
                <a:gridCol w="914400"/>
                <a:gridCol w="3840480"/>
                <a:gridCol w="2011680"/>
                <a:gridCol w="1645920"/>
                <a:gridCol w="1218895"/>
              </a:tblGrid>
              <a:tr h="548640">
                <a:tc>
                  <a:txBody>
                    <a:bodyPr/>
                    <a:lstStyle/>
                    <a:p>
                      <a:pPr algn="ctr">
                        <a:defRPr sz="1400" b="1">
                          <a:solidFill>
                            <a:srgbClr val="FFFFFF"/>
                          </a:solidFill>
                          <a:latin typeface="Arial"/>
                        </a:defRPr>
                      </a:pPr>
                      <a:r>
                        <a:t>Name</a:t>
                      </a:r>
                    </a:p>
                  </a:txBody>
                  <a:tcPr>
                    <a:solidFill>
                      <a:srgbClr val="183A58"/>
                    </a:solidFill>
                  </a:tcPr>
                </a:tc>
                <a:tc>
                  <a:txBody>
                    <a:bodyPr/>
                    <a:lstStyle/>
                    <a:p>
                      <a:pPr algn="ctr">
                        <a:defRPr sz="1400" b="1">
                          <a:solidFill>
                            <a:srgbClr val="FFFFFF"/>
                          </a:solidFill>
                          <a:latin typeface="Arial"/>
                        </a:defRPr>
                      </a:pPr>
                      <a:r>
                        <a:t>Country</a:t>
                      </a:r>
                    </a:p>
                  </a:txBody>
                  <a:tcPr>
                    <a:solidFill>
                      <a:srgbClr val="183A58"/>
                    </a:solidFill>
                  </a:tcPr>
                </a:tc>
                <a:tc>
                  <a:txBody>
                    <a:bodyPr/>
                    <a:lstStyle/>
                    <a:p>
                      <a:pPr algn="ctr">
                        <a:defRPr sz="1400" b="1">
                          <a:solidFill>
                            <a:srgbClr val="FFFFFF"/>
                          </a:solidFill>
                          <a:latin typeface="Arial"/>
                        </a:defRPr>
                      </a:pPr>
                      <a:r>
                        <a:t>Description</a:t>
                      </a:r>
                    </a:p>
                  </a:txBody>
                  <a:tcPr>
                    <a:solidFill>
                      <a:srgbClr val="183A58"/>
                    </a:solidFill>
                  </a:tcPr>
                </a:tc>
                <a:tc>
                  <a:txBody>
                    <a:bodyPr/>
                    <a:lstStyle/>
                    <a:p>
                      <a:pPr algn="ctr">
                        <a:defRPr sz="1400" b="1">
                          <a:solidFill>
                            <a:srgbClr val="FFFFFF"/>
                          </a:solidFill>
                          <a:latin typeface="Arial"/>
                        </a:defRPr>
                      </a:pPr>
                      <a:r>
                        <a:t>Key shareholders</a:t>
                      </a:r>
                    </a:p>
                  </a:txBody>
                  <a:tcPr>
                    <a:solidFill>
                      <a:srgbClr val="183A58"/>
                    </a:solidFill>
                  </a:tcPr>
                </a:tc>
                <a:tc>
                  <a:txBody>
                    <a:bodyPr/>
                    <a:lstStyle/>
                    <a:p>
                      <a:pPr algn="ctr">
                        <a:defRPr sz="1400" b="1">
                          <a:solidFill>
                            <a:srgbClr val="FFFFFF"/>
                          </a:solidFill>
                          <a:latin typeface="Arial"/>
                        </a:defRPr>
                      </a:pPr>
                      <a:r>
                        <a:t>Key financials (US$m)</a:t>
                      </a:r>
                    </a:p>
                  </a:txBody>
                  <a:tcPr>
                    <a:solidFill>
                      <a:srgbClr val="183A58"/>
                    </a:solidFill>
                  </a:tcPr>
                </a:tc>
                <a:tc>
                  <a:txBody>
                    <a:bodyPr/>
                    <a:lstStyle/>
                    <a:p>
                      <a:pPr algn="ctr">
                        <a:defRPr sz="1400" b="1">
                          <a:solidFill>
                            <a:srgbClr val="FFFFFF"/>
                          </a:solidFill>
                          <a:latin typeface="Arial"/>
                        </a:defRPr>
                      </a:pPr>
                      <a:r>
                        <a:t>Moelis contact</a:t>
                      </a:r>
                    </a:p>
                  </a:txBody>
                  <a:tcPr>
                    <a:solidFill>
                      <a:srgbClr val="183A58"/>
                    </a:solidFill>
                  </a:tcPr>
                </a:tc>
              </a:tr>
              <a:tr h="1005840">
                <a:tc>
                  <a:txBody>
                    <a:bodyPr wrap="square"/>
                    <a:lstStyle/>
                    <a:p>
                      <a:pPr algn="l">
                        <a:defRPr sz="1100" b="0">
                          <a:solidFill>
                            <a:srgbClr val="404040"/>
                          </a:solidFill>
                          <a:latin typeface="Arial"/>
                        </a:defRPr>
                      </a:pPr>
                      <a:r>
                        <a:t>Jardine Matheson</a:t>
                      </a:r>
                    </a:p>
                  </a:txBody>
                  <a:tcPr>
                    <a:solidFill>
                      <a:srgbClr val="FFFFFF"/>
                    </a:solidFill>
                  </a:tcPr>
                </a:tc>
                <a:tc>
                  <a:txBody>
                    <a:bodyPr wrap="square"/>
                    <a:lstStyle/>
                    <a:p>
                      <a:pPr algn="l">
                        <a:defRPr sz="1100" b="0">
                          <a:solidFill>
                            <a:srgbClr val="404040"/>
                          </a:solidFill>
                          <a:latin typeface="Arial"/>
                        </a:defRPr>
                      </a:pPr>
                      <a:r>
                        <a:t>Hong Kong/Singapore</a:t>
                      </a:r>
                    </a:p>
                  </a:txBody>
                  <a:tcPr>
                    <a:solidFill>
                      <a:srgbClr val="FFFFFF"/>
                    </a:solidFill>
                  </a:tcPr>
                </a:tc>
                <a:tc>
                  <a:txBody>
                    <a:bodyPr wrap="square"/>
                    <a:lstStyle/>
                    <a:p>
                      <a:pPr algn="l">
                        <a:defRPr sz="1100" b="0">
                          <a:solidFill>
                            <a:srgbClr val="404040"/>
                          </a:solidFill>
                          <a:latin typeface="Arial"/>
                        </a:defRPr>
                      </a:pPr>
                      <a:r>
                        <a:t>Pan-Asian conglomerate with major food retail (Dairy Farm, Giant, 7-Eleven) and supply chain assets.</a:t>
                      </a:r>
                    </a:p>
                  </a:txBody>
                  <a:tcPr>
                    <a:solidFill>
                      <a:srgbClr val="FFFFFF"/>
                    </a:solidFill>
                  </a:tcPr>
                </a:tc>
                <a:tc>
                  <a:txBody>
                    <a:bodyPr wrap="square"/>
                    <a:lstStyle/>
                    <a:p>
                      <a:pPr algn="l">
                        <a:defRPr sz="1100" b="0">
                          <a:solidFill>
                            <a:srgbClr val="404040"/>
                          </a:solidFill>
                          <a:latin typeface="Arial"/>
                        </a:defRPr>
                      </a:pPr>
                      <a:r>
                        <a:t>Keswick family, institutions</a:t>
                      </a:r>
                    </a:p>
                  </a:txBody>
                  <a:tcPr>
                    <a:solidFill>
                      <a:srgbClr val="FFFFFF"/>
                    </a:solidFill>
                  </a:tcPr>
                </a:tc>
                <a:tc>
                  <a:txBody>
                    <a:bodyPr wrap="square"/>
                    <a:lstStyle/>
                    <a:p>
                      <a:pPr algn="l">
                        <a:defRPr sz="1100" b="0">
                          <a:solidFill>
                            <a:srgbClr val="404040"/>
                          </a:solidFill>
                          <a:latin typeface="Arial"/>
                        </a:defRPr>
                      </a:pPr>
                      <a:r>
                        <a:t>Group revenue $40B+ (2024)</a:t>
                      </a:r>
                    </a:p>
                  </a:txBody>
                  <a:tcPr>
                    <a:solidFill>
                      <a:srgbClr val="FFFFFF"/>
                    </a:solidFill>
                  </a:tcPr>
                </a:tc>
                <a:tc>
                  <a:txBody>
                    <a:bodyPr wrap="square"/>
                    <a:lstStyle/>
                    <a:p>
                      <a:pPr algn="l">
                        <a:defRPr sz="1100" b="0">
                          <a:solidFill>
                            <a:srgbClr val="404040"/>
                          </a:solidFill>
                          <a:latin typeface="Arial"/>
                        </a:defRPr>
                      </a:pPr>
                      <a:r>
                        <a:t>Moelis Hong Kong Corporate Coverage</a:t>
                      </a:r>
                    </a:p>
                  </a:txBody>
                  <a:tcPr>
                    <a:solidFill>
                      <a:srgbClr val="FFFFFF"/>
                    </a:solidFill>
                  </a:tcPr>
                </a:tc>
              </a:tr>
            </a:tbl>
          </a:graphicData>
        </a:graphic>
      </p:graphicFrame>
      <p:sp>
        <p:nvSpPr>
          <p:cNvPr id="5" name="TextBox 4"/>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6" name="TextBox 5"/>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Strategic Buyer Profiles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463040"/>
          <a:ext cx="10515600" cy="2743200"/>
        </p:xfrm>
        <a:graphic>
          <a:graphicData uri="http://schemas.openxmlformats.org/drawingml/2006/table">
            <a:tbl>
              <a:tblPr firstRow="1" bandRow="1">
                <a:tableStyleId>{5C22544A-7EE6-4342-B048-85BDC9FD1C3A}</a:tableStyleId>
              </a:tblPr>
              <a:tblGrid>
                <a:gridCol w="2560320"/>
                <a:gridCol w="2286000"/>
                <a:gridCol w="2286000"/>
                <a:gridCol w="2011680"/>
                <a:gridCol w="1371600"/>
              </a:tblGrid>
              <a:tr h="548640">
                <a:tc>
                  <a:txBody>
                    <a:bodyPr/>
                    <a:lstStyle/>
                    <a:p>
                      <a:pPr algn="ctr"/>
                      <a:r>
                        <a:rPr sz="1200" b="1">
                          <a:solidFill>
                            <a:srgbClr val="FFFFFF"/>
                          </a:solidFill>
                          <a:latin typeface="Arial"/>
                        </a:rPr>
                        <a:t>Buyer Name</a:t>
                      </a:r>
                    </a:p>
                  </a:txBody>
                  <a:tcPr marL="45720" marR="45720" marT="45720" marB="45720">
                    <a:solidFill>
                      <a:srgbClr val="183A58"/>
                    </a:solidFill>
                  </a:tcPr>
                </a:tc>
                <a:tc>
                  <a:txBody>
                    <a:bodyPr/>
                    <a:lstStyle/>
                    <a:p>
                      <a:pPr algn="ctr"/>
                      <a:r>
                        <a:rPr sz="1200" b="1">
                          <a:solidFill>
                            <a:srgbClr val="FFFFFF"/>
                          </a:solidFill>
                          <a:latin typeface="Arial"/>
                        </a:rPr>
                        <a:t>Description</a:t>
                      </a:r>
                    </a:p>
                  </a:txBody>
                  <a:tcPr marL="45720" marR="45720" marT="45720" marB="45720">
                    <a:solidFill>
                      <a:srgbClr val="183A58"/>
                    </a:solidFill>
                  </a:tcPr>
                </a:tc>
                <a:tc>
                  <a:txBody>
                    <a:bodyPr/>
                    <a:lstStyle/>
                    <a:p>
                      <a:pPr algn="ctr"/>
                      <a:r>
                        <a:rPr sz="1200" b="1">
                          <a:solidFill>
                            <a:srgbClr val="FFFFFF"/>
                          </a:solidFill>
                          <a:latin typeface="Arial"/>
                        </a:rPr>
                        <a:t>Strategic Rationale</a:t>
                      </a:r>
                    </a:p>
                  </a:txBody>
                  <a:tcPr marL="45720" marR="45720" marT="45720" marB="45720">
                    <a:solidFill>
                      <a:srgbClr val="183A58"/>
                    </a:solidFill>
                  </a:tcPr>
                </a:tc>
                <a:tc>
                  <a:txBody>
                    <a:bodyPr/>
                    <a:lstStyle/>
                    <a:p>
                      <a:pPr algn="ctr"/>
                      <a:r>
                        <a:rPr sz="1200" b="1">
                          <a:solidFill>
                            <a:srgbClr val="FFFFFF"/>
                          </a:solidFill>
                          <a:latin typeface="Arial"/>
                        </a:rPr>
                        <a:t>Key Synergies</a:t>
                      </a:r>
                    </a:p>
                  </a:txBody>
                  <a:tcPr marL="45720" marR="45720" marT="45720" marB="45720">
                    <a:solidFill>
                      <a:srgbClr val="183A58"/>
                    </a:solidFill>
                  </a:tcPr>
                </a:tc>
                <a:tc>
                  <a:txBody>
                    <a:bodyPr/>
                    <a:lstStyle/>
                    <a:p>
                      <a:pPr algn="ctr"/>
                      <a:r>
                        <a:rPr sz="1200" b="1">
                          <a:solidFill>
                            <a:srgbClr val="FFFFFF"/>
                          </a:solidFill>
                          <a:latin typeface="Arial"/>
                        </a:rPr>
                        <a:t>Concerns</a:t>
                      </a:r>
                    </a:p>
                  </a:txBody>
                  <a:tcPr marL="45720" marR="45720" marT="45720" marB="45720">
                    <a:solidFill>
                      <a:srgbClr val="183A58"/>
                    </a:solidFill>
                  </a:tcPr>
                </a:tc>
              </a:tr>
              <a:tr h="548640">
                <a:tc>
                  <a:txBody>
                    <a:bodyPr wrap="square"/>
                    <a:lstStyle/>
                    <a:p>
                      <a:pPr algn="l"/>
                      <a:r>
                        <a:rPr sz="1100" b="1">
                          <a:solidFill>
                            <a:srgbClr val="404040"/>
                          </a:solidFill>
                          <a:latin typeface="Arial"/>
                        </a:rPr>
                        <a:t>Charoen Pokphand Group (CP Group)</a:t>
                      </a:r>
                    </a:p>
                  </a:txBody>
                  <a:tcPr marL="45720" marR="45720" marT="45720" marB="45720">
                    <a:solidFill>
                      <a:srgbClr val="FFFFFF"/>
                    </a:solidFill>
                  </a:tcPr>
                </a:tc>
                <a:tc>
                  <a:txBody>
                    <a:bodyPr wrap="square"/>
                    <a:lstStyle/>
                    <a:p>
                      <a:pPr algn="l"/>
                      <a:r>
                        <a:rPr sz="1100">
                          <a:solidFill>
                            <a:srgbClr val="404040"/>
                          </a:solidFill>
                          <a:latin typeface="Arial"/>
                        </a:rPr>
                        <a:t>Expansion of bakery and convenience retail portfolio in Indonesia and Southeast Asia.</a:t>
                      </a:r>
                    </a:p>
                  </a:txBody>
                  <a:tcPr marL="45720" marR="45720" marT="45720" marB="45720">
                    <a:solidFill>
                      <a:srgbClr val="FFFFFF"/>
                    </a:solidFill>
                  </a:tcPr>
                </a:tc>
                <a:tc>
                  <a:txBody>
                    <a:bodyPr wrap="square"/>
                    <a:lstStyle/>
                    <a:p>
                      <a:pPr algn="l"/>
                      <a:r>
                        <a:rPr sz="1100">
                          <a:solidFill>
                            <a:srgbClr val="404040"/>
                          </a:solidFill>
                          <a:latin typeface="Arial"/>
                        </a:rPr>
                        <a:t>Distribution, supply chain, retail channel leverage.</a:t>
                      </a:r>
                    </a:p>
                  </a:txBody>
                  <a:tcPr marL="45720" marR="45720" marT="45720" marB="45720">
                    <a:solidFill>
                      <a:srgbClr val="FFFFFF"/>
                    </a:solidFill>
                  </a:tcPr>
                </a:tc>
                <a:tc>
                  <a:txBody>
                    <a:bodyPr wrap="square"/>
                    <a:lstStyle/>
                    <a:p>
                      <a:pPr algn="l"/>
                      <a:r>
                        <a:rPr sz="1100">
                          <a:solidFill>
                            <a:srgbClr val="404040"/>
                          </a:solidFill>
                          <a:latin typeface="Arial"/>
                        </a:rPr>
                        <a:t>Market overlap, integration with existing brands.</a:t>
                      </a:r>
                    </a:p>
                  </a:txBody>
                  <a:tcPr marL="45720" marR="45720" marT="45720" marB="45720">
                    <a:solidFill>
                      <a:srgbClr val="FFFFFF"/>
                    </a:solidFill>
                  </a:tcPr>
                </a:tc>
                <a:tc>
                  <a:txBody>
                    <a:bodyPr wrap="square"/>
                    <a:lstStyle/>
                    <a:p>
                      <a:pPr algn="l"/>
                      <a:r>
                        <a:rPr sz="1100">
                          <a:solidFill>
                            <a:srgbClr val="404040"/>
                          </a:solidFill>
                          <a:latin typeface="Arial"/>
                        </a:rPr>
                        <a:t>9/10</a:t>
                      </a:r>
                    </a:p>
                  </a:txBody>
                  <a:tcPr marL="45720" marR="45720" marT="45720" marB="45720">
                    <a:solidFill>
                      <a:srgbClr val="FFFFFF"/>
                    </a:solidFill>
                  </a:tcPr>
                </a:tc>
              </a:tr>
              <a:tr h="548640">
                <a:tc>
                  <a:txBody>
                    <a:bodyPr wrap="square"/>
                    <a:lstStyle/>
                    <a:p>
                      <a:pPr algn="l"/>
                      <a:r>
                        <a:rPr sz="1100" b="1">
                          <a:solidFill>
                            <a:srgbClr val="404040"/>
                          </a:solidFill>
                          <a:latin typeface="Arial"/>
                        </a:rPr>
                        <a:t>Wilmar International</a:t>
                      </a:r>
                    </a:p>
                  </a:txBody>
                  <a:tcPr marL="45720" marR="45720" marT="45720" marB="45720">
                    <a:solidFill>
                      <a:srgbClr val="F0F0F0"/>
                    </a:solidFill>
                  </a:tcPr>
                </a:tc>
                <a:tc>
                  <a:txBody>
                    <a:bodyPr wrap="square"/>
                    <a:lstStyle/>
                    <a:p>
                      <a:pPr algn="l"/>
                      <a:r>
                        <a:rPr sz="1100">
                          <a:solidFill>
                            <a:srgbClr val="404040"/>
                          </a:solidFill>
                          <a:latin typeface="Arial"/>
                        </a:rPr>
                        <a:t>Vertical integration, expansion into branded bakery retail.</a:t>
                      </a:r>
                    </a:p>
                  </a:txBody>
                  <a:tcPr marL="45720" marR="45720" marT="45720" marB="45720">
                    <a:solidFill>
                      <a:srgbClr val="F0F0F0"/>
                    </a:solidFill>
                  </a:tcPr>
                </a:tc>
                <a:tc>
                  <a:txBody>
                    <a:bodyPr wrap="square"/>
                    <a:lstStyle/>
                    <a:p>
                      <a:pPr algn="l"/>
                      <a:r>
                        <a:rPr sz="1100">
                          <a:solidFill>
                            <a:srgbClr val="404040"/>
                          </a:solidFill>
                          <a:latin typeface="Arial"/>
                        </a:rPr>
                        <a:t>Ingredient supply, logistics, market expansion.</a:t>
                      </a:r>
                    </a:p>
                  </a:txBody>
                  <a:tcPr marL="45720" marR="45720" marT="45720" marB="45720">
                    <a:solidFill>
                      <a:srgbClr val="F0F0F0"/>
                    </a:solidFill>
                  </a:tcPr>
                </a:tc>
                <a:tc>
                  <a:txBody>
                    <a:bodyPr wrap="square"/>
                    <a:lstStyle/>
                    <a:p>
                      <a:pPr algn="l"/>
                      <a:r>
                        <a:rPr sz="1100">
                          <a:solidFill>
                            <a:srgbClr val="404040"/>
                          </a:solidFill>
                          <a:latin typeface="Arial"/>
                        </a:rPr>
                        <a:t>Competition with existing partners.</a:t>
                      </a:r>
                    </a:p>
                  </a:txBody>
                  <a:tcPr marL="45720" marR="45720" marT="45720" marB="45720">
                    <a:solidFill>
                      <a:srgbClr val="F0F0F0"/>
                    </a:solidFill>
                  </a:tcPr>
                </a:tc>
                <a:tc>
                  <a:txBody>
                    <a:bodyPr wrap="square"/>
                    <a:lstStyle/>
                    <a:p>
                      <a:pPr algn="l"/>
                      <a:r>
                        <a:rPr sz="1100">
                          <a:solidFill>
                            <a:srgbClr val="404040"/>
                          </a:solidFill>
                          <a:latin typeface="Arial"/>
                        </a:rPr>
                        <a:t>8/10</a:t>
                      </a:r>
                    </a:p>
                  </a:txBody>
                  <a:tcPr marL="45720" marR="45720" marT="45720" marB="45720">
                    <a:solidFill>
                      <a:srgbClr val="F0F0F0"/>
                    </a:solidFill>
                  </a:tcPr>
                </a:tc>
              </a:tr>
              <a:tr h="548640">
                <a:tc>
                  <a:txBody>
                    <a:bodyPr wrap="square"/>
                    <a:lstStyle/>
                    <a:p>
                      <a:pPr algn="l"/>
                      <a:r>
                        <a:rPr sz="1100" b="1">
                          <a:solidFill>
                            <a:srgbClr val="404040"/>
                          </a:solidFill>
                          <a:latin typeface="Arial"/>
                        </a:rPr>
                        <a:t>Salim Group / Indofood</a:t>
                      </a:r>
                    </a:p>
                  </a:txBody>
                  <a:tcPr marL="45720" marR="45720" marT="45720" marB="45720">
                    <a:solidFill>
                      <a:srgbClr val="FFFFFF"/>
                    </a:solidFill>
                  </a:tcPr>
                </a:tc>
                <a:tc>
                  <a:txBody>
                    <a:bodyPr wrap="square"/>
                    <a:lstStyle/>
                    <a:p>
                      <a:pPr algn="l"/>
                      <a:r>
                        <a:rPr sz="1100">
                          <a:solidFill>
                            <a:srgbClr val="404040"/>
                          </a:solidFill>
                          <a:latin typeface="Arial"/>
                        </a:rPr>
                        <a:t>Market consolidation and premium brand portfolio expansion.</a:t>
                      </a:r>
                    </a:p>
                  </a:txBody>
                  <a:tcPr marL="45720" marR="45720" marT="45720" marB="45720">
                    <a:solidFill>
                      <a:srgbClr val="FFFFFF"/>
                    </a:solidFill>
                  </a:tcPr>
                </a:tc>
                <a:tc>
                  <a:txBody>
                    <a:bodyPr wrap="square"/>
                    <a:lstStyle/>
                    <a:p>
                      <a:pPr algn="l"/>
                      <a:r>
                        <a:rPr sz="1100">
                          <a:solidFill>
                            <a:srgbClr val="404040"/>
                          </a:solidFill>
                          <a:latin typeface="Arial"/>
                        </a:rPr>
                        <a:t>Distribution, production, retail footprint.</a:t>
                      </a:r>
                    </a:p>
                  </a:txBody>
                  <a:tcPr marL="45720" marR="45720" marT="45720" marB="45720">
                    <a:solidFill>
                      <a:srgbClr val="FFFFFF"/>
                    </a:solidFill>
                  </a:tcPr>
                </a:tc>
                <a:tc>
                  <a:txBody>
                    <a:bodyPr wrap="square"/>
                    <a:lstStyle/>
                    <a:p>
                      <a:pPr algn="l"/>
                      <a:r>
                        <a:rPr sz="1100">
                          <a:solidFill>
                            <a:srgbClr val="404040"/>
                          </a:solidFill>
                          <a:latin typeface="Arial"/>
                        </a:rPr>
                        <a:t>Regulatory scrutiny, brand overlap.</a:t>
                      </a:r>
                    </a:p>
                  </a:txBody>
                  <a:tcPr marL="45720" marR="45720" marT="45720" marB="45720">
                    <a:solidFill>
                      <a:srgbClr val="FFFFFF"/>
                    </a:solidFill>
                  </a:tcPr>
                </a:tc>
                <a:tc>
                  <a:txBody>
                    <a:bodyPr wrap="square"/>
                    <a:lstStyle/>
                    <a:p>
                      <a:pPr algn="l"/>
                      <a:r>
                        <a:rPr sz="1100">
                          <a:solidFill>
                            <a:srgbClr val="404040"/>
                          </a:solidFill>
                          <a:latin typeface="Arial"/>
                        </a:rPr>
                        <a:t>8/10</a:t>
                      </a:r>
                    </a:p>
                  </a:txBody>
                  <a:tcPr marL="45720" marR="45720" marT="45720" marB="45720">
                    <a:solidFill>
                      <a:srgbClr val="FFFFFF"/>
                    </a:solidFill>
                  </a:tcPr>
                </a:tc>
              </a:tr>
              <a:tr h="548640">
                <a:tc>
                  <a:txBody>
                    <a:bodyPr wrap="square"/>
                    <a:lstStyle/>
                    <a:p>
                      <a:pPr algn="l"/>
                      <a:r>
                        <a:rPr sz="1100" b="1">
                          <a:solidFill>
                            <a:srgbClr val="404040"/>
                          </a:solidFill>
                          <a:latin typeface="Arial"/>
                        </a:rPr>
                        <a:t>Minor International (MINT)</a:t>
                      </a:r>
                    </a:p>
                  </a:txBody>
                  <a:tcPr marL="45720" marR="45720" marT="45720" marB="45720">
                    <a:solidFill>
                      <a:srgbClr val="F0F0F0"/>
                    </a:solidFill>
                  </a:tcPr>
                </a:tc>
                <a:tc>
                  <a:txBody>
                    <a:bodyPr wrap="square"/>
                    <a:lstStyle/>
                    <a:p>
                      <a:pPr algn="l"/>
                      <a:r>
                        <a:rPr sz="1100">
                          <a:solidFill>
                            <a:srgbClr val="404040"/>
                          </a:solidFill>
                          <a:latin typeface="Arial"/>
                        </a:rPr>
                        <a:t>Regional bakery expansion, premiumization.</a:t>
                      </a:r>
                    </a:p>
                  </a:txBody>
                  <a:tcPr marL="45720" marR="45720" marT="45720" marB="45720">
                    <a:solidFill>
                      <a:srgbClr val="F0F0F0"/>
                    </a:solidFill>
                  </a:tcPr>
                </a:tc>
                <a:tc>
                  <a:txBody>
                    <a:bodyPr wrap="square"/>
                    <a:lstStyle/>
                    <a:p>
                      <a:pPr algn="l"/>
                      <a:r>
                        <a:rPr sz="1100">
                          <a:solidFill>
                            <a:srgbClr val="404040"/>
                          </a:solidFill>
                          <a:latin typeface="Arial"/>
                        </a:rPr>
                        <a:t>Branding, innovation, regional outlets.</a:t>
                      </a:r>
                    </a:p>
                  </a:txBody>
                  <a:tcPr marL="45720" marR="45720" marT="45720" marB="45720">
                    <a:solidFill>
                      <a:srgbClr val="F0F0F0"/>
                    </a:solidFill>
                  </a:tcPr>
                </a:tc>
                <a:tc>
                  <a:txBody>
                    <a:bodyPr wrap="square"/>
                    <a:lstStyle/>
                    <a:p>
                      <a:pPr algn="l"/>
                      <a:r>
                        <a:rPr sz="1100">
                          <a:solidFill>
                            <a:srgbClr val="404040"/>
                          </a:solidFill>
                          <a:latin typeface="Arial"/>
                        </a:rPr>
                        <a:t>Brand integration, cultural fit.</a:t>
                      </a:r>
                    </a:p>
                  </a:txBody>
                  <a:tcPr marL="45720" marR="45720" marT="45720" marB="45720">
                    <a:solidFill>
                      <a:srgbClr val="F0F0F0"/>
                    </a:solidFill>
                  </a:tcPr>
                </a:tc>
                <a:tc>
                  <a:txBody>
                    <a:bodyPr wrap="square"/>
                    <a:lstStyle/>
                    <a:p>
                      <a:pPr algn="l"/>
                      <a:r>
                        <a:rPr sz="1100">
                          <a:solidFill>
                            <a:srgbClr val="404040"/>
                          </a:solidFill>
                          <a:latin typeface="Arial"/>
                        </a:rPr>
                        <a:t>7/10</a:t>
                      </a:r>
                    </a:p>
                  </a:txBody>
                  <a:tcPr marL="45720" marR="45720" marT="45720" marB="45720">
                    <a:solidFill>
                      <a:srgbClr val="F0F0F0"/>
                    </a:solidFill>
                  </a:tcPr>
                </a:tc>
              </a:tr>
            </a:tbl>
          </a:graphicData>
        </a:graphic>
      </p:graphicFrame>
      <p:sp>
        <p:nvSpPr>
          <p:cNvPr id="5" name="TextBox 4"/>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6" name="TextBox 5"/>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Financial Buyer Profiles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463040"/>
          <a:ext cx="10515600" cy="2743200"/>
        </p:xfrm>
        <a:graphic>
          <a:graphicData uri="http://schemas.openxmlformats.org/drawingml/2006/table">
            <a:tbl>
              <a:tblPr firstRow="1" bandRow="1">
                <a:tableStyleId>{5C22544A-7EE6-4342-B048-85BDC9FD1C3A}</a:tableStyleId>
              </a:tblPr>
              <a:tblGrid>
                <a:gridCol w="2560320"/>
                <a:gridCol w="2286000"/>
                <a:gridCol w="2286000"/>
                <a:gridCol w="2011680"/>
                <a:gridCol w="1371600"/>
              </a:tblGrid>
              <a:tr h="548640">
                <a:tc>
                  <a:txBody>
                    <a:bodyPr/>
                    <a:lstStyle/>
                    <a:p>
                      <a:pPr algn="ctr"/>
                      <a:r>
                        <a:rPr sz="1200" b="1">
                          <a:solidFill>
                            <a:srgbClr val="FFFFFF"/>
                          </a:solidFill>
                          <a:latin typeface="Arial"/>
                        </a:rPr>
                        <a:t>Buyer Name</a:t>
                      </a:r>
                    </a:p>
                  </a:txBody>
                  <a:tcPr marL="45720" marR="45720" marT="45720" marB="45720">
                    <a:solidFill>
                      <a:srgbClr val="183A58"/>
                    </a:solidFill>
                  </a:tcPr>
                </a:tc>
                <a:tc>
                  <a:txBody>
                    <a:bodyPr/>
                    <a:lstStyle/>
                    <a:p>
                      <a:pPr algn="ctr"/>
                      <a:r>
                        <a:rPr sz="1200" b="1">
                          <a:solidFill>
                            <a:srgbClr val="FFFFFF"/>
                          </a:solidFill>
                          <a:latin typeface="Arial"/>
                        </a:rPr>
                        <a:t>Description</a:t>
                      </a:r>
                    </a:p>
                  </a:txBody>
                  <a:tcPr marL="45720" marR="45720" marT="45720" marB="45720">
                    <a:solidFill>
                      <a:srgbClr val="183A58"/>
                    </a:solidFill>
                  </a:tcPr>
                </a:tc>
                <a:tc>
                  <a:txBody>
                    <a:bodyPr/>
                    <a:lstStyle/>
                    <a:p>
                      <a:pPr algn="ctr"/>
                      <a:r>
                        <a:rPr sz="1200" b="1">
                          <a:solidFill>
                            <a:srgbClr val="FFFFFF"/>
                          </a:solidFill>
                          <a:latin typeface="Arial"/>
                        </a:rPr>
                        <a:t>Strategic Rationale</a:t>
                      </a:r>
                    </a:p>
                  </a:txBody>
                  <a:tcPr marL="45720" marR="45720" marT="45720" marB="45720">
                    <a:solidFill>
                      <a:srgbClr val="183A58"/>
                    </a:solidFill>
                  </a:tcPr>
                </a:tc>
                <a:tc>
                  <a:txBody>
                    <a:bodyPr/>
                    <a:lstStyle/>
                    <a:p>
                      <a:pPr algn="ctr"/>
                      <a:r>
                        <a:rPr sz="1200" b="1">
                          <a:solidFill>
                            <a:srgbClr val="FFFFFF"/>
                          </a:solidFill>
                          <a:latin typeface="Arial"/>
                        </a:rPr>
                        <a:t>Key Synergies</a:t>
                      </a:r>
                    </a:p>
                  </a:txBody>
                  <a:tcPr marL="45720" marR="45720" marT="45720" marB="45720">
                    <a:solidFill>
                      <a:srgbClr val="183A58"/>
                    </a:solidFill>
                  </a:tcPr>
                </a:tc>
                <a:tc>
                  <a:txBody>
                    <a:bodyPr/>
                    <a:lstStyle/>
                    <a:p>
                      <a:pPr algn="ctr"/>
                      <a:r>
                        <a:rPr sz="1200" b="1">
                          <a:solidFill>
                            <a:srgbClr val="FFFFFF"/>
                          </a:solidFill>
                          <a:latin typeface="Arial"/>
                        </a:rPr>
                        <a:t>Concerns</a:t>
                      </a:r>
                    </a:p>
                  </a:txBody>
                  <a:tcPr marL="45720" marR="45720" marT="45720" marB="45720">
                    <a:solidFill>
                      <a:srgbClr val="183A58"/>
                    </a:solidFill>
                  </a:tcPr>
                </a:tc>
              </a:tr>
              <a:tr h="548640">
                <a:tc>
                  <a:txBody>
                    <a:bodyPr wrap="square"/>
                    <a:lstStyle/>
                    <a:p>
                      <a:pPr algn="l"/>
                      <a:r>
                        <a:rPr sz="1100" b="1">
                          <a:solidFill>
                            <a:srgbClr val="404040"/>
                          </a:solidFill>
                          <a:latin typeface="Arial"/>
                        </a:rPr>
                        <a:t>KKR Asia</a:t>
                      </a:r>
                    </a:p>
                  </a:txBody>
                  <a:tcPr marL="45720" marR="45720" marT="45720" marB="45720">
                    <a:solidFill>
                      <a:srgbClr val="FFFFFF"/>
                    </a:solidFill>
                  </a:tcPr>
                </a:tc>
                <a:tc>
                  <a:txBody>
                    <a:bodyPr wrap="square"/>
                    <a:lstStyle/>
                    <a:p>
                      <a:pPr algn="l"/>
                      <a:r>
                        <a:rPr sz="1100">
                          <a:solidFill>
                            <a:srgbClr val="404040"/>
                          </a:solidFill>
                          <a:latin typeface="Arial"/>
                        </a:rPr>
                        <a:t>Platform for regional roll-up and digital transformation.</a:t>
                      </a:r>
                    </a:p>
                  </a:txBody>
                  <a:tcPr marL="45720" marR="45720" marT="45720" marB="45720">
                    <a:solidFill>
                      <a:srgbClr val="FFFFFF"/>
                    </a:solidFill>
                  </a:tcPr>
                </a:tc>
                <a:tc>
                  <a:txBody>
                    <a:bodyPr wrap="square"/>
                    <a:lstStyle/>
                    <a:p>
                      <a:pPr algn="l"/>
                      <a:r>
                        <a:rPr sz="1100">
                          <a:solidFill>
                            <a:srgbClr val="404040"/>
                          </a:solidFill>
                          <a:latin typeface="Arial"/>
                        </a:rPr>
                        <a:t>Capital for outlet growth, digital/operational improvement.</a:t>
                      </a:r>
                    </a:p>
                  </a:txBody>
                  <a:tcPr marL="45720" marR="45720" marT="45720" marB="45720">
                    <a:solidFill>
                      <a:srgbClr val="FFFFFF"/>
                    </a:solidFill>
                  </a:tcPr>
                </a:tc>
                <a:tc>
                  <a:txBody>
                    <a:bodyPr wrap="square"/>
                    <a:lstStyle/>
                    <a:p>
                      <a:pPr algn="l"/>
                      <a:r>
                        <a:rPr sz="1100">
                          <a:solidFill>
                            <a:srgbClr val="404040"/>
                          </a:solidFill>
                          <a:latin typeface="Arial"/>
                        </a:rPr>
                        <a:t>Exit timing, market volatility.</a:t>
                      </a:r>
                    </a:p>
                  </a:txBody>
                  <a:tcPr marL="45720" marR="45720" marT="45720" marB="45720">
                    <a:solidFill>
                      <a:srgbClr val="FFFFFF"/>
                    </a:solidFill>
                  </a:tcPr>
                </a:tc>
                <a:tc>
                  <a:txBody>
                    <a:bodyPr wrap="square"/>
                    <a:lstStyle/>
                    <a:p>
                      <a:pPr algn="l"/>
                      <a:r>
                        <a:rPr sz="1100">
                          <a:solidFill>
                            <a:srgbClr val="404040"/>
                          </a:solidFill>
                          <a:latin typeface="Arial"/>
                        </a:rPr>
                        <a:t>9/10</a:t>
                      </a:r>
                    </a:p>
                  </a:txBody>
                  <a:tcPr marL="45720" marR="45720" marT="45720" marB="45720">
                    <a:solidFill>
                      <a:srgbClr val="FFFFFF"/>
                    </a:solidFill>
                  </a:tcPr>
                </a:tc>
              </a:tr>
              <a:tr h="548640">
                <a:tc>
                  <a:txBody>
                    <a:bodyPr wrap="square"/>
                    <a:lstStyle/>
                    <a:p>
                      <a:pPr algn="l"/>
                      <a:r>
                        <a:rPr sz="1100" b="1">
                          <a:solidFill>
                            <a:srgbClr val="404040"/>
                          </a:solidFill>
                          <a:latin typeface="Arial"/>
                        </a:rPr>
                        <a:t>CVC Capital Partners Asia</a:t>
                      </a:r>
                    </a:p>
                  </a:txBody>
                  <a:tcPr marL="45720" marR="45720" marT="45720" marB="45720">
                    <a:solidFill>
                      <a:srgbClr val="F0F0F0"/>
                    </a:solidFill>
                  </a:tcPr>
                </a:tc>
                <a:tc>
                  <a:txBody>
                    <a:bodyPr wrap="square"/>
                    <a:lstStyle/>
                    <a:p>
                      <a:pPr algn="l"/>
                      <a:r>
                        <a:rPr sz="1100">
                          <a:solidFill>
                            <a:srgbClr val="404040"/>
                          </a:solidFill>
                          <a:latin typeface="Arial"/>
                        </a:rPr>
                        <a:t>Growth and operational improvement platform.</a:t>
                      </a:r>
                    </a:p>
                  </a:txBody>
                  <a:tcPr marL="45720" marR="45720" marT="45720" marB="45720">
                    <a:solidFill>
                      <a:srgbClr val="F0F0F0"/>
                    </a:solidFill>
                  </a:tcPr>
                </a:tc>
                <a:tc>
                  <a:txBody>
                    <a:bodyPr wrap="square"/>
                    <a:lstStyle/>
                    <a:p>
                      <a:pPr algn="l"/>
                      <a:r>
                        <a:rPr sz="1100">
                          <a:solidFill>
                            <a:srgbClr val="404040"/>
                          </a:solidFill>
                          <a:latin typeface="Arial"/>
                        </a:rPr>
                        <a:t>Buy-and-build, management upgrade, expansion.</a:t>
                      </a:r>
                    </a:p>
                  </a:txBody>
                  <a:tcPr marL="45720" marR="45720" marT="45720" marB="45720">
                    <a:solidFill>
                      <a:srgbClr val="F0F0F0"/>
                    </a:solidFill>
                  </a:tcPr>
                </a:tc>
                <a:tc>
                  <a:txBody>
                    <a:bodyPr wrap="square"/>
                    <a:lstStyle/>
                    <a:p>
                      <a:pPr algn="l"/>
                      <a:r>
                        <a:rPr sz="1100">
                          <a:solidFill>
                            <a:srgbClr val="404040"/>
                          </a:solidFill>
                          <a:latin typeface="Arial"/>
                        </a:rPr>
                        <a:t>Integration risk, competition.</a:t>
                      </a:r>
                    </a:p>
                  </a:txBody>
                  <a:tcPr marL="45720" marR="45720" marT="45720" marB="45720">
                    <a:solidFill>
                      <a:srgbClr val="F0F0F0"/>
                    </a:solidFill>
                  </a:tcPr>
                </a:tc>
                <a:tc>
                  <a:txBody>
                    <a:bodyPr wrap="square"/>
                    <a:lstStyle/>
                    <a:p>
                      <a:pPr algn="l"/>
                      <a:r>
                        <a:rPr sz="1100">
                          <a:solidFill>
                            <a:srgbClr val="404040"/>
                          </a:solidFill>
                          <a:latin typeface="Arial"/>
                        </a:rPr>
                        <a:t>8/10</a:t>
                      </a:r>
                    </a:p>
                  </a:txBody>
                  <a:tcPr marL="45720" marR="45720" marT="45720" marB="45720">
                    <a:solidFill>
                      <a:srgbClr val="F0F0F0"/>
                    </a:solidFill>
                  </a:tcPr>
                </a:tc>
              </a:tr>
              <a:tr h="548640">
                <a:tc>
                  <a:txBody>
                    <a:bodyPr wrap="square"/>
                    <a:lstStyle/>
                    <a:p>
                      <a:pPr algn="l"/>
                      <a:r>
                        <a:rPr sz="1100" b="1">
                          <a:solidFill>
                            <a:srgbClr val="404040"/>
                          </a:solidFill>
                          <a:latin typeface="Arial"/>
                        </a:rPr>
                        <a:t>Temasek Holdings</a:t>
                      </a:r>
                    </a:p>
                  </a:txBody>
                  <a:tcPr marL="45720" marR="45720" marT="45720" marB="45720">
                    <a:solidFill>
                      <a:srgbClr val="FFFFFF"/>
                    </a:solidFill>
                  </a:tcPr>
                </a:tc>
                <a:tc>
                  <a:txBody>
                    <a:bodyPr wrap="square"/>
                    <a:lstStyle/>
                    <a:p>
                      <a:pPr algn="l"/>
                      <a:r>
                        <a:rPr sz="1100">
                          <a:solidFill>
                            <a:srgbClr val="404040"/>
                          </a:solidFill>
                          <a:latin typeface="Arial"/>
                        </a:rPr>
                        <a:t>Long-term consumer play, regional exposure.</a:t>
                      </a:r>
                    </a:p>
                  </a:txBody>
                  <a:tcPr marL="45720" marR="45720" marT="45720" marB="45720">
                    <a:solidFill>
                      <a:srgbClr val="FFFFFF"/>
                    </a:solidFill>
                  </a:tcPr>
                </a:tc>
                <a:tc>
                  <a:txBody>
                    <a:bodyPr wrap="square"/>
                    <a:lstStyle/>
                    <a:p>
                      <a:pPr algn="l"/>
                      <a:r>
                        <a:rPr sz="1100">
                          <a:solidFill>
                            <a:srgbClr val="404040"/>
                          </a:solidFill>
                          <a:latin typeface="Arial"/>
                        </a:rPr>
                        <a:t>Expansion capital, network, governance.</a:t>
                      </a:r>
                    </a:p>
                  </a:txBody>
                  <a:tcPr marL="45720" marR="45720" marT="45720" marB="45720">
                    <a:solidFill>
                      <a:srgbClr val="FFFFFF"/>
                    </a:solidFill>
                  </a:tcPr>
                </a:tc>
                <a:tc>
                  <a:txBody>
                    <a:bodyPr wrap="square"/>
                    <a:lstStyle/>
                    <a:p>
                      <a:pPr algn="l"/>
                      <a:r>
                        <a:rPr sz="1100">
                          <a:solidFill>
                            <a:srgbClr val="404040"/>
                          </a:solidFill>
                          <a:latin typeface="Arial"/>
                        </a:rPr>
                        <a:t>Return thresholds, governance.</a:t>
                      </a:r>
                    </a:p>
                  </a:txBody>
                  <a:tcPr marL="45720" marR="45720" marT="45720" marB="45720">
                    <a:solidFill>
                      <a:srgbClr val="FFFFFF"/>
                    </a:solidFill>
                  </a:tcPr>
                </a:tc>
                <a:tc>
                  <a:txBody>
                    <a:bodyPr wrap="square"/>
                    <a:lstStyle/>
                    <a:p>
                      <a:pPr algn="l"/>
                      <a:r>
                        <a:rPr sz="1100">
                          <a:solidFill>
                            <a:srgbClr val="404040"/>
                          </a:solidFill>
                          <a:latin typeface="Arial"/>
                        </a:rPr>
                        <a:t>8/10</a:t>
                      </a:r>
                    </a:p>
                  </a:txBody>
                  <a:tcPr marL="45720" marR="45720" marT="45720" marB="45720">
                    <a:solidFill>
                      <a:srgbClr val="FFFFFF"/>
                    </a:solidFill>
                  </a:tcPr>
                </a:tc>
              </a:tr>
              <a:tr h="548640">
                <a:tc>
                  <a:txBody>
                    <a:bodyPr wrap="square"/>
                    <a:lstStyle/>
                    <a:p>
                      <a:pPr algn="l"/>
                      <a:r>
                        <a:rPr sz="1100" b="1">
                          <a:solidFill>
                            <a:srgbClr val="404040"/>
                          </a:solidFill>
                          <a:latin typeface="Arial"/>
                        </a:rPr>
                        <a:t>Northstar Group</a:t>
                      </a:r>
                    </a:p>
                  </a:txBody>
                  <a:tcPr marL="45720" marR="45720" marT="45720" marB="45720">
                    <a:solidFill>
                      <a:srgbClr val="F0F0F0"/>
                    </a:solidFill>
                  </a:tcPr>
                </a:tc>
                <a:tc>
                  <a:txBody>
                    <a:bodyPr wrap="square"/>
                    <a:lstStyle/>
                    <a:p>
                      <a:pPr algn="l"/>
                      <a:r>
                        <a:rPr sz="1100">
                          <a:solidFill>
                            <a:srgbClr val="404040"/>
                          </a:solidFill>
                          <a:latin typeface="Arial"/>
                        </a:rPr>
                        <a:t>Leverage Indonesian network, local expansion.</a:t>
                      </a:r>
                    </a:p>
                  </a:txBody>
                  <a:tcPr marL="45720" marR="45720" marT="45720" marB="45720">
                    <a:solidFill>
                      <a:srgbClr val="F0F0F0"/>
                    </a:solidFill>
                  </a:tcPr>
                </a:tc>
                <a:tc>
                  <a:txBody>
                    <a:bodyPr wrap="square"/>
                    <a:lstStyle/>
                    <a:p>
                      <a:pPr algn="l"/>
                      <a:r>
                        <a:rPr sz="1100">
                          <a:solidFill>
                            <a:srgbClr val="404040"/>
                          </a:solidFill>
                          <a:latin typeface="Arial"/>
                        </a:rPr>
                        <a:t>Local relationships, growth capital.</a:t>
                      </a:r>
                    </a:p>
                  </a:txBody>
                  <a:tcPr marL="45720" marR="45720" marT="45720" marB="45720">
                    <a:solidFill>
                      <a:srgbClr val="F0F0F0"/>
                    </a:solidFill>
                  </a:tcPr>
                </a:tc>
                <a:tc>
                  <a:txBody>
                    <a:bodyPr wrap="square"/>
                    <a:lstStyle/>
                    <a:p>
                      <a:pPr algn="l"/>
                      <a:r>
                        <a:rPr sz="1100">
                          <a:solidFill>
                            <a:srgbClr val="404040"/>
                          </a:solidFill>
                          <a:latin typeface="Arial"/>
                        </a:rPr>
                        <a:t>Scale, competition.</a:t>
                      </a:r>
                    </a:p>
                  </a:txBody>
                  <a:tcPr marL="45720" marR="45720" marT="45720" marB="45720">
                    <a:solidFill>
                      <a:srgbClr val="F0F0F0"/>
                    </a:solidFill>
                  </a:tcPr>
                </a:tc>
                <a:tc>
                  <a:txBody>
                    <a:bodyPr wrap="square"/>
                    <a:lstStyle/>
                    <a:p>
                      <a:pPr algn="l"/>
                      <a:r>
                        <a:rPr sz="1100">
                          <a:solidFill>
                            <a:srgbClr val="404040"/>
                          </a:solidFill>
                          <a:latin typeface="Arial"/>
                        </a:rPr>
                        <a:t>7/10</a:t>
                      </a:r>
                    </a:p>
                  </a:txBody>
                  <a:tcPr marL="45720" marR="45720" marT="45720" marB="45720">
                    <a:solidFill>
                      <a:srgbClr val="F0F0F0"/>
                    </a:solidFill>
                  </a:tcPr>
                </a:tc>
              </a:tr>
            </a:tbl>
          </a:graphicData>
        </a:graphic>
      </p:graphicFrame>
      <p:sp>
        <p:nvSpPr>
          <p:cNvPr id="5" name="TextBox 4"/>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6" name="TextBox 5"/>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